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9" r:id="rId8"/>
    <p:sldId id="270" r:id="rId9"/>
    <p:sldId id="271" r:id="rId10"/>
    <p:sldId id="272" r:id="rId11"/>
    <p:sldId id="262" r:id="rId12"/>
    <p:sldId id="263" r:id="rId13"/>
    <p:sldId id="264" r:id="rId14"/>
    <p:sldId id="265" r:id="rId15"/>
    <p:sldId id="273" r:id="rId16"/>
    <p:sldId id="266" r:id="rId17"/>
    <p:sldId id="267" r:id="rId18"/>
    <p:sldId id="268" r:id="rId19"/>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23" autoAdjust="0"/>
    <p:restoredTop sz="94660"/>
  </p:normalViewPr>
  <p:slideViewPr>
    <p:cSldViewPr>
      <p:cViewPr varScale="1">
        <p:scale>
          <a:sx n="50" d="100"/>
          <a:sy n="50" d="100"/>
        </p:scale>
        <p:origin x="2741"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6737" y="3314954"/>
            <a:ext cx="6423025" cy="2245614"/>
          </a:xfrm>
          <a:prstGeom prst="rect">
            <a:avLst/>
          </a:prstGeom>
        </p:spPr>
        <p:txBody>
          <a:bodyPr wrap="square" lIns="0" tIns="0" rIns="0" bIns="0">
            <a:spAutoFit/>
          </a:bodyPr>
          <a:lstStyle>
            <a:lvl1pPr>
              <a:defRPr sz="2400" b="1" i="0">
                <a:solidFill>
                  <a:srgbClr val="2B3D4F"/>
                </a:solidFill>
                <a:latin typeface="Calibri"/>
                <a:cs typeface="Calibri"/>
              </a:defRPr>
            </a:lvl1pPr>
          </a:lstStyle>
          <a:p>
            <a:endParaRPr/>
          </a:p>
        </p:txBody>
      </p:sp>
      <p:sp>
        <p:nvSpPr>
          <p:cNvPr id="3" name="Holder 3"/>
          <p:cNvSpPr>
            <a:spLocks noGrp="1"/>
          </p:cNvSpPr>
          <p:nvPr>
            <p:ph type="subTitle" idx="4"/>
          </p:nvPr>
        </p:nvSpPr>
        <p:spPr>
          <a:xfrm>
            <a:off x="1133475" y="5988304"/>
            <a:ext cx="5289550" cy="2673350"/>
          </a:xfrm>
          <a:prstGeom prst="rect">
            <a:avLst/>
          </a:prstGeom>
        </p:spPr>
        <p:txBody>
          <a:bodyPr wrap="square" lIns="0" tIns="0" rIns="0" bIns="0">
            <a:spAutoFit/>
          </a:bodyPr>
          <a:lstStyle>
            <a:lvl1pPr>
              <a:defRPr sz="1350" b="0" i="0">
                <a:solidFill>
                  <a:srgbClr val="333333"/>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B3D4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350" b="0" i="0">
                <a:solidFill>
                  <a:srgbClr val="333333"/>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B3D4F"/>
                </a:solidFill>
                <a:latin typeface="Calibri"/>
                <a:cs typeface="Calibri"/>
              </a:defRPr>
            </a:lvl1pPr>
          </a:lstStyle>
          <a:p>
            <a:endParaRPr/>
          </a:p>
        </p:txBody>
      </p:sp>
      <p:sp>
        <p:nvSpPr>
          <p:cNvPr id="3" name="Holder 3"/>
          <p:cNvSpPr>
            <a:spLocks noGrp="1"/>
          </p:cNvSpPr>
          <p:nvPr>
            <p:ph sz="half" idx="2"/>
          </p:nvPr>
        </p:nvSpPr>
        <p:spPr>
          <a:xfrm>
            <a:off x="377825" y="2459482"/>
            <a:ext cx="3287077"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1597" y="2459482"/>
            <a:ext cx="3287077"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B3D4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3449" y="1352545"/>
            <a:ext cx="5705475" cy="28575"/>
          </a:xfrm>
          <a:custGeom>
            <a:avLst/>
            <a:gdLst/>
            <a:ahLst/>
            <a:cxnLst/>
            <a:rect l="l" t="t" r="r" b="b"/>
            <a:pathLst>
              <a:path w="5705475" h="28575">
                <a:moveTo>
                  <a:pt x="5705474" y="28574"/>
                </a:moveTo>
                <a:lnTo>
                  <a:pt x="0" y="28574"/>
                </a:lnTo>
                <a:lnTo>
                  <a:pt x="0" y="0"/>
                </a:lnTo>
                <a:lnTo>
                  <a:pt x="5705474" y="0"/>
                </a:lnTo>
                <a:lnTo>
                  <a:pt x="5705474" y="28574"/>
                </a:lnTo>
                <a:close/>
              </a:path>
            </a:pathLst>
          </a:custGeom>
          <a:solidFill>
            <a:srgbClr val="2B3D4F"/>
          </a:solidFill>
        </p:spPr>
        <p:txBody>
          <a:bodyPr wrap="square" lIns="0" tIns="0" rIns="0" bIns="0" rtlCol="0"/>
          <a:lstStyle/>
          <a:p>
            <a:endParaRPr/>
          </a:p>
        </p:txBody>
      </p:sp>
      <p:sp>
        <p:nvSpPr>
          <p:cNvPr id="2" name="Holder 2"/>
          <p:cNvSpPr>
            <a:spLocks noGrp="1"/>
          </p:cNvSpPr>
          <p:nvPr>
            <p:ph type="title"/>
          </p:nvPr>
        </p:nvSpPr>
        <p:spPr>
          <a:xfrm>
            <a:off x="920750" y="806450"/>
            <a:ext cx="4065270" cy="391159"/>
          </a:xfrm>
          <a:prstGeom prst="rect">
            <a:avLst/>
          </a:prstGeom>
        </p:spPr>
        <p:txBody>
          <a:bodyPr wrap="square" lIns="0" tIns="0" rIns="0" bIns="0">
            <a:spAutoFit/>
          </a:bodyPr>
          <a:lstStyle>
            <a:lvl1pPr>
              <a:defRPr sz="2400" b="1" i="0">
                <a:solidFill>
                  <a:srgbClr val="2B3D4F"/>
                </a:solidFill>
                <a:latin typeface="Calibri"/>
                <a:cs typeface="Calibri"/>
              </a:defRPr>
            </a:lvl1pPr>
          </a:lstStyle>
          <a:p>
            <a:endParaRPr/>
          </a:p>
        </p:txBody>
      </p:sp>
      <p:sp>
        <p:nvSpPr>
          <p:cNvPr id="3" name="Holder 3"/>
          <p:cNvSpPr>
            <a:spLocks noGrp="1"/>
          </p:cNvSpPr>
          <p:nvPr>
            <p:ph type="body" idx="1"/>
          </p:nvPr>
        </p:nvSpPr>
        <p:spPr>
          <a:xfrm>
            <a:off x="1149350" y="2006600"/>
            <a:ext cx="3721735" cy="6765290"/>
          </a:xfrm>
          <a:prstGeom prst="rect">
            <a:avLst/>
          </a:prstGeom>
        </p:spPr>
        <p:txBody>
          <a:bodyPr wrap="square" lIns="0" tIns="0" rIns="0" bIns="0">
            <a:spAutoFit/>
          </a:bodyPr>
          <a:lstStyle>
            <a:lvl1pPr>
              <a:defRPr sz="1350" b="0" i="0">
                <a:solidFill>
                  <a:srgbClr val="333333"/>
                </a:solidFill>
                <a:latin typeface="Calibri"/>
                <a:cs typeface="Calibri"/>
              </a:defRPr>
            </a:lvl1pPr>
          </a:lstStyle>
          <a:p>
            <a:endParaRPr/>
          </a:p>
        </p:txBody>
      </p:sp>
      <p:sp>
        <p:nvSpPr>
          <p:cNvPr id="4" name="Holder 4"/>
          <p:cNvSpPr>
            <a:spLocks noGrp="1"/>
          </p:cNvSpPr>
          <p:nvPr>
            <p:ph type="ftr" sz="quarter" idx="5"/>
          </p:nvPr>
        </p:nvSpPr>
        <p:spPr>
          <a:xfrm>
            <a:off x="2569210" y="9944862"/>
            <a:ext cx="2418080"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825" y="9944862"/>
            <a:ext cx="173799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2/15/2026</a:t>
            </a:fld>
            <a:endParaRPr lang="en-US"/>
          </a:p>
        </p:txBody>
      </p:sp>
      <p:sp>
        <p:nvSpPr>
          <p:cNvPr id="6" name="Holder 6"/>
          <p:cNvSpPr>
            <a:spLocks noGrp="1"/>
          </p:cNvSpPr>
          <p:nvPr>
            <p:ph type="sldNum" sz="quarter" idx="7"/>
          </p:nvPr>
        </p:nvSpPr>
        <p:spPr>
          <a:xfrm>
            <a:off x="5440680" y="9944862"/>
            <a:ext cx="1737995"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9862" y="806450"/>
            <a:ext cx="4688840" cy="991235"/>
          </a:xfrm>
          <a:prstGeom prst="rect">
            <a:avLst/>
          </a:prstGeom>
        </p:spPr>
        <p:txBody>
          <a:bodyPr vert="horz" wrap="square" lIns="0" tIns="6985" rIns="0" bIns="0" rtlCol="0">
            <a:spAutoFit/>
          </a:bodyPr>
          <a:lstStyle/>
          <a:p>
            <a:pPr marL="459740" marR="5080" indent="-447675">
              <a:lnSpc>
                <a:spcPct val="101200"/>
              </a:lnSpc>
              <a:spcBef>
                <a:spcPts val="55"/>
              </a:spcBef>
            </a:pPr>
            <a:r>
              <a:rPr sz="3150" spc="-30" dirty="0"/>
              <a:t>EcomVerse</a:t>
            </a:r>
            <a:r>
              <a:rPr sz="3150" spc="-75" dirty="0"/>
              <a:t> </a:t>
            </a:r>
            <a:r>
              <a:rPr sz="3150" dirty="0"/>
              <a:t>–</a:t>
            </a:r>
            <a:r>
              <a:rPr sz="3150" spc="-55" dirty="0"/>
              <a:t> </a:t>
            </a:r>
            <a:r>
              <a:rPr sz="3150" spc="-70" dirty="0"/>
              <a:t>E-</a:t>
            </a:r>
            <a:r>
              <a:rPr sz="3150" dirty="0"/>
              <a:t>Commerce</a:t>
            </a:r>
            <a:r>
              <a:rPr sz="3150" spc="-75" dirty="0"/>
              <a:t> </a:t>
            </a:r>
            <a:r>
              <a:rPr sz="3150" spc="-50" dirty="0"/>
              <a:t>&amp; </a:t>
            </a:r>
            <a:r>
              <a:rPr sz="3150" dirty="0"/>
              <a:t>Dropshipping</a:t>
            </a:r>
            <a:r>
              <a:rPr sz="3150" spc="15" dirty="0"/>
              <a:t> </a:t>
            </a:r>
            <a:r>
              <a:rPr sz="3150" spc="-10" dirty="0"/>
              <a:t>Platform</a:t>
            </a:r>
            <a:endParaRPr sz="3150" dirty="0"/>
          </a:p>
        </p:txBody>
      </p:sp>
      <p:sp>
        <p:nvSpPr>
          <p:cNvPr id="3" name="object 3"/>
          <p:cNvSpPr txBox="1"/>
          <p:nvPr/>
        </p:nvSpPr>
        <p:spPr>
          <a:xfrm>
            <a:off x="2635249" y="2311400"/>
            <a:ext cx="2303780" cy="2454275"/>
          </a:xfrm>
          <a:prstGeom prst="rect">
            <a:avLst/>
          </a:prstGeom>
        </p:spPr>
        <p:txBody>
          <a:bodyPr vert="horz" wrap="square" lIns="0" tIns="12700" rIns="0" bIns="0" rtlCol="0">
            <a:spAutoFit/>
          </a:bodyPr>
          <a:lstStyle/>
          <a:p>
            <a:pPr algn="ctr">
              <a:lnSpc>
                <a:spcPct val="100000"/>
              </a:lnSpc>
              <a:spcBef>
                <a:spcPts val="100"/>
              </a:spcBef>
            </a:pPr>
            <a:r>
              <a:rPr sz="1500" b="1" dirty="0">
                <a:solidFill>
                  <a:srgbClr val="545454"/>
                </a:solidFill>
                <a:latin typeface="Calibri"/>
                <a:cs typeface="Calibri"/>
              </a:rPr>
              <a:t>Submitted</a:t>
            </a:r>
            <a:r>
              <a:rPr sz="1500" b="1" spc="-70" dirty="0">
                <a:solidFill>
                  <a:srgbClr val="545454"/>
                </a:solidFill>
                <a:latin typeface="Calibri"/>
                <a:cs typeface="Calibri"/>
              </a:rPr>
              <a:t> </a:t>
            </a:r>
            <a:r>
              <a:rPr sz="1500" b="1" spc="-25" dirty="0">
                <a:solidFill>
                  <a:srgbClr val="545454"/>
                </a:solidFill>
                <a:latin typeface="Calibri"/>
                <a:cs typeface="Calibri"/>
              </a:rPr>
              <a:t>By:</a:t>
            </a:r>
            <a:endParaRPr sz="1500">
              <a:latin typeface="Calibri"/>
              <a:cs typeface="Calibri"/>
            </a:endParaRPr>
          </a:p>
          <a:p>
            <a:pPr marL="12700" marR="5080" indent="585470">
              <a:lnSpc>
                <a:spcPct val="225000"/>
              </a:lnSpc>
            </a:pPr>
            <a:r>
              <a:rPr sz="1500" dirty="0">
                <a:solidFill>
                  <a:srgbClr val="545454"/>
                </a:solidFill>
                <a:latin typeface="Calibri"/>
                <a:cs typeface="Calibri"/>
              </a:rPr>
              <a:t>Suvansh</a:t>
            </a:r>
            <a:r>
              <a:rPr sz="1500" spc="150" dirty="0">
                <a:solidFill>
                  <a:srgbClr val="545454"/>
                </a:solidFill>
                <a:latin typeface="Calibri"/>
                <a:cs typeface="Calibri"/>
              </a:rPr>
              <a:t> </a:t>
            </a:r>
            <a:r>
              <a:rPr sz="1500" spc="-20" dirty="0">
                <a:solidFill>
                  <a:srgbClr val="545454"/>
                </a:solidFill>
                <a:latin typeface="Calibri"/>
                <a:cs typeface="Calibri"/>
              </a:rPr>
              <a:t>Rana </a:t>
            </a:r>
            <a:r>
              <a:rPr sz="1500" dirty="0">
                <a:solidFill>
                  <a:srgbClr val="545454"/>
                </a:solidFill>
                <a:latin typeface="Calibri"/>
                <a:cs typeface="Calibri"/>
              </a:rPr>
              <a:t>Registration</a:t>
            </a:r>
            <a:r>
              <a:rPr sz="1500" spc="105" dirty="0">
                <a:solidFill>
                  <a:srgbClr val="545454"/>
                </a:solidFill>
                <a:latin typeface="Calibri"/>
                <a:cs typeface="Calibri"/>
              </a:rPr>
              <a:t> </a:t>
            </a:r>
            <a:r>
              <a:rPr sz="1500" dirty="0">
                <a:solidFill>
                  <a:srgbClr val="545454"/>
                </a:solidFill>
                <a:latin typeface="Calibri"/>
                <a:cs typeface="Calibri"/>
              </a:rPr>
              <a:t>No:</a:t>
            </a:r>
            <a:r>
              <a:rPr sz="1500" spc="40" dirty="0">
                <a:solidFill>
                  <a:srgbClr val="545454"/>
                </a:solidFill>
                <a:latin typeface="Calibri"/>
                <a:cs typeface="Calibri"/>
              </a:rPr>
              <a:t> </a:t>
            </a:r>
            <a:r>
              <a:rPr sz="1500" spc="-10" dirty="0">
                <a:solidFill>
                  <a:srgbClr val="545454"/>
                </a:solidFill>
                <a:latin typeface="Calibri"/>
                <a:cs typeface="Calibri"/>
              </a:rPr>
              <a:t>2427030708</a:t>
            </a:r>
            <a:endParaRPr sz="1500">
              <a:latin typeface="Calibri"/>
              <a:cs typeface="Calibri"/>
            </a:endParaRPr>
          </a:p>
          <a:p>
            <a:pPr>
              <a:lnSpc>
                <a:spcPct val="100000"/>
              </a:lnSpc>
              <a:spcBef>
                <a:spcPts val="1540"/>
              </a:spcBef>
            </a:pPr>
            <a:endParaRPr sz="1500" dirty="0">
              <a:latin typeface="Calibri"/>
              <a:cs typeface="Calibri"/>
            </a:endParaRPr>
          </a:p>
          <a:p>
            <a:pPr algn="ctr">
              <a:lnSpc>
                <a:spcPct val="100000"/>
              </a:lnSpc>
            </a:pPr>
            <a:r>
              <a:rPr sz="1500" b="1" dirty="0">
                <a:solidFill>
                  <a:srgbClr val="545454"/>
                </a:solidFill>
                <a:latin typeface="Calibri"/>
                <a:cs typeface="Calibri"/>
              </a:rPr>
              <a:t>Supervised</a:t>
            </a:r>
            <a:r>
              <a:rPr sz="1500" b="1" spc="-25" dirty="0">
                <a:solidFill>
                  <a:srgbClr val="545454"/>
                </a:solidFill>
                <a:latin typeface="Calibri"/>
                <a:cs typeface="Calibri"/>
              </a:rPr>
              <a:t> By:</a:t>
            </a:r>
            <a:endParaRPr sz="1500" dirty="0">
              <a:latin typeface="Calibri"/>
              <a:cs typeface="Calibri"/>
            </a:endParaRPr>
          </a:p>
          <a:p>
            <a:pPr>
              <a:lnSpc>
                <a:spcPct val="100000"/>
              </a:lnSpc>
              <a:spcBef>
                <a:spcPts val="420"/>
              </a:spcBef>
            </a:pPr>
            <a:endParaRPr sz="1500" dirty="0">
              <a:latin typeface="Calibri"/>
              <a:cs typeface="Calibri"/>
            </a:endParaRPr>
          </a:p>
          <a:p>
            <a:pPr algn="ctr">
              <a:lnSpc>
                <a:spcPct val="100000"/>
              </a:lnSpc>
            </a:pPr>
            <a:r>
              <a:rPr sz="1500" spc="-45" dirty="0">
                <a:solidFill>
                  <a:srgbClr val="545454"/>
                </a:solidFill>
                <a:latin typeface="Calibri"/>
                <a:cs typeface="Calibri"/>
              </a:rPr>
              <a:t>Dr.</a:t>
            </a:r>
            <a:r>
              <a:rPr sz="1500" spc="35" dirty="0">
                <a:solidFill>
                  <a:srgbClr val="545454"/>
                </a:solidFill>
                <a:latin typeface="Calibri"/>
                <a:cs typeface="Calibri"/>
              </a:rPr>
              <a:t> </a:t>
            </a:r>
            <a:r>
              <a:rPr sz="1500" dirty="0">
                <a:solidFill>
                  <a:srgbClr val="545454"/>
                </a:solidFill>
                <a:latin typeface="Calibri"/>
                <a:cs typeface="Calibri"/>
              </a:rPr>
              <a:t>Susheela</a:t>
            </a:r>
            <a:r>
              <a:rPr sz="1500" spc="70" dirty="0">
                <a:solidFill>
                  <a:srgbClr val="545454"/>
                </a:solidFill>
                <a:latin typeface="Calibri"/>
                <a:cs typeface="Calibri"/>
              </a:rPr>
              <a:t> </a:t>
            </a:r>
            <a:r>
              <a:rPr sz="1500" spc="-10" dirty="0">
                <a:solidFill>
                  <a:srgbClr val="545454"/>
                </a:solidFill>
                <a:latin typeface="Calibri"/>
                <a:cs typeface="Calibri"/>
              </a:rPr>
              <a:t>Vishnoi</a:t>
            </a:r>
            <a:endParaRPr sz="1500" dirty="0">
              <a:latin typeface="Calibri"/>
              <a:cs typeface="Calibri"/>
            </a:endParaRPr>
          </a:p>
        </p:txBody>
      </p:sp>
      <p:sp>
        <p:nvSpPr>
          <p:cNvPr id="4" name="object 4"/>
          <p:cNvSpPr txBox="1"/>
          <p:nvPr/>
        </p:nvSpPr>
        <p:spPr>
          <a:xfrm>
            <a:off x="2044700" y="5359399"/>
            <a:ext cx="3488054" cy="650240"/>
          </a:xfrm>
          <a:prstGeom prst="rect">
            <a:avLst/>
          </a:prstGeom>
        </p:spPr>
        <p:txBody>
          <a:bodyPr vert="horz" wrap="square" lIns="0" tIns="8890" rIns="0" bIns="0" rtlCol="0">
            <a:spAutoFit/>
          </a:bodyPr>
          <a:lstStyle/>
          <a:p>
            <a:pPr marL="12700" marR="5080" algn="ctr">
              <a:lnSpc>
                <a:spcPct val="101899"/>
              </a:lnSpc>
              <a:spcBef>
                <a:spcPts val="70"/>
              </a:spcBef>
            </a:pPr>
            <a:r>
              <a:rPr sz="1350" dirty="0">
                <a:solidFill>
                  <a:srgbClr val="666666"/>
                </a:solidFill>
                <a:latin typeface="Calibri"/>
                <a:cs typeface="Calibri"/>
              </a:rPr>
              <a:t>School</a:t>
            </a:r>
            <a:r>
              <a:rPr sz="1350" spc="-30" dirty="0">
                <a:solidFill>
                  <a:srgbClr val="666666"/>
                </a:solidFill>
                <a:latin typeface="Calibri"/>
                <a:cs typeface="Calibri"/>
              </a:rPr>
              <a:t> </a:t>
            </a:r>
            <a:r>
              <a:rPr sz="1350" dirty="0">
                <a:solidFill>
                  <a:srgbClr val="666666"/>
                </a:solidFill>
                <a:latin typeface="Calibri"/>
                <a:cs typeface="Calibri"/>
              </a:rPr>
              <a:t>of</a:t>
            </a:r>
            <a:r>
              <a:rPr sz="1350" spc="15" dirty="0">
                <a:solidFill>
                  <a:srgbClr val="666666"/>
                </a:solidFill>
                <a:latin typeface="Calibri"/>
                <a:cs typeface="Calibri"/>
              </a:rPr>
              <a:t> </a:t>
            </a:r>
            <a:r>
              <a:rPr sz="1350" spc="-10" dirty="0">
                <a:solidFill>
                  <a:srgbClr val="666666"/>
                </a:solidFill>
                <a:latin typeface="Calibri"/>
                <a:cs typeface="Calibri"/>
              </a:rPr>
              <a:t>Computer</a:t>
            </a:r>
            <a:r>
              <a:rPr sz="1350" spc="-45" dirty="0">
                <a:solidFill>
                  <a:srgbClr val="666666"/>
                </a:solidFill>
                <a:latin typeface="Calibri"/>
                <a:cs typeface="Calibri"/>
              </a:rPr>
              <a:t> </a:t>
            </a:r>
            <a:r>
              <a:rPr sz="1350" dirty="0">
                <a:solidFill>
                  <a:srgbClr val="666666"/>
                </a:solidFill>
                <a:latin typeface="Calibri"/>
                <a:cs typeface="Calibri"/>
              </a:rPr>
              <a:t>Science</a:t>
            </a:r>
            <a:r>
              <a:rPr sz="1350" spc="-20" dirty="0">
                <a:solidFill>
                  <a:srgbClr val="666666"/>
                </a:solidFill>
                <a:latin typeface="Calibri"/>
                <a:cs typeface="Calibri"/>
              </a:rPr>
              <a:t> </a:t>
            </a:r>
            <a:r>
              <a:rPr sz="1350" dirty="0">
                <a:solidFill>
                  <a:srgbClr val="666666"/>
                </a:solidFill>
                <a:latin typeface="Calibri"/>
                <a:cs typeface="Calibri"/>
              </a:rPr>
              <a:t>and</a:t>
            </a:r>
            <a:r>
              <a:rPr sz="1350" spc="-55" dirty="0">
                <a:solidFill>
                  <a:srgbClr val="666666"/>
                </a:solidFill>
                <a:latin typeface="Calibri"/>
                <a:cs typeface="Calibri"/>
              </a:rPr>
              <a:t> </a:t>
            </a:r>
            <a:r>
              <a:rPr sz="1350" spc="-10" dirty="0">
                <a:solidFill>
                  <a:srgbClr val="666666"/>
                </a:solidFill>
                <a:latin typeface="Calibri"/>
                <a:cs typeface="Calibri"/>
              </a:rPr>
              <a:t>Engineering Department</a:t>
            </a:r>
            <a:r>
              <a:rPr sz="1350" spc="-35" dirty="0">
                <a:solidFill>
                  <a:srgbClr val="666666"/>
                </a:solidFill>
                <a:latin typeface="Calibri"/>
                <a:cs typeface="Calibri"/>
              </a:rPr>
              <a:t> </a:t>
            </a:r>
            <a:r>
              <a:rPr sz="1350" dirty="0">
                <a:solidFill>
                  <a:srgbClr val="666666"/>
                </a:solidFill>
                <a:latin typeface="Calibri"/>
                <a:cs typeface="Calibri"/>
              </a:rPr>
              <a:t>of </a:t>
            </a:r>
            <a:r>
              <a:rPr sz="1350" spc="-10" dirty="0">
                <a:solidFill>
                  <a:srgbClr val="666666"/>
                </a:solidFill>
                <a:latin typeface="Calibri"/>
                <a:cs typeface="Calibri"/>
              </a:rPr>
              <a:t>Computer</a:t>
            </a:r>
            <a:r>
              <a:rPr sz="1350" spc="-55" dirty="0">
                <a:solidFill>
                  <a:srgbClr val="666666"/>
                </a:solidFill>
                <a:latin typeface="Calibri"/>
                <a:cs typeface="Calibri"/>
              </a:rPr>
              <a:t> </a:t>
            </a:r>
            <a:r>
              <a:rPr sz="1350" dirty="0">
                <a:solidFill>
                  <a:srgbClr val="666666"/>
                </a:solidFill>
                <a:latin typeface="Calibri"/>
                <a:cs typeface="Calibri"/>
              </a:rPr>
              <a:t>Science</a:t>
            </a:r>
            <a:r>
              <a:rPr sz="1350" spc="-30" dirty="0">
                <a:solidFill>
                  <a:srgbClr val="666666"/>
                </a:solidFill>
                <a:latin typeface="Calibri"/>
                <a:cs typeface="Calibri"/>
              </a:rPr>
              <a:t> </a:t>
            </a:r>
            <a:r>
              <a:rPr sz="1350" dirty="0">
                <a:solidFill>
                  <a:srgbClr val="666666"/>
                </a:solidFill>
                <a:latin typeface="Calibri"/>
                <a:cs typeface="Calibri"/>
              </a:rPr>
              <a:t>and</a:t>
            </a:r>
            <a:r>
              <a:rPr sz="1350" spc="-60" dirty="0">
                <a:solidFill>
                  <a:srgbClr val="666666"/>
                </a:solidFill>
                <a:latin typeface="Calibri"/>
                <a:cs typeface="Calibri"/>
              </a:rPr>
              <a:t> </a:t>
            </a:r>
            <a:r>
              <a:rPr sz="1350" spc="-10" dirty="0">
                <a:solidFill>
                  <a:srgbClr val="666666"/>
                </a:solidFill>
                <a:latin typeface="Calibri"/>
                <a:cs typeface="Calibri"/>
              </a:rPr>
              <a:t>Engineering Manipal</a:t>
            </a:r>
            <a:r>
              <a:rPr sz="1350" spc="-35" dirty="0">
                <a:solidFill>
                  <a:srgbClr val="666666"/>
                </a:solidFill>
                <a:latin typeface="Calibri"/>
                <a:cs typeface="Calibri"/>
              </a:rPr>
              <a:t> </a:t>
            </a:r>
            <a:r>
              <a:rPr sz="1350" spc="-10" dirty="0">
                <a:solidFill>
                  <a:srgbClr val="666666"/>
                </a:solidFill>
                <a:latin typeface="Calibri"/>
                <a:cs typeface="Calibri"/>
              </a:rPr>
              <a:t>University</a:t>
            </a:r>
            <a:r>
              <a:rPr sz="1350" spc="-35" dirty="0">
                <a:solidFill>
                  <a:srgbClr val="666666"/>
                </a:solidFill>
                <a:latin typeface="Calibri"/>
                <a:cs typeface="Calibri"/>
              </a:rPr>
              <a:t> </a:t>
            </a:r>
            <a:r>
              <a:rPr sz="1350" spc="-10" dirty="0">
                <a:solidFill>
                  <a:srgbClr val="666666"/>
                </a:solidFill>
                <a:latin typeface="Calibri"/>
                <a:cs typeface="Calibri"/>
              </a:rPr>
              <a:t>Jaipur</a:t>
            </a:r>
            <a:endParaRPr sz="13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Outline</a:t>
            </a:r>
          </a:p>
        </p:txBody>
      </p:sp>
      <p:sp>
        <p:nvSpPr>
          <p:cNvPr id="3" name="object 3"/>
          <p:cNvSpPr txBox="1"/>
          <p:nvPr/>
        </p:nvSpPr>
        <p:spPr>
          <a:xfrm>
            <a:off x="1206499" y="1797050"/>
            <a:ext cx="1011555" cy="254000"/>
          </a:xfrm>
          <a:prstGeom prst="rect">
            <a:avLst/>
          </a:prstGeom>
        </p:spPr>
        <p:txBody>
          <a:bodyPr vert="horz" wrap="square" lIns="0" tIns="12700" rIns="0" bIns="0" rtlCol="0">
            <a:spAutoFit/>
          </a:bodyPr>
          <a:lstStyle/>
          <a:p>
            <a:pPr marL="12700">
              <a:lnSpc>
                <a:spcPct val="100000"/>
              </a:lnSpc>
              <a:spcBef>
                <a:spcPts val="100"/>
              </a:spcBef>
            </a:pPr>
            <a:r>
              <a:rPr sz="1500" spc="-10" dirty="0">
                <a:solidFill>
                  <a:srgbClr val="333333"/>
                </a:solidFill>
                <a:latin typeface="Calibri"/>
                <a:cs typeface="Calibri"/>
              </a:rPr>
              <a:t>Introduction</a:t>
            </a:r>
            <a:endParaRPr sz="1500">
              <a:latin typeface="Calibri"/>
              <a:cs typeface="Calibri"/>
            </a:endParaRPr>
          </a:p>
        </p:txBody>
      </p:sp>
      <p:sp>
        <p:nvSpPr>
          <p:cNvPr id="4" name="object 4"/>
          <p:cNvSpPr txBox="1"/>
          <p:nvPr/>
        </p:nvSpPr>
        <p:spPr>
          <a:xfrm>
            <a:off x="920750" y="1787525"/>
            <a:ext cx="177800"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2B3D4F"/>
                </a:solidFill>
                <a:latin typeface="Segoe UI Symbol"/>
                <a:cs typeface="Segoe UI Symbol"/>
              </a:rPr>
              <a:t>❖</a:t>
            </a:r>
            <a:endParaRPr sz="1350">
              <a:latin typeface="Segoe UI Symbol"/>
              <a:cs typeface="Segoe UI Symbol"/>
            </a:endParaRPr>
          </a:p>
        </p:txBody>
      </p:sp>
      <p:sp>
        <p:nvSpPr>
          <p:cNvPr id="5" name="object 5"/>
          <p:cNvSpPr txBox="1"/>
          <p:nvPr/>
        </p:nvSpPr>
        <p:spPr>
          <a:xfrm>
            <a:off x="1206499" y="2330450"/>
            <a:ext cx="1419225" cy="254000"/>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333333"/>
                </a:solidFill>
                <a:latin typeface="Calibri"/>
                <a:cs typeface="Calibri"/>
              </a:rPr>
              <a:t>Literature</a:t>
            </a:r>
            <a:r>
              <a:rPr sz="1500" spc="100" dirty="0">
                <a:solidFill>
                  <a:srgbClr val="333333"/>
                </a:solidFill>
                <a:latin typeface="Calibri"/>
                <a:cs typeface="Calibri"/>
              </a:rPr>
              <a:t> </a:t>
            </a:r>
            <a:r>
              <a:rPr sz="1500" spc="-10" dirty="0">
                <a:solidFill>
                  <a:srgbClr val="333333"/>
                </a:solidFill>
                <a:latin typeface="Calibri"/>
                <a:cs typeface="Calibri"/>
              </a:rPr>
              <a:t>Review</a:t>
            </a:r>
            <a:endParaRPr sz="1500">
              <a:latin typeface="Calibri"/>
              <a:cs typeface="Calibri"/>
            </a:endParaRPr>
          </a:p>
        </p:txBody>
      </p:sp>
      <p:sp>
        <p:nvSpPr>
          <p:cNvPr id="6" name="object 6"/>
          <p:cNvSpPr txBox="1"/>
          <p:nvPr/>
        </p:nvSpPr>
        <p:spPr>
          <a:xfrm>
            <a:off x="920750" y="2320925"/>
            <a:ext cx="177800"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2B3D4F"/>
                </a:solidFill>
                <a:latin typeface="Segoe UI Symbol"/>
                <a:cs typeface="Segoe UI Symbol"/>
              </a:rPr>
              <a:t>❖</a:t>
            </a:r>
            <a:endParaRPr sz="1350">
              <a:latin typeface="Segoe UI Symbol"/>
              <a:cs typeface="Segoe UI Symbol"/>
            </a:endParaRPr>
          </a:p>
        </p:txBody>
      </p:sp>
      <p:sp>
        <p:nvSpPr>
          <p:cNvPr id="7" name="object 7"/>
          <p:cNvSpPr txBox="1"/>
          <p:nvPr/>
        </p:nvSpPr>
        <p:spPr>
          <a:xfrm>
            <a:off x="1206499" y="2863850"/>
            <a:ext cx="1565910" cy="254000"/>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333333"/>
                </a:solidFill>
                <a:latin typeface="Calibri"/>
                <a:cs typeface="Calibri"/>
              </a:rPr>
              <a:t>Problem</a:t>
            </a:r>
            <a:r>
              <a:rPr sz="1500" spc="65" dirty="0">
                <a:solidFill>
                  <a:srgbClr val="333333"/>
                </a:solidFill>
                <a:latin typeface="Calibri"/>
                <a:cs typeface="Calibri"/>
              </a:rPr>
              <a:t> </a:t>
            </a:r>
            <a:r>
              <a:rPr sz="1500" spc="-10" dirty="0">
                <a:solidFill>
                  <a:srgbClr val="333333"/>
                </a:solidFill>
                <a:latin typeface="Calibri"/>
                <a:cs typeface="Calibri"/>
              </a:rPr>
              <a:t>Statement</a:t>
            </a:r>
            <a:endParaRPr sz="1500">
              <a:latin typeface="Calibri"/>
              <a:cs typeface="Calibri"/>
            </a:endParaRPr>
          </a:p>
        </p:txBody>
      </p:sp>
      <p:sp>
        <p:nvSpPr>
          <p:cNvPr id="8" name="object 8"/>
          <p:cNvSpPr txBox="1"/>
          <p:nvPr/>
        </p:nvSpPr>
        <p:spPr>
          <a:xfrm>
            <a:off x="920750" y="2854325"/>
            <a:ext cx="177800"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2B3D4F"/>
                </a:solidFill>
                <a:latin typeface="Segoe UI Symbol"/>
                <a:cs typeface="Segoe UI Symbol"/>
              </a:rPr>
              <a:t>❖</a:t>
            </a:r>
            <a:endParaRPr sz="1350">
              <a:latin typeface="Segoe UI Symbol"/>
              <a:cs typeface="Segoe UI Symbol"/>
            </a:endParaRPr>
          </a:p>
        </p:txBody>
      </p:sp>
      <p:sp>
        <p:nvSpPr>
          <p:cNvPr id="9" name="object 9"/>
          <p:cNvSpPr txBox="1"/>
          <p:nvPr/>
        </p:nvSpPr>
        <p:spPr>
          <a:xfrm>
            <a:off x="1206499" y="3397250"/>
            <a:ext cx="1478280" cy="254000"/>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333333"/>
                </a:solidFill>
                <a:latin typeface="Calibri"/>
                <a:cs typeface="Calibri"/>
              </a:rPr>
              <a:t>Proposed</a:t>
            </a:r>
            <a:r>
              <a:rPr sz="1500" spc="120" dirty="0">
                <a:solidFill>
                  <a:srgbClr val="333333"/>
                </a:solidFill>
                <a:latin typeface="Calibri"/>
                <a:cs typeface="Calibri"/>
              </a:rPr>
              <a:t> </a:t>
            </a:r>
            <a:r>
              <a:rPr sz="1500" spc="-10" dirty="0">
                <a:solidFill>
                  <a:srgbClr val="333333"/>
                </a:solidFill>
                <a:latin typeface="Calibri"/>
                <a:cs typeface="Calibri"/>
              </a:rPr>
              <a:t>Solution</a:t>
            </a:r>
            <a:endParaRPr sz="1500">
              <a:latin typeface="Calibri"/>
              <a:cs typeface="Calibri"/>
            </a:endParaRPr>
          </a:p>
        </p:txBody>
      </p:sp>
      <p:sp>
        <p:nvSpPr>
          <p:cNvPr id="10" name="object 10"/>
          <p:cNvSpPr txBox="1"/>
          <p:nvPr/>
        </p:nvSpPr>
        <p:spPr>
          <a:xfrm>
            <a:off x="920750" y="3387725"/>
            <a:ext cx="177800"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2B3D4F"/>
                </a:solidFill>
                <a:latin typeface="Segoe UI Symbol"/>
                <a:cs typeface="Segoe UI Symbol"/>
              </a:rPr>
              <a:t>❖</a:t>
            </a:r>
            <a:endParaRPr sz="1350">
              <a:latin typeface="Segoe UI Symbol"/>
              <a:cs typeface="Segoe UI Symbol"/>
            </a:endParaRPr>
          </a:p>
        </p:txBody>
      </p:sp>
      <p:sp>
        <p:nvSpPr>
          <p:cNvPr id="11" name="object 11"/>
          <p:cNvSpPr txBox="1"/>
          <p:nvPr/>
        </p:nvSpPr>
        <p:spPr>
          <a:xfrm>
            <a:off x="1206499" y="3930650"/>
            <a:ext cx="833755" cy="254000"/>
          </a:xfrm>
          <a:prstGeom prst="rect">
            <a:avLst/>
          </a:prstGeom>
        </p:spPr>
        <p:txBody>
          <a:bodyPr vert="horz" wrap="square" lIns="0" tIns="12700" rIns="0" bIns="0" rtlCol="0">
            <a:spAutoFit/>
          </a:bodyPr>
          <a:lstStyle/>
          <a:p>
            <a:pPr marL="12700">
              <a:lnSpc>
                <a:spcPct val="100000"/>
              </a:lnSpc>
              <a:spcBef>
                <a:spcPts val="100"/>
              </a:spcBef>
            </a:pPr>
            <a:r>
              <a:rPr sz="1500" spc="-10" dirty="0">
                <a:solidFill>
                  <a:srgbClr val="333333"/>
                </a:solidFill>
                <a:latin typeface="Calibri"/>
                <a:cs typeface="Calibri"/>
              </a:rPr>
              <a:t>Objectives</a:t>
            </a:r>
            <a:endParaRPr sz="1500">
              <a:latin typeface="Calibri"/>
              <a:cs typeface="Calibri"/>
            </a:endParaRPr>
          </a:p>
        </p:txBody>
      </p:sp>
      <p:sp>
        <p:nvSpPr>
          <p:cNvPr id="12" name="object 12"/>
          <p:cNvSpPr txBox="1"/>
          <p:nvPr/>
        </p:nvSpPr>
        <p:spPr>
          <a:xfrm>
            <a:off x="920750" y="3921125"/>
            <a:ext cx="177800"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2B3D4F"/>
                </a:solidFill>
                <a:latin typeface="Segoe UI Symbol"/>
                <a:cs typeface="Segoe UI Symbol"/>
              </a:rPr>
              <a:t>❖</a:t>
            </a:r>
            <a:endParaRPr sz="1350">
              <a:latin typeface="Segoe UI Symbol"/>
              <a:cs typeface="Segoe UI Symbol"/>
            </a:endParaRPr>
          </a:p>
        </p:txBody>
      </p:sp>
      <p:sp>
        <p:nvSpPr>
          <p:cNvPr id="13" name="object 13"/>
          <p:cNvSpPr txBox="1"/>
          <p:nvPr/>
        </p:nvSpPr>
        <p:spPr>
          <a:xfrm>
            <a:off x="1206499" y="4464050"/>
            <a:ext cx="1616075" cy="254000"/>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333333"/>
                </a:solidFill>
                <a:latin typeface="Calibri"/>
                <a:cs typeface="Calibri"/>
              </a:rPr>
              <a:t>System</a:t>
            </a:r>
            <a:r>
              <a:rPr sz="1500" spc="15" dirty="0">
                <a:solidFill>
                  <a:srgbClr val="333333"/>
                </a:solidFill>
                <a:latin typeface="Calibri"/>
                <a:cs typeface="Calibri"/>
              </a:rPr>
              <a:t> </a:t>
            </a:r>
            <a:r>
              <a:rPr sz="1500" spc="-10" dirty="0">
                <a:solidFill>
                  <a:srgbClr val="333333"/>
                </a:solidFill>
                <a:latin typeface="Calibri"/>
                <a:cs typeface="Calibri"/>
              </a:rPr>
              <a:t>Architecture</a:t>
            </a:r>
            <a:endParaRPr sz="1500">
              <a:latin typeface="Calibri"/>
              <a:cs typeface="Calibri"/>
            </a:endParaRPr>
          </a:p>
        </p:txBody>
      </p:sp>
      <p:sp>
        <p:nvSpPr>
          <p:cNvPr id="14" name="object 14"/>
          <p:cNvSpPr txBox="1"/>
          <p:nvPr/>
        </p:nvSpPr>
        <p:spPr>
          <a:xfrm>
            <a:off x="920750" y="4454525"/>
            <a:ext cx="177800"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2B3D4F"/>
                </a:solidFill>
                <a:latin typeface="Segoe UI Symbol"/>
                <a:cs typeface="Segoe UI Symbol"/>
              </a:rPr>
              <a:t>❖</a:t>
            </a:r>
            <a:endParaRPr sz="1350">
              <a:latin typeface="Segoe UI Symbol"/>
              <a:cs typeface="Segoe UI Symbol"/>
            </a:endParaRPr>
          </a:p>
        </p:txBody>
      </p:sp>
      <p:sp>
        <p:nvSpPr>
          <p:cNvPr id="15" name="object 15"/>
          <p:cNvSpPr txBox="1"/>
          <p:nvPr/>
        </p:nvSpPr>
        <p:spPr>
          <a:xfrm>
            <a:off x="1206499" y="4997450"/>
            <a:ext cx="1369695" cy="254000"/>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333333"/>
                </a:solidFill>
                <a:latin typeface="Calibri"/>
                <a:cs typeface="Calibri"/>
              </a:rPr>
              <a:t>Technology</a:t>
            </a:r>
            <a:r>
              <a:rPr sz="1500" spc="-40" dirty="0">
                <a:solidFill>
                  <a:srgbClr val="333333"/>
                </a:solidFill>
                <a:latin typeface="Calibri"/>
                <a:cs typeface="Calibri"/>
              </a:rPr>
              <a:t> </a:t>
            </a:r>
            <a:r>
              <a:rPr sz="1500" spc="-20" dirty="0">
                <a:solidFill>
                  <a:srgbClr val="333333"/>
                </a:solidFill>
                <a:latin typeface="Calibri"/>
                <a:cs typeface="Calibri"/>
              </a:rPr>
              <a:t>Stack</a:t>
            </a:r>
            <a:endParaRPr sz="1500">
              <a:latin typeface="Calibri"/>
              <a:cs typeface="Calibri"/>
            </a:endParaRPr>
          </a:p>
        </p:txBody>
      </p:sp>
      <p:sp>
        <p:nvSpPr>
          <p:cNvPr id="16" name="object 16"/>
          <p:cNvSpPr txBox="1"/>
          <p:nvPr/>
        </p:nvSpPr>
        <p:spPr>
          <a:xfrm>
            <a:off x="920750" y="4987925"/>
            <a:ext cx="177800"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2B3D4F"/>
                </a:solidFill>
                <a:latin typeface="Segoe UI Symbol"/>
                <a:cs typeface="Segoe UI Symbol"/>
              </a:rPr>
              <a:t>❖</a:t>
            </a:r>
            <a:endParaRPr sz="1350">
              <a:latin typeface="Segoe UI Symbol"/>
              <a:cs typeface="Segoe UI Symbol"/>
            </a:endParaRPr>
          </a:p>
        </p:txBody>
      </p:sp>
      <p:sp>
        <p:nvSpPr>
          <p:cNvPr id="17" name="object 17"/>
          <p:cNvSpPr txBox="1"/>
          <p:nvPr/>
        </p:nvSpPr>
        <p:spPr>
          <a:xfrm>
            <a:off x="1206499" y="5530849"/>
            <a:ext cx="1297305" cy="254000"/>
          </a:xfrm>
          <a:prstGeom prst="rect">
            <a:avLst/>
          </a:prstGeom>
        </p:spPr>
        <p:txBody>
          <a:bodyPr vert="horz" wrap="square" lIns="0" tIns="12700" rIns="0" bIns="0" rtlCol="0">
            <a:spAutoFit/>
          </a:bodyPr>
          <a:lstStyle/>
          <a:p>
            <a:pPr marL="12700">
              <a:lnSpc>
                <a:spcPct val="100000"/>
              </a:lnSpc>
              <a:spcBef>
                <a:spcPts val="100"/>
              </a:spcBef>
            </a:pPr>
            <a:r>
              <a:rPr sz="1500" spc="-10" dirty="0">
                <a:solidFill>
                  <a:srgbClr val="333333"/>
                </a:solidFill>
                <a:latin typeface="Calibri"/>
                <a:cs typeface="Calibri"/>
              </a:rPr>
              <a:t>Implementation</a:t>
            </a:r>
            <a:endParaRPr sz="1500">
              <a:latin typeface="Calibri"/>
              <a:cs typeface="Calibri"/>
            </a:endParaRPr>
          </a:p>
        </p:txBody>
      </p:sp>
      <p:sp>
        <p:nvSpPr>
          <p:cNvPr id="18" name="object 18"/>
          <p:cNvSpPr txBox="1"/>
          <p:nvPr/>
        </p:nvSpPr>
        <p:spPr>
          <a:xfrm>
            <a:off x="920750" y="5521324"/>
            <a:ext cx="177800"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2B3D4F"/>
                </a:solidFill>
                <a:latin typeface="Segoe UI Symbol"/>
                <a:cs typeface="Segoe UI Symbol"/>
              </a:rPr>
              <a:t>❖</a:t>
            </a:r>
            <a:endParaRPr sz="1350">
              <a:latin typeface="Segoe UI Symbol"/>
              <a:cs typeface="Segoe UI Symbol"/>
            </a:endParaRPr>
          </a:p>
        </p:txBody>
      </p:sp>
      <p:sp>
        <p:nvSpPr>
          <p:cNvPr id="19" name="object 19"/>
          <p:cNvSpPr txBox="1"/>
          <p:nvPr/>
        </p:nvSpPr>
        <p:spPr>
          <a:xfrm>
            <a:off x="1206499" y="6064249"/>
            <a:ext cx="1063625" cy="254000"/>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333333"/>
                </a:solidFill>
                <a:latin typeface="Calibri"/>
                <a:cs typeface="Calibri"/>
              </a:rPr>
              <a:t>Future</a:t>
            </a:r>
            <a:r>
              <a:rPr sz="1500" spc="95" dirty="0">
                <a:solidFill>
                  <a:srgbClr val="333333"/>
                </a:solidFill>
                <a:latin typeface="Calibri"/>
                <a:cs typeface="Calibri"/>
              </a:rPr>
              <a:t> </a:t>
            </a:r>
            <a:r>
              <a:rPr sz="1500" spc="-10" dirty="0">
                <a:solidFill>
                  <a:srgbClr val="333333"/>
                </a:solidFill>
                <a:latin typeface="Calibri"/>
                <a:cs typeface="Calibri"/>
              </a:rPr>
              <a:t>Scope</a:t>
            </a:r>
            <a:endParaRPr sz="1500">
              <a:latin typeface="Calibri"/>
              <a:cs typeface="Calibri"/>
            </a:endParaRPr>
          </a:p>
        </p:txBody>
      </p:sp>
      <p:sp>
        <p:nvSpPr>
          <p:cNvPr id="20" name="object 20"/>
          <p:cNvSpPr txBox="1"/>
          <p:nvPr/>
        </p:nvSpPr>
        <p:spPr>
          <a:xfrm>
            <a:off x="920750" y="6054724"/>
            <a:ext cx="177800"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2B3D4F"/>
                </a:solidFill>
                <a:latin typeface="Segoe UI Symbol"/>
                <a:cs typeface="Segoe UI Symbol"/>
              </a:rPr>
              <a:t>❖</a:t>
            </a:r>
            <a:endParaRPr sz="1350">
              <a:latin typeface="Segoe UI Symbol"/>
              <a:cs typeface="Segoe UI 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Introduction</a:t>
            </a:r>
          </a:p>
        </p:txBody>
      </p:sp>
      <p:sp>
        <p:nvSpPr>
          <p:cNvPr id="3" name="object 3"/>
          <p:cNvSpPr txBox="1"/>
          <p:nvPr/>
        </p:nvSpPr>
        <p:spPr>
          <a:xfrm>
            <a:off x="920750" y="1587500"/>
            <a:ext cx="5730875" cy="4521200"/>
          </a:xfrm>
          <a:prstGeom prst="rect">
            <a:avLst/>
          </a:prstGeom>
        </p:spPr>
        <p:txBody>
          <a:bodyPr vert="horz" wrap="square" lIns="0" tIns="12700" rIns="0" bIns="0" rtlCol="0">
            <a:spAutoFit/>
          </a:bodyPr>
          <a:lstStyle/>
          <a:p>
            <a:pPr marL="12700" marR="5080" algn="just">
              <a:lnSpc>
                <a:spcPct val="150000"/>
              </a:lnSpc>
              <a:spcBef>
                <a:spcPts val="100"/>
              </a:spcBef>
            </a:pPr>
            <a:r>
              <a:rPr sz="1500" dirty="0">
                <a:solidFill>
                  <a:srgbClr val="333333"/>
                </a:solidFill>
                <a:latin typeface="Calibri"/>
                <a:cs typeface="Calibri"/>
              </a:rPr>
              <a:t>EcomVerse</a:t>
            </a:r>
            <a:r>
              <a:rPr sz="1500" spc="285" dirty="0">
                <a:solidFill>
                  <a:srgbClr val="333333"/>
                </a:solidFill>
                <a:latin typeface="Calibri"/>
                <a:cs typeface="Calibri"/>
              </a:rPr>
              <a:t> </a:t>
            </a:r>
            <a:r>
              <a:rPr sz="1500" dirty="0">
                <a:solidFill>
                  <a:srgbClr val="333333"/>
                </a:solidFill>
                <a:latin typeface="Calibri"/>
                <a:cs typeface="Calibri"/>
              </a:rPr>
              <a:t>is</a:t>
            </a:r>
            <a:r>
              <a:rPr sz="1500" spc="300" dirty="0">
                <a:solidFill>
                  <a:srgbClr val="333333"/>
                </a:solidFill>
                <a:latin typeface="Calibri"/>
                <a:cs typeface="Calibri"/>
              </a:rPr>
              <a:t> </a:t>
            </a:r>
            <a:r>
              <a:rPr sz="1500" dirty="0">
                <a:solidFill>
                  <a:srgbClr val="333333"/>
                </a:solidFill>
                <a:latin typeface="Calibri"/>
                <a:cs typeface="Calibri"/>
              </a:rPr>
              <a:t>a</a:t>
            </a:r>
            <a:r>
              <a:rPr sz="1500" spc="310" dirty="0">
                <a:solidFill>
                  <a:srgbClr val="333333"/>
                </a:solidFill>
                <a:latin typeface="Calibri"/>
                <a:cs typeface="Calibri"/>
              </a:rPr>
              <a:t> </a:t>
            </a:r>
            <a:r>
              <a:rPr sz="1500" dirty="0">
                <a:solidFill>
                  <a:srgbClr val="333333"/>
                </a:solidFill>
                <a:latin typeface="Calibri"/>
                <a:cs typeface="Calibri"/>
              </a:rPr>
              <a:t>modern</a:t>
            </a:r>
            <a:r>
              <a:rPr sz="1500" spc="320" dirty="0">
                <a:solidFill>
                  <a:srgbClr val="333333"/>
                </a:solidFill>
                <a:latin typeface="Calibri"/>
                <a:cs typeface="Calibri"/>
              </a:rPr>
              <a:t> </a:t>
            </a:r>
            <a:r>
              <a:rPr sz="1500" spc="-20" dirty="0">
                <a:solidFill>
                  <a:srgbClr val="333333"/>
                </a:solidFill>
                <a:latin typeface="Calibri"/>
                <a:cs typeface="Calibri"/>
              </a:rPr>
              <a:t>e-</a:t>
            </a:r>
            <a:r>
              <a:rPr sz="1500" dirty="0">
                <a:solidFill>
                  <a:srgbClr val="333333"/>
                </a:solidFill>
                <a:latin typeface="Calibri"/>
                <a:cs typeface="Calibri"/>
              </a:rPr>
              <a:t>commerce</a:t>
            </a:r>
            <a:r>
              <a:rPr sz="1500" spc="290" dirty="0">
                <a:solidFill>
                  <a:srgbClr val="333333"/>
                </a:solidFill>
                <a:latin typeface="Calibri"/>
                <a:cs typeface="Calibri"/>
              </a:rPr>
              <a:t> </a:t>
            </a:r>
            <a:r>
              <a:rPr sz="1500" dirty="0">
                <a:solidFill>
                  <a:srgbClr val="333333"/>
                </a:solidFill>
                <a:latin typeface="Calibri"/>
                <a:cs typeface="Calibri"/>
              </a:rPr>
              <a:t>and</a:t>
            </a:r>
            <a:r>
              <a:rPr sz="1500" spc="320" dirty="0">
                <a:solidFill>
                  <a:srgbClr val="333333"/>
                </a:solidFill>
                <a:latin typeface="Calibri"/>
                <a:cs typeface="Calibri"/>
              </a:rPr>
              <a:t> </a:t>
            </a:r>
            <a:r>
              <a:rPr sz="1500" dirty="0">
                <a:solidFill>
                  <a:srgbClr val="333333"/>
                </a:solidFill>
                <a:latin typeface="Calibri"/>
                <a:cs typeface="Calibri"/>
              </a:rPr>
              <a:t>dropshipping</a:t>
            </a:r>
            <a:r>
              <a:rPr sz="1500" spc="250" dirty="0">
                <a:solidFill>
                  <a:srgbClr val="333333"/>
                </a:solidFill>
                <a:latin typeface="Calibri"/>
                <a:cs typeface="Calibri"/>
              </a:rPr>
              <a:t> </a:t>
            </a:r>
            <a:r>
              <a:rPr sz="1500" dirty="0">
                <a:solidFill>
                  <a:srgbClr val="333333"/>
                </a:solidFill>
                <a:latin typeface="Calibri"/>
                <a:cs typeface="Calibri"/>
              </a:rPr>
              <a:t>platform</a:t>
            </a:r>
            <a:r>
              <a:rPr sz="1500" spc="280" dirty="0">
                <a:solidFill>
                  <a:srgbClr val="333333"/>
                </a:solidFill>
                <a:latin typeface="Calibri"/>
                <a:cs typeface="Calibri"/>
              </a:rPr>
              <a:t> </a:t>
            </a:r>
            <a:r>
              <a:rPr sz="1500" spc="-10" dirty="0">
                <a:solidFill>
                  <a:srgbClr val="333333"/>
                </a:solidFill>
                <a:latin typeface="Calibri"/>
                <a:cs typeface="Calibri"/>
              </a:rPr>
              <a:t>built </a:t>
            </a:r>
            <a:r>
              <a:rPr sz="1500" dirty="0">
                <a:solidFill>
                  <a:srgbClr val="333333"/>
                </a:solidFill>
                <a:latin typeface="Calibri"/>
                <a:cs typeface="Calibri"/>
              </a:rPr>
              <a:t>using</a:t>
            </a:r>
            <a:r>
              <a:rPr sz="1500" spc="120" dirty="0">
                <a:solidFill>
                  <a:srgbClr val="333333"/>
                </a:solidFill>
                <a:latin typeface="Calibri"/>
                <a:cs typeface="Calibri"/>
              </a:rPr>
              <a:t>  </a:t>
            </a:r>
            <a:r>
              <a:rPr sz="1500" dirty="0">
                <a:solidFill>
                  <a:srgbClr val="333333"/>
                </a:solidFill>
                <a:latin typeface="Calibri"/>
                <a:cs typeface="Calibri"/>
              </a:rPr>
              <a:t>the</a:t>
            </a:r>
            <a:r>
              <a:rPr sz="1500" spc="145" dirty="0">
                <a:solidFill>
                  <a:srgbClr val="333333"/>
                </a:solidFill>
                <a:latin typeface="Calibri"/>
                <a:cs typeface="Calibri"/>
              </a:rPr>
              <a:t>  </a:t>
            </a:r>
            <a:r>
              <a:rPr sz="1500" dirty="0">
                <a:solidFill>
                  <a:srgbClr val="333333"/>
                </a:solidFill>
                <a:latin typeface="Calibri"/>
                <a:cs typeface="Calibri"/>
              </a:rPr>
              <a:t>MERN</a:t>
            </a:r>
            <a:r>
              <a:rPr sz="1500" spc="145" dirty="0">
                <a:solidFill>
                  <a:srgbClr val="333333"/>
                </a:solidFill>
                <a:latin typeface="Calibri"/>
                <a:cs typeface="Calibri"/>
              </a:rPr>
              <a:t>  </a:t>
            </a:r>
            <a:r>
              <a:rPr sz="1500" dirty="0">
                <a:solidFill>
                  <a:srgbClr val="333333"/>
                </a:solidFill>
                <a:latin typeface="Calibri"/>
                <a:cs typeface="Calibri"/>
              </a:rPr>
              <a:t>stack</a:t>
            </a:r>
            <a:r>
              <a:rPr sz="1500" spc="135" dirty="0">
                <a:solidFill>
                  <a:srgbClr val="333333"/>
                </a:solidFill>
                <a:latin typeface="Calibri"/>
                <a:cs typeface="Calibri"/>
              </a:rPr>
              <a:t>  </a:t>
            </a:r>
            <a:r>
              <a:rPr sz="1500" dirty="0">
                <a:solidFill>
                  <a:srgbClr val="333333"/>
                </a:solidFill>
                <a:latin typeface="Calibri"/>
                <a:cs typeface="Calibri"/>
              </a:rPr>
              <a:t>(MongoDB,</a:t>
            </a:r>
            <a:r>
              <a:rPr sz="1500" spc="140" dirty="0">
                <a:solidFill>
                  <a:srgbClr val="333333"/>
                </a:solidFill>
                <a:latin typeface="Calibri"/>
                <a:cs typeface="Calibri"/>
              </a:rPr>
              <a:t>  </a:t>
            </a:r>
            <a:r>
              <a:rPr sz="1500" dirty="0">
                <a:solidFill>
                  <a:srgbClr val="333333"/>
                </a:solidFill>
                <a:latin typeface="Calibri"/>
                <a:cs typeface="Calibri"/>
              </a:rPr>
              <a:t>Express.js,</a:t>
            </a:r>
            <a:r>
              <a:rPr sz="1500" spc="145" dirty="0">
                <a:solidFill>
                  <a:srgbClr val="333333"/>
                </a:solidFill>
                <a:latin typeface="Calibri"/>
                <a:cs typeface="Calibri"/>
              </a:rPr>
              <a:t>  </a:t>
            </a:r>
            <a:r>
              <a:rPr sz="1500" dirty="0">
                <a:solidFill>
                  <a:srgbClr val="333333"/>
                </a:solidFill>
                <a:latin typeface="Calibri"/>
                <a:cs typeface="Calibri"/>
              </a:rPr>
              <a:t>React,</a:t>
            </a:r>
            <a:r>
              <a:rPr sz="1500" spc="140" dirty="0">
                <a:solidFill>
                  <a:srgbClr val="333333"/>
                </a:solidFill>
                <a:latin typeface="Calibri"/>
                <a:cs typeface="Calibri"/>
              </a:rPr>
              <a:t>  </a:t>
            </a:r>
            <a:r>
              <a:rPr sz="1500" dirty="0">
                <a:solidFill>
                  <a:srgbClr val="333333"/>
                </a:solidFill>
                <a:latin typeface="Calibri"/>
                <a:cs typeface="Calibri"/>
              </a:rPr>
              <a:t>Node.js).</a:t>
            </a:r>
            <a:r>
              <a:rPr sz="1500" spc="140" dirty="0">
                <a:solidFill>
                  <a:srgbClr val="333333"/>
                </a:solidFill>
                <a:latin typeface="Calibri"/>
                <a:cs typeface="Calibri"/>
              </a:rPr>
              <a:t>  </a:t>
            </a:r>
            <a:r>
              <a:rPr sz="1500" spc="-25" dirty="0">
                <a:solidFill>
                  <a:srgbClr val="333333"/>
                </a:solidFill>
                <a:latin typeface="Calibri"/>
                <a:cs typeface="Calibri"/>
              </a:rPr>
              <a:t>The </a:t>
            </a:r>
            <a:r>
              <a:rPr sz="1500" dirty="0">
                <a:solidFill>
                  <a:srgbClr val="333333"/>
                </a:solidFill>
                <a:latin typeface="Calibri"/>
                <a:cs typeface="Calibri"/>
              </a:rPr>
              <a:t>platform</a:t>
            </a:r>
            <a:r>
              <a:rPr sz="1500" spc="490" dirty="0">
                <a:solidFill>
                  <a:srgbClr val="333333"/>
                </a:solidFill>
                <a:latin typeface="Calibri"/>
                <a:cs typeface="Calibri"/>
              </a:rPr>
              <a:t> </a:t>
            </a:r>
            <a:r>
              <a:rPr sz="1500" dirty="0">
                <a:solidFill>
                  <a:srgbClr val="333333"/>
                </a:solidFill>
                <a:latin typeface="Calibri"/>
                <a:cs typeface="Calibri"/>
              </a:rPr>
              <a:t>provides</a:t>
            </a:r>
            <a:r>
              <a:rPr sz="1500" spc="80" dirty="0">
                <a:solidFill>
                  <a:srgbClr val="333333"/>
                </a:solidFill>
                <a:latin typeface="Calibri"/>
                <a:cs typeface="Calibri"/>
              </a:rPr>
              <a:t>  </a:t>
            </a:r>
            <a:r>
              <a:rPr sz="1500" dirty="0">
                <a:solidFill>
                  <a:srgbClr val="333333"/>
                </a:solidFill>
                <a:latin typeface="Calibri"/>
                <a:cs typeface="Calibri"/>
              </a:rPr>
              <a:t>a</a:t>
            </a:r>
            <a:r>
              <a:rPr sz="1500" spc="95" dirty="0">
                <a:solidFill>
                  <a:srgbClr val="333333"/>
                </a:solidFill>
                <a:latin typeface="Calibri"/>
                <a:cs typeface="Calibri"/>
              </a:rPr>
              <a:t>  </a:t>
            </a:r>
            <a:r>
              <a:rPr sz="1500" dirty="0">
                <a:solidFill>
                  <a:srgbClr val="333333"/>
                </a:solidFill>
                <a:latin typeface="Calibri"/>
                <a:cs typeface="Calibri"/>
              </a:rPr>
              <a:t>complete</a:t>
            </a:r>
            <a:r>
              <a:rPr sz="1500" spc="490" dirty="0">
                <a:solidFill>
                  <a:srgbClr val="333333"/>
                </a:solidFill>
                <a:latin typeface="Calibri"/>
                <a:cs typeface="Calibri"/>
              </a:rPr>
              <a:t> </a:t>
            </a:r>
            <a:r>
              <a:rPr sz="1500" dirty="0">
                <a:solidFill>
                  <a:srgbClr val="333333"/>
                </a:solidFill>
                <a:latin typeface="Calibri"/>
                <a:cs typeface="Calibri"/>
              </a:rPr>
              <a:t>solution</a:t>
            </a:r>
            <a:r>
              <a:rPr sz="1500" spc="95" dirty="0">
                <a:solidFill>
                  <a:srgbClr val="333333"/>
                </a:solidFill>
                <a:latin typeface="Calibri"/>
                <a:cs typeface="Calibri"/>
              </a:rPr>
              <a:t>  </a:t>
            </a:r>
            <a:r>
              <a:rPr sz="1500" dirty="0">
                <a:solidFill>
                  <a:srgbClr val="333333"/>
                </a:solidFill>
                <a:latin typeface="Calibri"/>
                <a:cs typeface="Calibri"/>
              </a:rPr>
              <a:t>for</a:t>
            </a:r>
            <a:r>
              <a:rPr sz="1500" spc="495" dirty="0">
                <a:solidFill>
                  <a:srgbClr val="333333"/>
                </a:solidFill>
                <a:latin typeface="Calibri"/>
                <a:cs typeface="Calibri"/>
              </a:rPr>
              <a:t> </a:t>
            </a:r>
            <a:r>
              <a:rPr sz="1500" dirty="0">
                <a:solidFill>
                  <a:srgbClr val="333333"/>
                </a:solidFill>
                <a:latin typeface="Calibri"/>
                <a:cs typeface="Calibri"/>
              </a:rPr>
              <a:t>online</a:t>
            </a:r>
            <a:r>
              <a:rPr sz="1500" spc="490" dirty="0">
                <a:solidFill>
                  <a:srgbClr val="333333"/>
                </a:solidFill>
                <a:latin typeface="Calibri"/>
                <a:cs typeface="Calibri"/>
              </a:rPr>
              <a:t> </a:t>
            </a:r>
            <a:r>
              <a:rPr sz="1500" dirty="0">
                <a:solidFill>
                  <a:srgbClr val="333333"/>
                </a:solidFill>
                <a:latin typeface="Calibri"/>
                <a:cs typeface="Calibri"/>
              </a:rPr>
              <a:t>retail</a:t>
            </a:r>
            <a:r>
              <a:rPr sz="1500" spc="90" dirty="0">
                <a:solidFill>
                  <a:srgbClr val="333333"/>
                </a:solidFill>
                <a:latin typeface="Calibri"/>
                <a:cs typeface="Calibri"/>
              </a:rPr>
              <a:t>  </a:t>
            </a:r>
            <a:r>
              <a:rPr sz="1500" spc="-10" dirty="0">
                <a:solidFill>
                  <a:srgbClr val="333333"/>
                </a:solidFill>
                <a:latin typeface="Calibri"/>
                <a:cs typeface="Calibri"/>
              </a:rPr>
              <a:t>businesses, </a:t>
            </a:r>
            <a:r>
              <a:rPr sz="1500" dirty="0">
                <a:solidFill>
                  <a:srgbClr val="333333"/>
                </a:solidFill>
                <a:latin typeface="Calibri"/>
                <a:cs typeface="Calibri"/>
              </a:rPr>
              <a:t>enabling</a:t>
            </a:r>
            <a:r>
              <a:rPr sz="1500" spc="175" dirty="0">
                <a:solidFill>
                  <a:srgbClr val="333333"/>
                </a:solidFill>
                <a:latin typeface="Calibri"/>
                <a:cs typeface="Calibri"/>
              </a:rPr>
              <a:t>  </a:t>
            </a:r>
            <a:r>
              <a:rPr sz="1500" dirty="0">
                <a:solidFill>
                  <a:srgbClr val="333333"/>
                </a:solidFill>
                <a:latin typeface="Calibri"/>
                <a:cs typeface="Calibri"/>
              </a:rPr>
              <a:t>them</a:t>
            </a:r>
            <a:r>
              <a:rPr sz="1500" spc="200" dirty="0">
                <a:solidFill>
                  <a:srgbClr val="333333"/>
                </a:solidFill>
                <a:latin typeface="Calibri"/>
                <a:cs typeface="Calibri"/>
              </a:rPr>
              <a:t>  </a:t>
            </a:r>
            <a:r>
              <a:rPr sz="1500" dirty="0">
                <a:solidFill>
                  <a:srgbClr val="333333"/>
                </a:solidFill>
                <a:latin typeface="Calibri"/>
                <a:cs typeface="Calibri"/>
              </a:rPr>
              <a:t>to</a:t>
            </a:r>
            <a:r>
              <a:rPr sz="1500" spc="210" dirty="0">
                <a:solidFill>
                  <a:srgbClr val="333333"/>
                </a:solidFill>
                <a:latin typeface="Calibri"/>
                <a:cs typeface="Calibri"/>
              </a:rPr>
              <a:t>  </a:t>
            </a:r>
            <a:r>
              <a:rPr sz="1500" dirty="0">
                <a:solidFill>
                  <a:srgbClr val="333333"/>
                </a:solidFill>
                <a:latin typeface="Calibri"/>
                <a:cs typeface="Calibri"/>
              </a:rPr>
              <a:t>manage</a:t>
            </a:r>
            <a:r>
              <a:rPr sz="1500" spc="200" dirty="0">
                <a:solidFill>
                  <a:srgbClr val="333333"/>
                </a:solidFill>
                <a:latin typeface="Calibri"/>
                <a:cs typeface="Calibri"/>
              </a:rPr>
              <a:t>  </a:t>
            </a:r>
            <a:r>
              <a:rPr sz="1500" dirty="0">
                <a:solidFill>
                  <a:srgbClr val="333333"/>
                </a:solidFill>
                <a:latin typeface="Calibri"/>
                <a:cs typeface="Calibri"/>
              </a:rPr>
              <a:t>products,</a:t>
            </a:r>
            <a:r>
              <a:rPr sz="1500" spc="195" dirty="0">
                <a:solidFill>
                  <a:srgbClr val="333333"/>
                </a:solidFill>
                <a:latin typeface="Calibri"/>
                <a:cs typeface="Calibri"/>
              </a:rPr>
              <a:t>  </a:t>
            </a:r>
            <a:r>
              <a:rPr sz="1500" dirty="0">
                <a:solidFill>
                  <a:srgbClr val="333333"/>
                </a:solidFill>
                <a:latin typeface="Calibri"/>
                <a:cs typeface="Calibri"/>
              </a:rPr>
              <a:t>process</a:t>
            </a:r>
            <a:r>
              <a:rPr sz="1500" spc="204" dirty="0">
                <a:solidFill>
                  <a:srgbClr val="333333"/>
                </a:solidFill>
                <a:latin typeface="Calibri"/>
                <a:cs typeface="Calibri"/>
              </a:rPr>
              <a:t>  </a:t>
            </a:r>
            <a:r>
              <a:rPr sz="1500" dirty="0">
                <a:solidFill>
                  <a:srgbClr val="333333"/>
                </a:solidFill>
                <a:latin typeface="Calibri"/>
                <a:cs typeface="Calibri"/>
              </a:rPr>
              <a:t>orders,</a:t>
            </a:r>
            <a:r>
              <a:rPr sz="1500" spc="195" dirty="0">
                <a:solidFill>
                  <a:srgbClr val="333333"/>
                </a:solidFill>
                <a:latin typeface="Calibri"/>
                <a:cs typeface="Calibri"/>
              </a:rPr>
              <a:t>  </a:t>
            </a:r>
            <a:r>
              <a:rPr sz="1500" dirty="0">
                <a:solidFill>
                  <a:srgbClr val="333333"/>
                </a:solidFill>
                <a:latin typeface="Calibri"/>
                <a:cs typeface="Calibri"/>
              </a:rPr>
              <a:t>and</a:t>
            </a:r>
            <a:r>
              <a:rPr sz="1500" spc="215" dirty="0">
                <a:solidFill>
                  <a:srgbClr val="333333"/>
                </a:solidFill>
                <a:latin typeface="Calibri"/>
                <a:cs typeface="Calibri"/>
              </a:rPr>
              <a:t>  </a:t>
            </a:r>
            <a:r>
              <a:rPr sz="1500" spc="-10" dirty="0">
                <a:solidFill>
                  <a:srgbClr val="333333"/>
                </a:solidFill>
                <a:latin typeface="Calibri"/>
                <a:cs typeface="Calibri"/>
              </a:rPr>
              <a:t>handle </a:t>
            </a:r>
            <a:r>
              <a:rPr sz="1500" dirty="0">
                <a:solidFill>
                  <a:srgbClr val="333333"/>
                </a:solidFill>
                <a:latin typeface="Calibri"/>
                <a:cs typeface="Calibri"/>
              </a:rPr>
              <a:t>payments</a:t>
            </a:r>
            <a:r>
              <a:rPr sz="1500" spc="130" dirty="0">
                <a:solidFill>
                  <a:srgbClr val="333333"/>
                </a:solidFill>
                <a:latin typeface="Calibri"/>
                <a:cs typeface="Calibri"/>
              </a:rPr>
              <a:t> </a:t>
            </a:r>
            <a:r>
              <a:rPr sz="1500" spc="-10" dirty="0">
                <a:solidFill>
                  <a:srgbClr val="333333"/>
                </a:solidFill>
                <a:latin typeface="Calibri"/>
                <a:cs typeface="Calibri"/>
              </a:rPr>
              <a:t>efficiently.</a:t>
            </a:r>
            <a:endParaRPr sz="1500">
              <a:latin typeface="Calibri"/>
              <a:cs typeface="Calibri"/>
            </a:endParaRPr>
          </a:p>
          <a:p>
            <a:pPr marL="12700" marR="5080" algn="just">
              <a:lnSpc>
                <a:spcPct val="150000"/>
              </a:lnSpc>
              <a:spcBef>
                <a:spcPts val="1500"/>
              </a:spcBef>
            </a:pPr>
            <a:r>
              <a:rPr sz="1500" dirty="0">
                <a:solidFill>
                  <a:srgbClr val="333333"/>
                </a:solidFill>
                <a:latin typeface="Calibri"/>
                <a:cs typeface="Calibri"/>
              </a:rPr>
              <a:t>The</a:t>
            </a:r>
            <a:r>
              <a:rPr sz="1500" spc="105" dirty="0">
                <a:solidFill>
                  <a:srgbClr val="333333"/>
                </a:solidFill>
                <a:latin typeface="Calibri"/>
                <a:cs typeface="Calibri"/>
              </a:rPr>
              <a:t>  </a:t>
            </a:r>
            <a:r>
              <a:rPr sz="1500" dirty="0">
                <a:solidFill>
                  <a:srgbClr val="333333"/>
                </a:solidFill>
                <a:latin typeface="Calibri"/>
                <a:cs typeface="Calibri"/>
              </a:rPr>
              <a:t>system</a:t>
            </a:r>
            <a:r>
              <a:rPr sz="1500" spc="110" dirty="0">
                <a:solidFill>
                  <a:srgbClr val="333333"/>
                </a:solidFill>
                <a:latin typeface="Calibri"/>
                <a:cs typeface="Calibri"/>
              </a:rPr>
              <a:t>  </a:t>
            </a:r>
            <a:r>
              <a:rPr sz="1500" dirty="0">
                <a:solidFill>
                  <a:srgbClr val="333333"/>
                </a:solidFill>
                <a:latin typeface="Calibri"/>
                <a:cs typeface="Calibri"/>
              </a:rPr>
              <a:t>integrates</a:t>
            </a:r>
            <a:r>
              <a:rPr sz="1500" spc="114" dirty="0">
                <a:solidFill>
                  <a:srgbClr val="333333"/>
                </a:solidFill>
                <a:latin typeface="Calibri"/>
                <a:cs typeface="Calibri"/>
              </a:rPr>
              <a:t>  </a:t>
            </a:r>
            <a:r>
              <a:rPr sz="1500" dirty="0">
                <a:solidFill>
                  <a:srgbClr val="333333"/>
                </a:solidFill>
                <a:latin typeface="Calibri"/>
                <a:cs typeface="Calibri"/>
              </a:rPr>
              <a:t>dropshipping</a:t>
            </a:r>
            <a:r>
              <a:rPr sz="1500" spc="90" dirty="0">
                <a:solidFill>
                  <a:srgbClr val="333333"/>
                </a:solidFill>
                <a:latin typeface="Calibri"/>
                <a:cs typeface="Calibri"/>
              </a:rPr>
              <a:t>  </a:t>
            </a:r>
            <a:r>
              <a:rPr sz="1500" dirty="0">
                <a:solidFill>
                  <a:srgbClr val="333333"/>
                </a:solidFill>
                <a:latin typeface="Calibri"/>
                <a:cs typeface="Calibri"/>
              </a:rPr>
              <a:t>capabilities,</a:t>
            </a:r>
            <a:r>
              <a:rPr sz="1500" spc="110" dirty="0">
                <a:solidFill>
                  <a:srgbClr val="333333"/>
                </a:solidFill>
                <a:latin typeface="Calibri"/>
                <a:cs typeface="Calibri"/>
              </a:rPr>
              <a:t>  </a:t>
            </a:r>
            <a:r>
              <a:rPr sz="1500" dirty="0">
                <a:solidFill>
                  <a:srgbClr val="333333"/>
                </a:solidFill>
                <a:latin typeface="Calibri"/>
                <a:cs typeface="Calibri"/>
              </a:rPr>
              <a:t>allowing</a:t>
            </a:r>
            <a:r>
              <a:rPr sz="1500" spc="90" dirty="0">
                <a:solidFill>
                  <a:srgbClr val="333333"/>
                </a:solidFill>
                <a:latin typeface="Calibri"/>
                <a:cs typeface="Calibri"/>
              </a:rPr>
              <a:t>  </a:t>
            </a:r>
            <a:r>
              <a:rPr sz="1500" dirty="0">
                <a:solidFill>
                  <a:srgbClr val="333333"/>
                </a:solidFill>
                <a:latin typeface="Calibri"/>
                <a:cs typeface="Calibri"/>
              </a:rPr>
              <a:t>sellers</a:t>
            </a:r>
            <a:r>
              <a:rPr sz="1500" spc="114" dirty="0">
                <a:solidFill>
                  <a:srgbClr val="333333"/>
                </a:solidFill>
                <a:latin typeface="Calibri"/>
                <a:cs typeface="Calibri"/>
              </a:rPr>
              <a:t>  </a:t>
            </a:r>
            <a:r>
              <a:rPr sz="1500" spc="-25" dirty="0">
                <a:solidFill>
                  <a:srgbClr val="333333"/>
                </a:solidFill>
                <a:latin typeface="Calibri"/>
                <a:cs typeface="Calibri"/>
              </a:rPr>
              <a:t>to </a:t>
            </a:r>
            <a:r>
              <a:rPr sz="1500" dirty="0">
                <a:solidFill>
                  <a:srgbClr val="333333"/>
                </a:solidFill>
                <a:latin typeface="Calibri"/>
                <a:cs typeface="Calibri"/>
              </a:rPr>
              <a:t>operate</a:t>
            </a:r>
            <a:r>
              <a:rPr sz="1500" spc="135" dirty="0">
                <a:solidFill>
                  <a:srgbClr val="333333"/>
                </a:solidFill>
                <a:latin typeface="Calibri"/>
                <a:cs typeface="Calibri"/>
              </a:rPr>
              <a:t>  </a:t>
            </a:r>
            <a:r>
              <a:rPr sz="1500" dirty="0">
                <a:solidFill>
                  <a:srgbClr val="333333"/>
                </a:solidFill>
                <a:latin typeface="Calibri"/>
                <a:cs typeface="Calibri"/>
              </a:rPr>
              <a:t>without</a:t>
            </a:r>
            <a:r>
              <a:rPr sz="1500" spc="145" dirty="0">
                <a:solidFill>
                  <a:srgbClr val="333333"/>
                </a:solidFill>
                <a:latin typeface="Calibri"/>
                <a:cs typeface="Calibri"/>
              </a:rPr>
              <a:t>  </a:t>
            </a:r>
            <a:r>
              <a:rPr sz="1500" dirty="0">
                <a:solidFill>
                  <a:srgbClr val="333333"/>
                </a:solidFill>
                <a:latin typeface="Calibri"/>
                <a:cs typeface="Calibri"/>
              </a:rPr>
              <a:t>maintaining</a:t>
            </a:r>
            <a:r>
              <a:rPr sz="1500" spc="120" dirty="0">
                <a:solidFill>
                  <a:srgbClr val="333333"/>
                </a:solidFill>
                <a:latin typeface="Calibri"/>
                <a:cs typeface="Calibri"/>
              </a:rPr>
              <a:t>  </a:t>
            </a:r>
            <a:r>
              <a:rPr sz="1500" dirty="0">
                <a:solidFill>
                  <a:srgbClr val="333333"/>
                </a:solidFill>
                <a:latin typeface="Calibri"/>
                <a:cs typeface="Calibri"/>
              </a:rPr>
              <a:t>physical</a:t>
            </a:r>
            <a:r>
              <a:rPr sz="1500" spc="150" dirty="0">
                <a:solidFill>
                  <a:srgbClr val="333333"/>
                </a:solidFill>
                <a:latin typeface="Calibri"/>
                <a:cs typeface="Calibri"/>
              </a:rPr>
              <a:t>  </a:t>
            </a:r>
            <a:r>
              <a:rPr sz="1500" dirty="0">
                <a:solidFill>
                  <a:srgbClr val="333333"/>
                </a:solidFill>
                <a:latin typeface="Calibri"/>
                <a:cs typeface="Calibri"/>
              </a:rPr>
              <a:t>inventory.</a:t>
            </a:r>
            <a:r>
              <a:rPr sz="1500" spc="135" dirty="0">
                <a:solidFill>
                  <a:srgbClr val="333333"/>
                </a:solidFill>
                <a:latin typeface="Calibri"/>
                <a:cs typeface="Calibri"/>
              </a:rPr>
              <a:t>  </a:t>
            </a:r>
            <a:r>
              <a:rPr sz="1500" dirty="0">
                <a:solidFill>
                  <a:srgbClr val="333333"/>
                </a:solidFill>
                <a:latin typeface="Calibri"/>
                <a:cs typeface="Calibri"/>
              </a:rPr>
              <a:t>It</a:t>
            </a:r>
            <a:r>
              <a:rPr sz="1500" spc="145" dirty="0">
                <a:solidFill>
                  <a:srgbClr val="333333"/>
                </a:solidFill>
                <a:latin typeface="Calibri"/>
                <a:cs typeface="Calibri"/>
              </a:rPr>
              <a:t>  </a:t>
            </a:r>
            <a:r>
              <a:rPr sz="1500" dirty="0">
                <a:solidFill>
                  <a:srgbClr val="333333"/>
                </a:solidFill>
                <a:latin typeface="Calibri"/>
                <a:cs typeface="Calibri"/>
              </a:rPr>
              <a:t>features</a:t>
            </a:r>
            <a:r>
              <a:rPr sz="1500" spc="145" dirty="0">
                <a:solidFill>
                  <a:srgbClr val="333333"/>
                </a:solidFill>
                <a:latin typeface="Calibri"/>
                <a:cs typeface="Calibri"/>
              </a:rPr>
              <a:t>  </a:t>
            </a:r>
            <a:r>
              <a:rPr sz="1500" spc="-10" dirty="0">
                <a:solidFill>
                  <a:srgbClr val="333333"/>
                </a:solidFill>
                <a:latin typeface="Calibri"/>
                <a:cs typeface="Calibri"/>
              </a:rPr>
              <a:t>secure </a:t>
            </a:r>
            <a:r>
              <a:rPr sz="1500" dirty="0">
                <a:solidFill>
                  <a:srgbClr val="333333"/>
                </a:solidFill>
                <a:latin typeface="Calibri"/>
                <a:cs typeface="Calibri"/>
              </a:rPr>
              <a:t>payment</a:t>
            </a:r>
            <a:r>
              <a:rPr sz="1500" spc="295" dirty="0">
                <a:solidFill>
                  <a:srgbClr val="333333"/>
                </a:solidFill>
                <a:latin typeface="Calibri"/>
                <a:cs typeface="Calibri"/>
              </a:rPr>
              <a:t>  </a:t>
            </a:r>
            <a:r>
              <a:rPr sz="1500" dirty="0">
                <a:solidFill>
                  <a:srgbClr val="333333"/>
                </a:solidFill>
                <a:latin typeface="Calibri"/>
                <a:cs typeface="Calibri"/>
              </a:rPr>
              <a:t>processing,</a:t>
            </a:r>
            <a:r>
              <a:rPr sz="1500" spc="290" dirty="0">
                <a:solidFill>
                  <a:srgbClr val="333333"/>
                </a:solidFill>
                <a:latin typeface="Calibri"/>
                <a:cs typeface="Calibri"/>
              </a:rPr>
              <a:t>  </a:t>
            </a:r>
            <a:r>
              <a:rPr sz="1500" dirty="0">
                <a:solidFill>
                  <a:srgbClr val="333333"/>
                </a:solidFill>
                <a:latin typeface="Calibri"/>
                <a:cs typeface="Calibri"/>
              </a:rPr>
              <a:t>user</a:t>
            </a:r>
            <a:r>
              <a:rPr sz="1500" spc="290" dirty="0">
                <a:solidFill>
                  <a:srgbClr val="333333"/>
                </a:solidFill>
                <a:latin typeface="Calibri"/>
                <a:cs typeface="Calibri"/>
              </a:rPr>
              <a:t>  </a:t>
            </a:r>
            <a:r>
              <a:rPr sz="1500" dirty="0">
                <a:solidFill>
                  <a:srgbClr val="333333"/>
                </a:solidFill>
                <a:latin typeface="Calibri"/>
                <a:cs typeface="Calibri"/>
              </a:rPr>
              <a:t>authentication,</a:t>
            </a:r>
            <a:r>
              <a:rPr sz="1500" spc="285" dirty="0">
                <a:solidFill>
                  <a:srgbClr val="333333"/>
                </a:solidFill>
                <a:latin typeface="Calibri"/>
                <a:cs typeface="Calibri"/>
              </a:rPr>
              <a:t>  </a:t>
            </a:r>
            <a:r>
              <a:rPr sz="1500" dirty="0">
                <a:solidFill>
                  <a:srgbClr val="333333"/>
                </a:solidFill>
                <a:latin typeface="Calibri"/>
                <a:cs typeface="Calibri"/>
              </a:rPr>
              <a:t>and</a:t>
            </a:r>
            <a:r>
              <a:rPr sz="1500" spc="305" dirty="0">
                <a:solidFill>
                  <a:srgbClr val="333333"/>
                </a:solidFill>
                <a:latin typeface="Calibri"/>
                <a:cs typeface="Calibri"/>
              </a:rPr>
              <a:t>  </a:t>
            </a:r>
            <a:r>
              <a:rPr sz="1500" dirty="0">
                <a:solidFill>
                  <a:srgbClr val="333333"/>
                </a:solidFill>
                <a:latin typeface="Calibri"/>
                <a:cs typeface="Calibri"/>
              </a:rPr>
              <a:t>an</a:t>
            </a:r>
            <a:r>
              <a:rPr sz="1500" spc="310" dirty="0">
                <a:solidFill>
                  <a:srgbClr val="333333"/>
                </a:solidFill>
                <a:latin typeface="Calibri"/>
                <a:cs typeface="Calibri"/>
              </a:rPr>
              <a:t>  </a:t>
            </a:r>
            <a:r>
              <a:rPr sz="1500" spc="-10" dirty="0">
                <a:solidFill>
                  <a:srgbClr val="333333"/>
                </a:solidFill>
                <a:latin typeface="Calibri"/>
                <a:cs typeface="Calibri"/>
              </a:rPr>
              <a:t>administrative </a:t>
            </a:r>
            <a:r>
              <a:rPr sz="1500" dirty="0">
                <a:solidFill>
                  <a:srgbClr val="333333"/>
                </a:solidFill>
                <a:latin typeface="Calibri"/>
                <a:cs typeface="Calibri"/>
              </a:rPr>
              <a:t>dashboard</a:t>
            </a:r>
            <a:r>
              <a:rPr sz="1500" spc="180" dirty="0">
                <a:solidFill>
                  <a:srgbClr val="333333"/>
                </a:solidFill>
                <a:latin typeface="Calibri"/>
                <a:cs typeface="Calibri"/>
              </a:rPr>
              <a:t> </a:t>
            </a:r>
            <a:r>
              <a:rPr sz="1500" dirty="0">
                <a:solidFill>
                  <a:srgbClr val="333333"/>
                </a:solidFill>
                <a:latin typeface="Calibri"/>
                <a:cs typeface="Calibri"/>
              </a:rPr>
              <a:t>for</a:t>
            </a:r>
            <a:r>
              <a:rPr sz="1500" spc="140" dirty="0">
                <a:solidFill>
                  <a:srgbClr val="333333"/>
                </a:solidFill>
                <a:latin typeface="Calibri"/>
                <a:cs typeface="Calibri"/>
              </a:rPr>
              <a:t> </a:t>
            </a:r>
            <a:r>
              <a:rPr sz="1500" dirty="0">
                <a:solidFill>
                  <a:srgbClr val="333333"/>
                </a:solidFill>
                <a:latin typeface="Calibri"/>
                <a:cs typeface="Calibri"/>
              </a:rPr>
              <a:t>business</a:t>
            </a:r>
            <a:r>
              <a:rPr sz="1500" spc="150" dirty="0">
                <a:solidFill>
                  <a:srgbClr val="333333"/>
                </a:solidFill>
                <a:latin typeface="Calibri"/>
                <a:cs typeface="Calibri"/>
              </a:rPr>
              <a:t> </a:t>
            </a:r>
            <a:r>
              <a:rPr sz="1500" spc="-10" dirty="0">
                <a:solidFill>
                  <a:srgbClr val="333333"/>
                </a:solidFill>
                <a:latin typeface="Calibri"/>
                <a:cs typeface="Calibri"/>
              </a:rPr>
              <a:t>management.</a:t>
            </a:r>
            <a:endParaRPr sz="1500">
              <a:latin typeface="Calibri"/>
              <a:cs typeface="Calibri"/>
            </a:endParaRPr>
          </a:p>
          <a:p>
            <a:pPr marL="12700" marR="9525" algn="just">
              <a:lnSpc>
                <a:spcPct val="150000"/>
              </a:lnSpc>
              <a:spcBef>
                <a:spcPts val="1500"/>
              </a:spcBef>
            </a:pPr>
            <a:r>
              <a:rPr sz="1500" dirty="0">
                <a:solidFill>
                  <a:srgbClr val="333333"/>
                </a:solidFill>
                <a:latin typeface="Calibri"/>
                <a:cs typeface="Calibri"/>
              </a:rPr>
              <a:t>This</a:t>
            </a:r>
            <a:r>
              <a:rPr sz="1500" spc="400" dirty="0">
                <a:solidFill>
                  <a:srgbClr val="333333"/>
                </a:solidFill>
                <a:latin typeface="Calibri"/>
                <a:cs typeface="Calibri"/>
              </a:rPr>
              <a:t> </a:t>
            </a:r>
            <a:r>
              <a:rPr sz="1500" dirty="0">
                <a:solidFill>
                  <a:srgbClr val="333333"/>
                </a:solidFill>
                <a:latin typeface="Calibri"/>
                <a:cs typeface="Calibri"/>
              </a:rPr>
              <a:t>project</a:t>
            </a:r>
            <a:r>
              <a:rPr sz="1500" spc="405" dirty="0">
                <a:solidFill>
                  <a:srgbClr val="333333"/>
                </a:solidFill>
                <a:latin typeface="Calibri"/>
                <a:cs typeface="Calibri"/>
              </a:rPr>
              <a:t> </a:t>
            </a:r>
            <a:r>
              <a:rPr sz="1500" dirty="0">
                <a:solidFill>
                  <a:srgbClr val="333333"/>
                </a:solidFill>
                <a:latin typeface="Calibri"/>
                <a:cs typeface="Calibri"/>
              </a:rPr>
              <a:t>demonstrates</a:t>
            </a:r>
            <a:r>
              <a:rPr sz="1500" spc="400" dirty="0">
                <a:solidFill>
                  <a:srgbClr val="333333"/>
                </a:solidFill>
                <a:latin typeface="Calibri"/>
                <a:cs typeface="Calibri"/>
              </a:rPr>
              <a:t> </a:t>
            </a:r>
            <a:r>
              <a:rPr sz="1500" dirty="0">
                <a:solidFill>
                  <a:srgbClr val="333333"/>
                </a:solidFill>
                <a:latin typeface="Calibri"/>
                <a:cs typeface="Calibri"/>
              </a:rPr>
              <a:t>the</a:t>
            </a:r>
            <a:r>
              <a:rPr sz="1500" spc="395" dirty="0">
                <a:solidFill>
                  <a:srgbClr val="333333"/>
                </a:solidFill>
                <a:latin typeface="Calibri"/>
                <a:cs typeface="Calibri"/>
              </a:rPr>
              <a:t> </a:t>
            </a:r>
            <a:r>
              <a:rPr sz="1500" dirty="0">
                <a:solidFill>
                  <a:srgbClr val="333333"/>
                </a:solidFill>
                <a:latin typeface="Calibri"/>
                <a:cs typeface="Calibri"/>
              </a:rPr>
              <a:t>practical</a:t>
            </a:r>
            <a:r>
              <a:rPr sz="1500" spc="415" dirty="0">
                <a:solidFill>
                  <a:srgbClr val="333333"/>
                </a:solidFill>
                <a:latin typeface="Calibri"/>
                <a:cs typeface="Calibri"/>
              </a:rPr>
              <a:t> </a:t>
            </a:r>
            <a:r>
              <a:rPr sz="1500" dirty="0">
                <a:solidFill>
                  <a:srgbClr val="333333"/>
                </a:solidFill>
                <a:latin typeface="Calibri"/>
                <a:cs typeface="Calibri"/>
              </a:rPr>
              <a:t>application</a:t>
            </a:r>
            <a:r>
              <a:rPr sz="1500" spc="425" dirty="0">
                <a:solidFill>
                  <a:srgbClr val="333333"/>
                </a:solidFill>
                <a:latin typeface="Calibri"/>
                <a:cs typeface="Calibri"/>
              </a:rPr>
              <a:t> </a:t>
            </a:r>
            <a:r>
              <a:rPr sz="1500" dirty="0">
                <a:solidFill>
                  <a:srgbClr val="333333"/>
                </a:solidFill>
                <a:latin typeface="Calibri"/>
                <a:cs typeface="Calibri"/>
              </a:rPr>
              <a:t>of</a:t>
            </a:r>
            <a:r>
              <a:rPr sz="1500" spc="375" dirty="0">
                <a:solidFill>
                  <a:srgbClr val="333333"/>
                </a:solidFill>
                <a:latin typeface="Calibri"/>
                <a:cs typeface="Calibri"/>
              </a:rPr>
              <a:t> </a:t>
            </a:r>
            <a:r>
              <a:rPr sz="1500" dirty="0">
                <a:solidFill>
                  <a:srgbClr val="333333"/>
                </a:solidFill>
                <a:latin typeface="Calibri"/>
                <a:cs typeface="Calibri"/>
              </a:rPr>
              <a:t>full-stack</a:t>
            </a:r>
            <a:r>
              <a:rPr sz="1500" spc="370" dirty="0">
                <a:solidFill>
                  <a:srgbClr val="333333"/>
                </a:solidFill>
                <a:latin typeface="Calibri"/>
                <a:cs typeface="Calibri"/>
              </a:rPr>
              <a:t> </a:t>
            </a:r>
            <a:r>
              <a:rPr sz="1500" spc="-25" dirty="0">
                <a:solidFill>
                  <a:srgbClr val="333333"/>
                </a:solidFill>
                <a:latin typeface="Calibri"/>
                <a:cs typeface="Calibri"/>
              </a:rPr>
              <a:t>web </a:t>
            </a:r>
            <a:r>
              <a:rPr sz="1500" dirty="0">
                <a:solidFill>
                  <a:srgbClr val="333333"/>
                </a:solidFill>
                <a:latin typeface="Calibri"/>
                <a:cs typeface="Calibri"/>
              </a:rPr>
              <a:t>development</a:t>
            </a:r>
            <a:r>
              <a:rPr sz="1500" spc="105" dirty="0">
                <a:solidFill>
                  <a:srgbClr val="333333"/>
                </a:solidFill>
                <a:latin typeface="Calibri"/>
                <a:cs typeface="Calibri"/>
              </a:rPr>
              <a:t>  </a:t>
            </a:r>
            <a:r>
              <a:rPr sz="1500" dirty="0">
                <a:solidFill>
                  <a:srgbClr val="333333"/>
                </a:solidFill>
                <a:latin typeface="Calibri"/>
                <a:cs typeface="Calibri"/>
              </a:rPr>
              <a:t>principles</a:t>
            </a:r>
            <a:r>
              <a:rPr sz="1500" spc="100" dirty="0">
                <a:solidFill>
                  <a:srgbClr val="333333"/>
                </a:solidFill>
                <a:latin typeface="Calibri"/>
                <a:cs typeface="Calibri"/>
              </a:rPr>
              <a:t>  </a:t>
            </a:r>
            <a:r>
              <a:rPr sz="1500" dirty="0">
                <a:solidFill>
                  <a:srgbClr val="333333"/>
                </a:solidFill>
                <a:latin typeface="Calibri"/>
                <a:cs typeface="Calibri"/>
              </a:rPr>
              <a:t>in</a:t>
            </a:r>
            <a:r>
              <a:rPr sz="1500" spc="114" dirty="0">
                <a:solidFill>
                  <a:srgbClr val="333333"/>
                </a:solidFill>
                <a:latin typeface="Calibri"/>
                <a:cs typeface="Calibri"/>
              </a:rPr>
              <a:t>  </a:t>
            </a:r>
            <a:r>
              <a:rPr sz="1500" dirty="0">
                <a:solidFill>
                  <a:srgbClr val="333333"/>
                </a:solidFill>
                <a:latin typeface="Calibri"/>
                <a:cs typeface="Calibri"/>
              </a:rPr>
              <a:t>creating</a:t>
            </a:r>
            <a:r>
              <a:rPr sz="1500" spc="80" dirty="0">
                <a:solidFill>
                  <a:srgbClr val="333333"/>
                </a:solidFill>
                <a:latin typeface="Calibri"/>
                <a:cs typeface="Calibri"/>
              </a:rPr>
              <a:t>  </a:t>
            </a:r>
            <a:r>
              <a:rPr sz="1500" dirty="0">
                <a:solidFill>
                  <a:srgbClr val="333333"/>
                </a:solidFill>
                <a:latin typeface="Calibri"/>
                <a:cs typeface="Calibri"/>
              </a:rPr>
              <a:t>a</a:t>
            </a:r>
            <a:r>
              <a:rPr sz="1500" spc="110" dirty="0">
                <a:solidFill>
                  <a:srgbClr val="333333"/>
                </a:solidFill>
                <a:latin typeface="Calibri"/>
                <a:cs typeface="Calibri"/>
              </a:rPr>
              <a:t>  </a:t>
            </a:r>
            <a:r>
              <a:rPr sz="1500" dirty="0">
                <a:solidFill>
                  <a:srgbClr val="333333"/>
                </a:solidFill>
                <a:latin typeface="Calibri"/>
                <a:cs typeface="Calibri"/>
              </a:rPr>
              <a:t>scalable</a:t>
            </a:r>
            <a:r>
              <a:rPr sz="1500" spc="95" dirty="0">
                <a:solidFill>
                  <a:srgbClr val="333333"/>
                </a:solidFill>
                <a:latin typeface="Calibri"/>
                <a:cs typeface="Calibri"/>
              </a:rPr>
              <a:t>  </a:t>
            </a:r>
            <a:r>
              <a:rPr sz="1500" spc="-20" dirty="0">
                <a:solidFill>
                  <a:srgbClr val="333333"/>
                </a:solidFill>
                <a:latin typeface="Calibri"/>
                <a:cs typeface="Calibri"/>
              </a:rPr>
              <a:t>e-</a:t>
            </a:r>
            <a:r>
              <a:rPr sz="1500" dirty="0">
                <a:solidFill>
                  <a:srgbClr val="333333"/>
                </a:solidFill>
                <a:latin typeface="Calibri"/>
                <a:cs typeface="Calibri"/>
              </a:rPr>
              <a:t>commerce</a:t>
            </a:r>
            <a:r>
              <a:rPr sz="1500" spc="95" dirty="0">
                <a:solidFill>
                  <a:srgbClr val="333333"/>
                </a:solidFill>
                <a:latin typeface="Calibri"/>
                <a:cs typeface="Calibri"/>
              </a:rPr>
              <a:t>  </a:t>
            </a:r>
            <a:r>
              <a:rPr sz="1500" spc="-10" dirty="0">
                <a:solidFill>
                  <a:srgbClr val="333333"/>
                </a:solidFill>
                <a:latin typeface="Calibri"/>
                <a:cs typeface="Calibri"/>
              </a:rPr>
              <a:t>solution </a:t>
            </a:r>
            <a:r>
              <a:rPr sz="1500" dirty="0">
                <a:solidFill>
                  <a:srgbClr val="333333"/>
                </a:solidFill>
                <a:latin typeface="Calibri"/>
                <a:cs typeface="Calibri"/>
              </a:rPr>
              <a:t>suitable</a:t>
            </a:r>
            <a:r>
              <a:rPr sz="1500" spc="100" dirty="0">
                <a:solidFill>
                  <a:srgbClr val="333333"/>
                </a:solidFill>
                <a:latin typeface="Calibri"/>
                <a:cs typeface="Calibri"/>
              </a:rPr>
              <a:t> </a:t>
            </a:r>
            <a:r>
              <a:rPr sz="1500" dirty="0">
                <a:solidFill>
                  <a:srgbClr val="333333"/>
                </a:solidFill>
                <a:latin typeface="Calibri"/>
                <a:cs typeface="Calibri"/>
              </a:rPr>
              <a:t>for</a:t>
            </a:r>
            <a:r>
              <a:rPr sz="1500" spc="100" dirty="0">
                <a:solidFill>
                  <a:srgbClr val="333333"/>
                </a:solidFill>
                <a:latin typeface="Calibri"/>
                <a:cs typeface="Calibri"/>
              </a:rPr>
              <a:t> </a:t>
            </a:r>
            <a:r>
              <a:rPr sz="1500" dirty="0">
                <a:solidFill>
                  <a:srgbClr val="333333"/>
                </a:solidFill>
                <a:latin typeface="Calibri"/>
                <a:cs typeface="Calibri"/>
              </a:rPr>
              <a:t>real-world</a:t>
            </a:r>
            <a:r>
              <a:rPr sz="1500" spc="145" dirty="0">
                <a:solidFill>
                  <a:srgbClr val="333333"/>
                </a:solidFill>
                <a:latin typeface="Calibri"/>
                <a:cs typeface="Calibri"/>
              </a:rPr>
              <a:t> </a:t>
            </a:r>
            <a:r>
              <a:rPr sz="1500" spc="-10" dirty="0">
                <a:solidFill>
                  <a:srgbClr val="333333"/>
                </a:solidFill>
                <a:latin typeface="Calibri"/>
                <a:cs typeface="Calibri"/>
              </a:rPr>
              <a:t>deployment.</a:t>
            </a:r>
            <a:endParaRPr sz="15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Literature</a:t>
            </a:r>
            <a:r>
              <a:rPr spc="-105" dirty="0"/>
              <a:t> </a:t>
            </a:r>
            <a:r>
              <a:rPr spc="-10" dirty="0"/>
              <a:t>Review</a:t>
            </a:r>
          </a:p>
        </p:txBody>
      </p:sp>
      <p:sp>
        <p:nvSpPr>
          <p:cNvPr id="3" name="object 3"/>
          <p:cNvSpPr txBox="1"/>
          <p:nvPr/>
        </p:nvSpPr>
        <p:spPr>
          <a:xfrm>
            <a:off x="920750" y="1587500"/>
            <a:ext cx="5732145" cy="5207000"/>
          </a:xfrm>
          <a:prstGeom prst="rect">
            <a:avLst/>
          </a:prstGeom>
        </p:spPr>
        <p:txBody>
          <a:bodyPr vert="horz" wrap="square" lIns="0" tIns="12700" rIns="0" bIns="0" rtlCol="0">
            <a:spAutoFit/>
          </a:bodyPr>
          <a:lstStyle/>
          <a:p>
            <a:pPr marL="12700" marR="5080" algn="just">
              <a:lnSpc>
                <a:spcPct val="150000"/>
              </a:lnSpc>
              <a:spcBef>
                <a:spcPts val="100"/>
              </a:spcBef>
            </a:pPr>
            <a:r>
              <a:rPr sz="1500" b="1" spc="-10" dirty="0">
                <a:solidFill>
                  <a:srgbClr val="333333"/>
                </a:solidFill>
                <a:latin typeface="Calibri"/>
                <a:cs typeface="Calibri"/>
              </a:rPr>
              <a:t>E-</a:t>
            </a:r>
            <a:r>
              <a:rPr sz="1500" b="1" dirty="0">
                <a:solidFill>
                  <a:srgbClr val="333333"/>
                </a:solidFill>
                <a:latin typeface="Calibri"/>
                <a:cs typeface="Calibri"/>
              </a:rPr>
              <a:t>Commerce</a:t>
            </a:r>
            <a:r>
              <a:rPr sz="1500" b="1" spc="155" dirty="0">
                <a:solidFill>
                  <a:srgbClr val="333333"/>
                </a:solidFill>
                <a:latin typeface="Calibri"/>
                <a:cs typeface="Calibri"/>
              </a:rPr>
              <a:t>  </a:t>
            </a:r>
            <a:r>
              <a:rPr sz="1500" b="1" dirty="0">
                <a:solidFill>
                  <a:srgbClr val="333333"/>
                </a:solidFill>
                <a:latin typeface="Calibri"/>
                <a:cs typeface="Calibri"/>
              </a:rPr>
              <a:t>Evolution:</a:t>
            </a:r>
            <a:r>
              <a:rPr sz="1500" b="1" spc="180" dirty="0">
                <a:solidFill>
                  <a:srgbClr val="333333"/>
                </a:solidFill>
                <a:latin typeface="Calibri"/>
                <a:cs typeface="Calibri"/>
              </a:rPr>
              <a:t>  </a:t>
            </a:r>
            <a:r>
              <a:rPr sz="1500" spc="-10" dirty="0">
                <a:solidFill>
                  <a:srgbClr val="333333"/>
                </a:solidFill>
                <a:latin typeface="Calibri"/>
                <a:cs typeface="Calibri"/>
              </a:rPr>
              <a:t>E-</a:t>
            </a:r>
            <a:r>
              <a:rPr sz="1500" dirty="0">
                <a:solidFill>
                  <a:srgbClr val="333333"/>
                </a:solidFill>
                <a:latin typeface="Calibri"/>
                <a:cs typeface="Calibri"/>
              </a:rPr>
              <a:t>commerce</a:t>
            </a:r>
            <a:r>
              <a:rPr sz="1500" spc="165" dirty="0">
                <a:solidFill>
                  <a:srgbClr val="333333"/>
                </a:solidFill>
                <a:latin typeface="Calibri"/>
                <a:cs typeface="Calibri"/>
              </a:rPr>
              <a:t>  </a:t>
            </a:r>
            <a:r>
              <a:rPr sz="1500" dirty="0">
                <a:solidFill>
                  <a:srgbClr val="333333"/>
                </a:solidFill>
                <a:latin typeface="Calibri"/>
                <a:cs typeface="Calibri"/>
              </a:rPr>
              <a:t>platforms</a:t>
            </a:r>
            <a:r>
              <a:rPr sz="1500" spc="170" dirty="0">
                <a:solidFill>
                  <a:srgbClr val="333333"/>
                </a:solidFill>
                <a:latin typeface="Calibri"/>
                <a:cs typeface="Calibri"/>
              </a:rPr>
              <a:t>  </a:t>
            </a:r>
            <a:r>
              <a:rPr sz="1500" dirty="0">
                <a:solidFill>
                  <a:srgbClr val="333333"/>
                </a:solidFill>
                <a:latin typeface="Calibri"/>
                <a:cs typeface="Calibri"/>
              </a:rPr>
              <a:t>have</a:t>
            </a:r>
            <a:r>
              <a:rPr sz="1500" spc="165" dirty="0">
                <a:solidFill>
                  <a:srgbClr val="333333"/>
                </a:solidFill>
                <a:latin typeface="Calibri"/>
                <a:cs typeface="Calibri"/>
              </a:rPr>
              <a:t>  </a:t>
            </a:r>
            <a:r>
              <a:rPr sz="1500" dirty="0">
                <a:solidFill>
                  <a:srgbClr val="333333"/>
                </a:solidFill>
                <a:latin typeface="Calibri"/>
                <a:cs typeface="Calibri"/>
              </a:rPr>
              <a:t>evolved</a:t>
            </a:r>
            <a:r>
              <a:rPr sz="1500" spc="180" dirty="0">
                <a:solidFill>
                  <a:srgbClr val="333333"/>
                </a:solidFill>
                <a:latin typeface="Calibri"/>
                <a:cs typeface="Calibri"/>
              </a:rPr>
              <a:t>  </a:t>
            </a:r>
            <a:r>
              <a:rPr sz="1500" spc="-20" dirty="0">
                <a:solidFill>
                  <a:srgbClr val="333333"/>
                </a:solidFill>
                <a:latin typeface="Calibri"/>
                <a:cs typeface="Calibri"/>
              </a:rPr>
              <a:t>from </a:t>
            </a:r>
            <a:r>
              <a:rPr sz="1500" dirty="0">
                <a:solidFill>
                  <a:srgbClr val="333333"/>
                </a:solidFill>
                <a:latin typeface="Calibri"/>
                <a:cs typeface="Calibri"/>
              </a:rPr>
              <a:t>simple</a:t>
            </a:r>
            <a:r>
              <a:rPr sz="1500" spc="405" dirty="0">
                <a:solidFill>
                  <a:srgbClr val="333333"/>
                </a:solidFill>
                <a:latin typeface="Calibri"/>
                <a:cs typeface="Calibri"/>
              </a:rPr>
              <a:t> </a:t>
            </a:r>
            <a:r>
              <a:rPr sz="1500" dirty="0">
                <a:solidFill>
                  <a:srgbClr val="333333"/>
                </a:solidFill>
                <a:latin typeface="Calibri"/>
                <a:cs typeface="Calibri"/>
              </a:rPr>
              <a:t>online</a:t>
            </a:r>
            <a:r>
              <a:rPr sz="1500" spc="405" dirty="0">
                <a:solidFill>
                  <a:srgbClr val="333333"/>
                </a:solidFill>
                <a:latin typeface="Calibri"/>
                <a:cs typeface="Calibri"/>
              </a:rPr>
              <a:t> </a:t>
            </a:r>
            <a:r>
              <a:rPr sz="1500" dirty="0">
                <a:solidFill>
                  <a:srgbClr val="333333"/>
                </a:solidFill>
                <a:latin typeface="Calibri"/>
                <a:cs typeface="Calibri"/>
              </a:rPr>
              <a:t>catalogs</a:t>
            </a:r>
            <a:r>
              <a:rPr sz="1500" spc="420" dirty="0">
                <a:solidFill>
                  <a:srgbClr val="333333"/>
                </a:solidFill>
                <a:latin typeface="Calibri"/>
                <a:cs typeface="Calibri"/>
              </a:rPr>
              <a:t> </a:t>
            </a:r>
            <a:r>
              <a:rPr sz="1500" dirty="0">
                <a:solidFill>
                  <a:srgbClr val="333333"/>
                </a:solidFill>
                <a:latin typeface="Calibri"/>
                <a:cs typeface="Calibri"/>
              </a:rPr>
              <a:t>to</a:t>
            </a:r>
            <a:r>
              <a:rPr sz="1500" spc="440" dirty="0">
                <a:solidFill>
                  <a:srgbClr val="333333"/>
                </a:solidFill>
                <a:latin typeface="Calibri"/>
                <a:cs typeface="Calibri"/>
              </a:rPr>
              <a:t> </a:t>
            </a:r>
            <a:r>
              <a:rPr sz="1500" dirty="0">
                <a:solidFill>
                  <a:srgbClr val="333333"/>
                </a:solidFill>
                <a:latin typeface="Calibri"/>
                <a:cs typeface="Calibri"/>
              </a:rPr>
              <a:t>sophisticated</a:t>
            </a:r>
            <a:r>
              <a:rPr sz="1500" spc="440" dirty="0">
                <a:solidFill>
                  <a:srgbClr val="333333"/>
                </a:solidFill>
                <a:latin typeface="Calibri"/>
                <a:cs typeface="Calibri"/>
              </a:rPr>
              <a:t> </a:t>
            </a:r>
            <a:r>
              <a:rPr sz="1500" dirty="0">
                <a:solidFill>
                  <a:srgbClr val="333333"/>
                </a:solidFill>
                <a:latin typeface="Calibri"/>
                <a:cs typeface="Calibri"/>
              </a:rPr>
              <a:t>systems</a:t>
            </a:r>
            <a:r>
              <a:rPr sz="1500" spc="415" dirty="0">
                <a:solidFill>
                  <a:srgbClr val="333333"/>
                </a:solidFill>
                <a:latin typeface="Calibri"/>
                <a:cs typeface="Calibri"/>
              </a:rPr>
              <a:t> </a:t>
            </a:r>
            <a:r>
              <a:rPr sz="1500" dirty="0">
                <a:solidFill>
                  <a:srgbClr val="333333"/>
                </a:solidFill>
                <a:latin typeface="Calibri"/>
                <a:cs typeface="Calibri"/>
              </a:rPr>
              <a:t>integrating</a:t>
            </a:r>
            <a:r>
              <a:rPr sz="1500" spc="370" dirty="0">
                <a:solidFill>
                  <a:srgbClr val="333333"/>
                </a:solidFill>
                <a:latin typeface="Calibri"/>
                <a:cs typeface="Calibri"/>
              </a:rPr>
              <a:t> </a:t>
            </a:r>
            <a:r>
              <a:rPr sz="1500" spc="-10" dirty="0">
                <a:solidFill>
                  <a:srgbClr val="333333"/>
                </a:solidFill>
                <a:latin typeface="Calibri"/>
                <a:cs typeface="Calibri"/>
              </a:rPr>
              <a:t>payment </a:t>
            </a:r>
            <a:r>
              <a:rPr sz="1500" dirty="0">
                <a:solidFill>
                  <a:srgbClr val="333333"/>
                </a:solidFill>
                <a:latin typeface="Calibri"/>
                <a:cs typeface="Calibri"/>
              </a:rPr>
              <a:t>processing,</a:t>
            </a:r>
            <a:r>
              <a:rPr sz="1500" spc="445" dirty="0">
                <a:solidFill>
                  <a:srgbClr val="333333"/>
                </a:solidFill>
                <a:latin typeface="Calibri"/>
                <a:cs typeface="Calibri"/>
              </a:rPr>
              <a:t>  </a:t>
            </a:r>
            <a:r>
              <a:rPr sz="1500" dirty="0">
                <a:solidFill>
                  <a:srgbClr val="333333"/>
                </a:solidFill>
                <a:latin typeface="Calibri"/>
                <a:cs typeface="Calibri"/>
              </a:rPr>
              <a:t>inventory</a:t>
            </a:r>
            <a:r>
              <a:rPr sz="1500" spc="440" dirty="0">
                <a:solidFill>
                  <a:srgbClr val="333333"/>
                </a:solidFill>
                <a:latin typeface="Calibri"/>
                <a:cs typeface="Calibri"/>
              </a:rPr>
              <a:t>  </a:t>
            </a:r>
            <a:r>
              <a:rPr sz="1500" dirty="0">
                <a:solidFill>
                  <a:srgbClr val="333333"/>
                </a:solidFill>
                <a:latin typeface="Calibri"/>
                <a:cs typeface="Calibri"/>
              </a:rPr>
              <a:t>management,</a:t>
            </a:r>
            <a:r>
              <a:rPr sz="1500" spc="450" dirty="0">
                <a:solidFill>
                  <a:srgbClr val="333333"/>
                </a:solidFill>
                <a:latin typeface="Calibri"/>
                <a:cs typeface="Calibri"/>
              </a:rPr>
              <a:t>  </a:t>
            </a:r>
            <a:r>
              <a:rPr sz="1500" dirty="0">
                <a:solidFill>
                  <a:srgbClr val="333333"/>
                </a:solidFill>
                <a:latin typeface="Calibri"/>
                <a:cs typeface="Calibri"/>
              </a:rPr>
              <a:t>and</a:t>
            </a:r>
            <a:r>
              <a:rPr sz="1500" spc="465" dirty="0">
                <a:solidFill>
                  <a:srgbClr val="333333"/>
                </a:solidFill>
                <a:latin typeface="Calibri"/>
                <a:cs typeface="Calibri"/>
              </a:rPr>
              <a:t>  </a:t>
            </a:r>
            <a:r>
              <a:rPr sz="1500" dirty="0">
                <a:solidFill>
                  <a:srgbClr val="333333"/>
                </a:solidFill>
                <a:latin typeface="Calibri"/>
                <a:cs typeface="Calibri"/>
              </a:rPr>
              <a:t>customer</a:t>
            </a:r>
            <a:r>
              <a:rPr sz="1500" spc="450" dirty="0">
                <a:solidFill>
                  <a:srgbClr val="333333"/>
                </a:solidFill>
                <a:latin typeface="Calibri"/>
                <a:cs typeface="Calibri"/>
              </a:rPr>
              <a:t>  </a:t>
            </a:r>
            <a:r>
              <a:rPr sz="1500" spc="-10" dirty="0">
                <a:solidFill>
                  <a:srgbClr val="333333"/>
                </a:solidFill>
                <a:latin typeface="Calibri"/>
                <a:cs typeface="Calibri"/>
              </a:rPr>
              <a:t>relationship </a:t>
            </a:r>
            <a:r>
              <a:rPr sz="1500" dirty="0">
                <a:solidFill>
                  <a:srgbClr val="333333"/>
                </a:solidFill>
                <a:latin typeface="Calibri"/>
                <a:cs typeface="Calibri"/>
              </a:rPr>
              <a:t>management.</a:t>
            </a:r>
            <a:r>
              <a:rPr sz="1500" spc="200" dirty="0">
                <a:solidFill>
                  <a:srgbClr val="333333"/>
                </a:solidFill>
                <a:latin typeface="Calibri"/>
                <a:cs typeface="Calibri"/>
              </a:rPr>
              <a:t> </a:t>
            </a:r>
            <a:r>
              <a:rPr sz="1500" dirty="0">
                <a:solidFill>
                  <a:srgbClr val="333333"/>
                </a:solidFill>
                <a:latin typeface="Calibri"/>
                <a:cs typeface="Calibri"/>
              </a:rPr>
              <a:t>Modern</a:t>
            </a:r>
            <a:r>
              <a:rPr sz="1500" spc="235" dirty="0">
                <a:solidFill>
                  <a:srgbClr val="333333"/>
                </a:solidFill>
                <a:latin typeface="Calibri"/>
                <a:cs typeface="Calibri"/>
              </a:rPr>
              <a:t> </a:t>
            </a:r>
            <a:r>
              <a:rPr sz="1500" dirty="0">
                <a:solidFill>
                  <a:srgbClr val="333333"/>
                </a:solidFill>
                <a:latin typeface="Calibri"/>
                <a:cs typeface="Calibri"/>
              </a:rPr>
              <a:t>platforms</a:t>
            </a:r>
            <a:r>
              <a:rPr sz="1500" spc="215" dirty="0">
                <a:solidFill>
                  <a:srgbClr val="333333"/>
                </a:solidFill>
                <a:latin typeface="Calibri"/>
                <a:cs typeface="Calibri"/>
              </a:rPr>
              <a:t> </a:t>
            </a:r>
            <a:r>
              <a:rPr sz="1500" dirty="0">
                <a:solidFill>
                  <a:srgbClr val="333333"/>
                </a:solidFill>
                <a:latin typeface="Calibri"/>
                <a:cs typeface="Calibri"/>
              </a:rPr>
              <a:t>require</a:t>
            </a:r>
            <a:r>
              <a:rPr sz="1500" spc="204" dirty="0">
                <a:solidFill>
                  <a:srgbClr val="333333"/>
                </a:solidFill>
                <a:latin typeface="Calibri"/>
                <a:cs typeface="Calibri"/>
              </a:rPr>
              <a:t> </a:t>
            </a:r>
            <a:r>
              <a:rPr sz="1500" dirty="0">
                <a:solidFill>
                  <a:srgbClr val="333333"/>
                </a:solidFill>
                <a:latin typeface="Calibri"/>
                <a:cs typeface="Calibri"/>
              </a:rPr>
              <a:t>scalability,</a:t>
            </a:r>
            <a:r>
              <a:rPr sz="1500" spc="204" dirty="0">
                <a:solidFill>
                  <a:srgbClr val="333333"/>
                </a:solidFill>
                <a:latin typeface="Calibri"/>
                <a:cs typeface="Calibri"/>
              </a:rPr>
              <a:t> </a:t>
            </a:r>
            <a:r>
              <a:rPr sz="1500" dirty="0">
                <a:solidFill>
                  <a:srgbClr val="333333"/>
                </a:solidFill>
                <a:latin typeface="Calibri"/>
                <a:cs typeface="Calibri"/>
              </a:rPr>
              <a:t>security,</a:t>
            </a:r>
            <a:r>
              <a:rPr sz="1500" spc="210" dirty="0">
                <a:solidFill>
                  <a:srgbClr val="333333"/>
                </a:solidFill>
                <a:latin typeface="Calibri"/>
                <a:cs typeface="Calibri"/>
              </a:rPr>
              <a:t> </a:t>
            </a:r>
            <a:r>
              <a:rPr sz="1500" dirty="0">
                <a:solidFill>
                  <a:srgbClr val="333333"/>
                </a:solidFill>
                <a:latin typeface="Calibri"/>
                <a:cs typeface="Calibri"/>
              </a:rPr>
              <a:t>and</a:t>
            </a:r>
            <a:r>
              <a:rPr sz="1500" spc="235" dirty="0">
                <a:solidFill>
                  <a:srgbClr val="333333"/>
                </a:solidFill>
                <a:latin typeface="Calibri"/>
                <a:cs typeface="Calibri"/>
              </a:rPr>
              <a:t> </a:t>
            </a:r>
            <a:r>
              <a:rPr sz="1500" spc="-10" dirty="0">
                <a:solidFill>
                  <a:srgbClr val="333333"/>
                </a:solidFill>
                <a:latin typeface="Calibri"/>
                <a:cs typeface="Calibri"/>
              </a:rPr>
              <a:t>user- </a:t>
            </a:r>
            <a:r>
              <a:rPr sz="1500" dirty="0">
                <a:solidFill>
                  <a:srgbClr val="333333"/>
                </a:solidFill>
                <a:latin typeface="Calibri"/>
                <a:cs typeface="Calibri"/>
              </a:rPr>
              <a:t>friendly</a:t>
            </a:r>
            <a:r>
              <a:rPr sz="1500" spc="110" dirty="0">
                <a:solidFill>
                  <a:srgbClr val="333333"/>
                </a:solidFill>
                <a:latin typeface="Calibri"/>
                <a:cs typeface="Calibri"/>
              </a:rPr>
              <a:t> </a:t>
            </a:r>
            <a:r>
              <a:rPr sz="1500" spc="-10" dirty="0">
                <a:solidFill>
                  <a:srgbClr val="333333"/>
                </a:solidFill>
                <a:latin typeface="Calibri"/>
                <a:cs typeface="Calibri"/>
              </a:rPr>
              <a:t>interfaces.</a:t>
            </a:r>
            <a:endParaRPr sz="1500">
              <a:latin typeface="Calibri"/>
              <a:cs typeface="Calibri"/>
            </a:endParaRPr>
          </a:p>
          <a:p>
            <a:pPr marL="12700" marR="6350" algn="just">
              <a:lnSpc>
                <a:spcPct val="150000"/>
              </a:lnSpc>
              <a:spcBef>
                <a:spcPts val="1500"/>
              </a:spcBef>
            </a:pPr>
            <a:r>
              <a:rPr sz="1500" b="1" dirty="0">
                <a:solidFill>
                  <a:srgbClr val="333333"/>
                </a:solidFill>
                <a:latin typeface="Calibri"/>
                <a:cs typeface="Calibri"/>
              </a:rPr>
              <a:t>MERN</a:t>
            </a:r>
            <a:r>
              <a:rPr sz="1500" b="1" spc="365" dirty="0">
                <a:solidFill>
                  <a:srgbClr val="333333"/>
                </a:solidFill>
                <a:latin typeface="Calibri"/>
                <a:cs typeface="Calibri"/>
              </a:rPr>
              <a:t> </a:t>
            </a:r>
            <a:r>
              <a:rPr sz="1500" b="1" dirty="0">
                <a:solidFill>
                  <a:srgbClr val="333333"/>
                </a:solidFill>
                <a:latin typeface="Calibri"/>
                <a:cs typeface="Calibri"/>
              </a:rPr>
              <a:t>Stack</a:t>
            </a:r>
            <a:r>
              <a:rPr sz="1500" b="1" spc="405" dirty="0">
                <a:solidFill>
                  <a:srgbClr val="333333"/>
                </a:solidFill>
                <a:latin typeface="Calibri"/>
                <a:cs typeface="Calibri"/>
              </a:rPr>
              <a:t> </a:t>
            </a:r>
            <a:r>
              <a:rPr sz="1500" b="1" dirty="0">
                <a:solidFill>
                  <a:srgbClr val="333333"/>
                </a:solidFill>
                <a:latin typeface="Calibri"/>
                <a:cs typeface="Calibri"/>
              </a:rPr>
              <a:t>Architecture:</a:t>
            </a:r>
            <a:r>
              <a:rPr sz="1500" b="1" spc="415" dirty="0">
                <a:solidFill>
                  <a:srgbClr val="333333"/>
                </a:solidFill>
                <a:latin typeface="Calibri"/>
                <a:cs typeface="Calibri"/>
              </a:rPr>
              <a:t> </a:t>
            </a:r>
            <a:r>
              <a:rPr sz="1500" dirty="0">
                <a:solidFill>
                  <a:srgbClr val="333333"/>
                </a:solidFill>
                <a:latin typeface="Calibri"/>
                <a:cs typeface="Calibri"/>
              </a:rPr>
              <a:t>The</a:t>
            </a:r>
            <a:r>
              <a:rPr sz="1500" spc="380" dirty="0">
                <a:solidFill>
                  <a:srgbClr val="333333"/>
                </a:solidFill>
                <a:latin typeface="Calibri"/>
                <a:cs typeface="Calibri"/>
              </a:rPr>
              <a:t> </a:t>
            </a:r>
            <a:r>
              <a:rPr sz="1500" dirty="0">
                <a:solidFill>
                  <a:srgbClr val="333333"/>
                </a:solidFill>
                <a:latin typeface="Calibri"/>
                <a:cs typeface="Calibri"/>
              </a:rPr>
              <a:t>MERN</a:t>
            </a:r>
            <a:r>
              <a:rPr sz="1500" spc="385" dirty="0">
                <a:solidFill>
                  <a:srgbClr val="333333"/>
                </a:solidFill>
                <a:latin typeface="Calibri"/>
                <a:cs typeface="Calibri"/>
              </a:rPr>
              <a:t> </a:t>
            </a:r>
            <a:r>
              <a:rPr sz="1500" dirty="0">
                <a:solidFill>
                  <a:srgbClr val="333333"/>
                </a:solidFill>
                <a:latin typeface="Calibri"/>
                <a:cs typeface="Calibri"/>
              </a:rPr>
              <a:t>stack</a:t>
            </a:r>
            <a:r>
              <a:rPr sz="1500" spc="370" dirty="0">
                <a:solidFill>
                  <a:srgbClr val="333333"/>
                </a:solidFill>
                <a:latin typeface="Calibri"/>
                <a:cs typeface="Calibri"/>
              </a:rPr>
              <a:t> </a:t>
            </a:r>
            <a:r>
              <a:rPr sz="1500" dirty="0">
                <a:solidFill>
                  <a:srgbClr val="333333"/>
                </a:solidFill>
                <a:latin typeface="Calibri"/>
                <a:cs typeface="Calibri"/>
              </a:rPr>
              <a:t>has</a:t>
            </a:r>
            <a:r>
              <a:rPr sz="1500" spc="390" dirty="0">
                <a:solidFill>
                  <a:srgbClr val="333333"/>
                </a:solidFill>
                <a:latin typeface="Calibri"/>
                <a:cs typeface="Calibri"/>
              </a:rPr>
              <a:t> </a:t>
            </a:r>
            <a:r>
              <a:rPr sz="1500" dirty="0">
                <a:solidFill>
                  <a:srgbClr val="333333"/>
                </a:solidFill>
                <a:latin typeface="Calibri"/>
                <a:cs typeface="Calibri"/>
              </a:rPr>
              <a:t>become</a:t>
            </a:r>
            <a:r>
              <a:rPr sz="1500" spc="385" dirty="0">
                <a:solidFill>
                  <a:srgbClr val="333333"/>
                </a:solidFill>
                <a:latin typeface="Calibri"/>
                <a:cs typeface="Calibri"/>
              </a:rPr>
              <a:t> </a:t>
            </a:r>
            <a:r>
              <a:rPr sz="1500" dirty="0">
                <a:solidFill>
                  <a:srgbClr val="333333"/>
                </a:solidFill>
                <a:latin typeface="Calibri"/>
                <a:cs typeface="Calibri"/>
              </a:rPr>
              <a:t>popular</a:t>
            </a:r>
            <a:r>
              <a:rPr sz="1500" spc="380" dirty="0">
                <a:solidFill>
                  <a:srgbClr val="333333"/>
                </a:solidFill>
                <a:latin typeface="Calibri"/>
                <a:cs typeface="Calibri"/>
              </a:rPr>
              <a:t> </a:t>
            </a:r>
            <a:r>
              <a:rPr sz="1500" spc="-25" dirty="0">
                <a:solidFill>
                  <a:srgbClr val="333333"/>
                </a:solidFill>
                <a:latin typeface="Calibri"/>
                <a:cs typeface="Calibri"/>
              </a:rPr>
              <a:t>for </a:t>
            </a:r>
            <a:r>
              <a:rPr sz="1500" dirty="0">
                <a:solidFill>
                  <a:srgbClr val="333333"/>
                </a:solidFill>
                <a:latin typeface="Calibri"/>
                <a:cs typeface="Calibri"/>
              </a:rPr>
              <a:t>building</a:t>
            </a:r>
            <a:r>
              <a:rPr sz="1500" spc="285" dirty="0">
                <a:solidFill>
                  <a:srgbClr val="333333"/>
                </a:solidFill>
                <a:latin typeface="Calibri"/>
                <a:cs typeface="Calibri"/>
              </a:rPr>
              <a:t>  </a:t>
            </a:r>
            <a:r>
              <a:rPr sz="1500" dirty="0">
                <a:solidFill>
                  <a:srgbClr val="333333"/>
                </a:solidFill>
                <a:latin typeface="Calibri"/>
                <a:cs typeface="Calibri"/>
              </a:rPr>
              <a:t>full-stack</a:t>
            </a:r>
            <a:r>
              <a:rPr sz="1500" spc="300" dirty="0">
                <a:solidFill>
                  <a:srgbClr val="333333"/>
                </a:solidFill>
                <a:latin typeface="Calibri"/>
                <a:cs typeface="Calibri"/>
              </a:rPr>
              <a:t>  </a:t>
            </a:r>
            <a:r>
              <a:rPr sz="1500" dirty="0">
                <a:solidFill>
                  <a:srgbClr val="333333"/>
                </a:solidFill>
                <a:latin typeface="Calibri"/>
                <a:cs typeface="Calibri"/>
              </a:rPr>
              <a:t>web</a:t>
            </a:r>
            <a:r>
              <a:rPr sz="1500" spc="320" dirty="0">
                <a:solidFill>
                  <a:srgbClr val="333333"/>
                </a:solidFill>
                <a:latin typeface="Calibri"/>
                <a:cs typeface="Calibri"/>
              </a:rPr>
              <a:t>  </a:t>
            </a:r>
            <a:r>
              <a:rPr sz="1500" dirty="0">
                <a:solidFill>
                  <a:srgbClr val="333333"/>
                </a:solidFill>
                <a:latin typeface="Calibri"/>
                <a:cs typeface="Calibri"/>
              </a:rPr>
              <a:t>applications</a:t>
            </a:r>
            <a:r>
              <a:rPr sz="1500" spc="310" dirty="0">
                <a:solidFill>
                  <a:srgbClr val="333333"/>
                </a:solidFill>
                <a:latin typeface="Calibri"/>
                <a:cs typeface="Calibri"/>
              </a:rPr>
              <a:t>  </a:t>
            </a:r>
            <a:r>
              <a:rPr sz="1500" dirty="0">
                <a:solidFill>
                  <a:srgbClr val="333333"/>
                </a:solidFill>
                <a:latin typeface="Calibri"/>
                <a:cs typeface="Calibri"/>
              </a:rPr>
              <a:t>due</a:t>
            </a:r>
            <a:r>
              <a:rPr sz="1500" spc="305" dirty="0">
                <a:solidFill>
                  <a:srgbClr val="333333"/>
                </a:solidFill>
                <a:latin typeface="Calibri"/>
                <a:cs typeface="Calibri"/>
              </a:rPr>
              <a:t>  </a:t>
            </a:r>
            <a:r>
              <a:rPr sz="1500" dirty="0">
                <a:solidFill>
                  <a:srgbClr val="333333"/>
                </a:solidFill>
                <a:latin typeface="Calibri"/>
                <a:cs typeface="Calibri"/>
              </a:rPr>
              <a:t>to</a:t>
            </a:r>
            <a:r>
              <a:rPr sz="1500" spc="320" dirty="0">
                <a:solidFill>
                  <a:srgbClr val="333333"/>
                </a:solidFill>
                <a:latin typeface="Calibri"/>
                <a:cs typeface="Calibri"/>
              </a:rPr>
              <a:t>  </a:t>
            </a:r>
            <a:r>
              <a:rPr sz="1500" dirty="0">
                <a:solidFill>
                  <a:srgbClr val="333333"/>
                </a:solidFill>
                <a:latin typeface="Calibri"/>
                <a:cs typeface="Calibri"/>
              </a:rPr>
              <a:t>its</a:t>
            </a:r>
            <a:r>
              <a:rPr sz="1500" spc="305" dirty="0">
                <a:solidFill>
                  <a:srgbClr val="333333"/>
                </a:solidFill>
                <a:latin typeface="Calibri"/>
                <a:cs typeface="Calibri"/>
              </a:rPr>
              <a:t>  </a:t>
            </a:r>
            <a:r>
              <a:rPr sz="1500" spc="-10" dirty="0">
                <a:solidFill>
                  <a:srgbClr val="333333"/>
                </a:solidFill>
                <a:latin typeface="Calibri"/>
                <a:cs typeface="Calibri"/>
              </a:rPr>
              <a:t>JavaScript-based </a:t>
            </a:r>
            <a:r>
              <a:rPr sz="1500" dirty="0">
                <a:solidFill>
                  <a:srgbClr val="333333"/>
                </a:solidFill>
                <a:latin typeface="Calibri"/>
                <a:cs typeface="Calibri"/>
              </a:rPr>
              <a:t>ecosystem.</a:t>
            </a:r>
            <a:r>
              <a:rPr sz="1500" spc="340" dirty="0">
                <a:solidFill>
                  <a:srgbClr val="333333"/>
                </a:solidFill>
                <a:latin typeface="Calibri"/>
                <a:cs typeface="Calibri"/>
              </a:rPr>
              <a:t>  </a:t>
            </a:r>
            <a:r>
              <a:rPr sz="1500" dirty="0">
                <a:solidFill>
                  <a:srgbClr val="333333"/>
                </a:solidFill>
                <a:latin typeface="Calibri"/>
                <a:cs typeface="Calibri"/>
              </a:rPr>
              <a:t>MongoDB</a:t>
            </a:r>
            <a:r>
              <a:rPr sz="1500" spc="345" dirty="0">
                <a:solidFill>
                  <a:srgbClr val="333333"/>
                </a:solidFill>
                <a:latin typeface="Calibri"/>
                <a:cs typeface="Calibri"/>
              </a:rPr>
              <a:t>  </a:t>
            </a:r>
            <a:r>
              <a:rPr sz="1500" dirty="0">
                <a:solidFill>
                  <a:srgbClr val="333333"/>
                </a:solidFill>
                <a:latin typeface="Calibri"/>
                <a:cs typeface="Calibri"/>
              </a:rPr>
              <a:t>provides</a:t>
            </a:r>
            <a:r>
              <a:rPr sz="1500" spc="350" dirty="0">
                <a:solidFill>
                  <a:srgbClr val="333333"/>
                </a:solidFill>
                <a:latin typeface="Calibri"/>
                <a:cs typeface="Calibri"/>
              </a:rPr>
              <a:t>  </a:t>
            </a:r>
            <a:r>
              <a:rPr sz="1500" dirty="0">
                <a:solidFill>
                  <a:srgbClr val="333333"/>
                </a:solidFill>
                <a:latin typeface="Calibri"/>
                <a:cs typeface="Calibri"/>
              </a:rPr>
              <a:t>flexible</a:t>
            </a:r>
            <a:r>
              <a:rPr sz="1500" spc="350" dirty="0">
                <a:solidFill>
                  <a:srgbClr val="333333"/>
                </a:solidFill>
                <a:latin typeface="Calibri"/>
                <a:cs typeface="Calibri"/>
              </a:rPr>
              <a:t>  </a:t>
            </a:r>
            <a:r>
              <a:rPr sz="1500" dirty="0">
                <a:solidFill>
                  <a:srgbClr val="333333"/>
                </a:solidFill>
                <a:latin typeface="Calibri"/>
                <a:cs typeface="Calibri"/>
              </a:rPr>
              <a:t>data</a:t>
            </a:r>
            <a:r>
              <a:rPr sz="1500" spc="360" dirty="0">
                <a:solidFill>
                  <a:srgbClr val="333333"/>
                </a:solidFill>
                <a:latin typeface="Calibri"/>
                <a:cs typeface="Calibri"/>
              </a:rPr>
              <a:t>  </a:t>
            </a:r>
            <a:r>
              <a:rPr sz="1500" dirty="0">
                <a:solidFill>
                  <a:srgbClr val="333333"/>
                </a:solidFill>
                <a:latin typeface="Calibri"/>
                <a:cs typeface="Calibri"/>
              </a:rPr>
              <a:t>storage,</a:t>
            </a:r>
            <a:r>
              <a:rPr sz="1500" spc="345" dirty="0">
                <a:solidFill>
                  <a:srgbClr val="333333"/>
                </a:solidFill>
                <a:latin typeface="Calibri"/>
                <a:cs typeface="Calibri"/>
              </a:rPr>
              <a:t>  </a:t>
            </a:r>
            <a:r>
              <a:rPr sz="1500" spc="-10" dirty="0">
                <a:solidFill>
                  <a:srgbClr val="333333"/>
                </a:solidFill>
                <a:latin typeface="Calibri"/>
                <a:cs typeface="Calibri"/>
              </a:rPr>
              <a:t>Express.js </a:t>
            </a:r>
            <a:r>
              <a:rPr sz="1500" dirty="0">
                <a:solidFill>
                  <a:srgbClr val="333333"/>
                </a:solidFill>
                <a:latin typeface="Calibri"/>
                <a:cs typeface="Calibri"/>
              </a:rPr>
              <a:t>simplifies</a:t>
            </a:r>
            <a:r>
              <a:rPr sz="1500" spc="310" dirty="0">
                <a:solidFill>
                  <a:srgbClr val="333333"/>
                </a:solidFill>
                <a:latin typeface="Calibri"/>
                <a:cs typeface="Calibri"/>
              </a:rPr>
              <a:t>  </a:t>
            </a:r>
            <a:r>
              <a:rPr sz="1500" spc="-25" dirty="0">
                <a:solidFill>
                  <a:srgbClr val="333333"/>
                </a:solidFill>
                <a:latin typeface="Calibri"/>
                <a:cs typeface="Calibri"/>
              </a:rPr>
              <a:t>server-</a:t>
            </a:r>
            <a:r>
              <a:rPr sz="1500" dirty="0">
                <a:solidFill>
                  <a:srgbClr val="333333"/>
                </a:solidFill>
                <a:latin typeface="Calibri"/>
                <a:cs typeface="Calibri"/>
              </a:rPr>
              <a:t>side</a:t>
            </a:r>
            <a:r>
              <a:rPr sz="1500" spc="310" dirty="0">
                <a:solidFill>
                  <a:srgbClr val="333333"/>
                </a:solidFill>
                <a:latin typeface="Calibri"/>
                <a:cs typeface="Calibri"/>
              </a:rPr>
              <a:t>  </a:t>
            </a:r>
            <a:r>
              <a:rPr sz="1500" dirty="0">
                <a:solidFill>
                  <a:srgbClr val="333333"/>
                </a:solidFill>
                <a:latin typeface="Calibri"/>
                <a:cs typeface="Calibri"/>
              </a:rPr>
              <a:t>development,</a:t>
            </a:r>
            <a:r>
              <a:rPr sz="1500" spc="305" dirty="0">
                <a:solidFill>
                  <a:srgbClr val="333333"/>
                </a:solidFill>
                <a:latin typeface="Calibri"/>
                <a:cs typeface="Calibri"/>
              </a:rPr>
              <a:t>  </a:t>
            </a:r>
            <a:r>
              <a:rPr sz="1500" dirty="0">
                <a:solidFill>
                  <a:srgbClr val="333333"/>
                </a:solidFill>
                <a:latin typeface="Calibri"/>
                <a:cs typeface="Calibri"/>
              </a:rPr>
              <a:t>React</a:t>
            </a:r>
            <a:r>
              <a:rPr sz="1500" spc="320" dirty="0">
                <a:solidFill>
                  <a:srgbClr val="333333"/>
                </a:solidFill>
                <a:latin typeface="Calibri"/>
                <a:cs typeface="Calibri"/>
              </a:rPr>
              <a:t>  </a:t>
            </a:r>
            <a:r>
              <a:rPr sz="1500" dirty="0">
                <a:solidFill>
                  <a:srgbClr val="333333"/>
                </a:solidFill>
                <a:latin typeface="Calibri"/>
                <a:cs typeface="Calibri"/>
              </a:rPr>
              <a:t>enables</a:t>
            </a:r>
            <a:r>
              <a:rPr sz="1500" spc="315" dirty="0">
                <a:solidFill>
                  <a:srgbClr val="333333"/>
                </a:solidFill>
                <a:latin typeface="Calibri"/>
                <a:cs typeface="Calibri"/>
              </a:rPr>
              <a:t>  </a:t>
            </a:r>
            <a:r>
              <a:rPr sz="1500" dirty="0">
                <a:solidFill>
                  <a:srgbClr val="333333"/>
                </a:solidFill>
                <a:latin typeface="Calibri"/>
                <a:cs typeface="Calibri"/>
              </a:rPr>
              <a:t>dynamic</a:t>
            </a:r>
            <a:r>
              <a:rPr sz="1500" spc="290" dirty="0">
                <a:solidFill>
                  <a:srgbClr val="333333"/>
                </a:solidFill>
                <a:latin typeface="Calibri"/>
                <a:cs typeface="Calibri"/>
              </a:rPr>
              <a:t>  </a:t>
            </a:r>
            <a:r>
              <a:rPr sz="1500" spc="-20" dirty="0">
                <a:solidFill>
                  <a:srgbClr val="333333"/>
                </a:solidFill>
                <a:latin typeface="Calibri"/>
                <a:cs typeface="Calibri"/>
              </a:rPr>
              <a:t>user </a:t>
            </a:r>
            <a:r>
              <a:rPr sz="1500" dirty="0">
                <a:solidFill>
                  <a:srgbClr val="333333"/>
                </a:solidFill>
                <a:latin typeface="Calibri"/>
                <a:cs typeface="Calibri"/>
              </a:rPr>
              <a:t>interfaces,</a:t>
            </a:r>
            <a:r>
              <a:rPr sz="1500" spc="60" dirty="0">
                <a:solidFill>
                  <a:srgbClr val="333333"/>
                </a:solidFill>
                <a:latin typeface="Calibri"/>
                <a:cs typeface="Calibri"/>
              </a:rPr>
              <a:t> </a:t>
            </a:r>
            <a:r>
              <a:rPr sz="1500" dirty="0">
                <a:solidFill>
                  <a:srgbClr val="333333"/>
                </a:solidFill>
                <a:latin typeface="Calibri"/>
                <a:cs typeface="Calibri"/>
              </a:rPr>
              <a:t>and</a:t>
            </a:r>
            <a:r>
              <a:rPr sz="1500" spc="100" dirty="0">
                <a:solidFill>
                  <a:srgbClr val="333333"/>
                </a:solidFill>
                <a:latin typeface="Calibri"/>
                <a:cs typeface="Calibri"/>
              </a:rPr>
              <a:t> </a:t>
            </a:r>
            <a:r>
              <a:rPr sz="1500" dirty="0">
                <a:solidFill>
                  <a:srgbClr val="333333"/>
                </a:solidFill>
                <a:latin typeface="Calibri"/>
                <a:cs typeface="Calibri"/>
              </a:rPr>
              <a:t>Node.js</a:t>
            </a:r>
            <a:r>
              <a:rPr sz="1500" spc="70" dirty="0">
                <a:solidFill>
                  <a:srgbClr val="333333"/>
                </a:solidFill>
                <a:latin typeface="Calibri"/>
                <a:cs typeface="Calibri"/>
              </a:rPr>
              <a:t> </a:t>
            </a:r>
            <a:r>
              <a:rPr sz="1500" dirty="0">
                <a:solidFill>
                  <a:srgbClr val="333333"/>
                </a:solidFill>
                <a:latin typeface="Calibri"/>
                <a:cs typeface="Calibri"/>
              </a:rPr>
              <a:t>offers</a:t>
            </a:r>
            <a:r>
              <a:rPr sz="1500" spc="75" dirty="0">
                <a:solidFill>
                  <a:srgbClr val="333333"/>
                </a:solidFill>
                <a:latin typeface="Calibri"/>
                <a:cs typeface="Calibri"/>
              </a:rPr>
              <a:t> </a:t>
            </a:r>
            <a:r>
              <a:rPr sz="1500" dirty="0">
                <a:solidFill>
                  <a:srgbClr val="333333"/>
                </a:solidFill>
                <a:latin typeface="Calibri"/>
                <a:cs typeface="Calibri"/>
              </a:rPr>
              <a:t>efficient</a:t>
            </a:r>
            <a:r>
              <a:rPr sz="1500" spc="85" dirty="0">
                <a:solidFill>
                  <a:srgbClr val="333333"/>
                </a:solidFill>
                <a:latin typeface="Calibri"/>
                <a:cs typeface="Calibri"/>
              </a:rPr>
              <a:t> </a:t>
            </a:r>
            <a:r>
              <a:rPr sz="1500" spc="-25" dirty="0">
                <a:solidFill>
                  <a:srgbClr val="333333"/>
                </a:solidFill>
                <a:latin typeface="Calibri"/>
                <a:cs typeface="Calibri"/>
              </a:rPr>
              <a:t>server-</a:t>
            </a:r>
            <a:r>
              <a:rPr sz="1500" dirty="0">
                <a:solidFill>
                  <a:srgbClr val="333333"/>
                </a:solidFill>
                <a:latin typeface="Calibri"/>
                <a:cs typeface="Calibri"/>
              </a:rPr>
              <a:t>side</a:t>
            </a:r>
            <a:r>
              <a:rPr sz="1500" spc="60" dirty="0">
                <a:solidFill>
                  <a:srgbClr val="333333"/>
                </a:solidFill>
                <a:latin typeface="Calibri"/>
                <a:cs typeface="Calibri"/>
              </a:rPr>
              <a:t> </a:t>
            </a:r>
            <a:r>
              <a:rPr sz="1500" spc="-10" dirty="0">
                <a:solidFill>
                  <a:srgbClr val="333333"/>
                </a:solidFill>
                <a:latin typeface="Calibri"/>
                <a:cs typeface="Calibri"/>
              </a:rPr>
              <a:t>execution.</a:t>
            </a:r>
            <a:endParaRPr sz="1500">
              <a:latin typeface="Calibri"/>
              <a:cs typeface="Calibri"/>
            </a:endParaRPr>
          </a:p>
          <a:p>
            <a:pPr marL="12700" marR="5080" algn="just">
              <a:lnSpc>
                <a:spcPct val="150000"/>
              </a:lnSpc>
              <a:spcBef>
                <a:spcPts val="1500"/>
              </a:spcBef>
            </a:pPr>
            <a:r>
              <a:rPr sz="1500" b="1" dirty="0">
                <a:solidFill>
                  <a:srgbClr val="333333"/>
                </a:solidFill>
                <a:latin typeface="Calibri"/>
                <a:cs typeface="Calibri"/>
              </a:rPr>
              <a:t>Dropshipping</a:t>
            </a:r>
            <a:r>
              <a:rPr sz="1500" b="1" spc="250" dirty="0">
                <a:solidFill>
                  <a:srgbClr val="333333"/>
                </a:solidFill>
                <a:latin typeface="Calibri"/>
                <a:cs typeface="Calibri"/>
              </a:rPr>
              <a:t> </a:t>
            </a:r>
            <a:r>
              <a:rPr sz="1500" b="1" dirty="0">
                <a:solidFill>
                  <a:srgbClr val="333333"/>
                </a:solidFill>
                <a:latin typeface="Calibri"/>
                <a:cs typeface="Calibri"/>
              </a:rPr>
              <a:t>Model:</a:t>
            </a:r>
            <a:r>
              <a:rPr sz="1500" b="1" spc="335" dirty="0">
                <a:solidFill>
                  <a:srgbClr val="333333"/>
                </a:solidFill>
                <a:latin typeface="Calibri"/>
                <a:cs typeface="Calibri"/>
              </a:rPr>
              <a:t> </a:t>
            </a:r>
            <a:r>
              <a:rPr sz="1500" dirty="0">
                <a:solidFill>
                  <a:srgbClr val="333333"/>
                </a:solidFill>
                <a:latin typeface="Calibri"/>
                <a:cs typeface="Calibri"/>
              </a:rPr>
              <a:t>Dropshipping</a:t>
            </a:r>
            <a:r>
              <a:rPr sz="1500" spc="254" dirty="0">
                <a:solidFill>
                  <a:srgbClr val="333333"/>
                </a:solidFill>
                <a:latin typeface="Calibri"/>
                <a:cs typeface="Calibri"/>
              </a:rPr>
              <a:t> </a:t>
            </a:r>
            <a:r>
              <a:rPr sz="1500" dirty="0">
                <a:solidFill>
                  <a:srgbClr val="333333"/>
                </a:solidFill>
                <a:latin typeface="Calibri"/>
                <a:cs typeface="Calibri"/>
              </a:rPr>
              <a:t>eliminates</a:t>
            </a:r>
            <a:r>
              <a:rPr sz="1500" spc="305" dirty="0">
                <a:solidFill>
                  <a:srgbClr val="333333"/>
                </a:solidFill>
                <a:latin typeface="Calibri"/>
                <a:cs typeface="Calibri"/>
              </a:rPr>
              <a:t> </a:t>
            </a:r>
            <a:r>
              <a:rPr sz="1500" dirty="0">
                <a:solidFill>
                  <a:srgbClr val="333333"/>
                </a:solidFill>
                <a:latin typeface="Calibri"/>
                <a:cs typeface="Calibri"/>
              </a:rPr>
              <a:t>the</a:t>
            </a:r>
            <a:r>
              <a:rPr sz="1500" spc="295" dirty="0">
                <a:solidFill>
                  <a:srgbClr val="333333"/>
                </a:solidFill>
                <a:latin typeface="Calibri"/>
                <a:cs typeface="Calibri"/>
              </a:rPr>
              <a:t> </a:t>
            </a:r>
            <a:r>
              <a:rPr sz="1500" dirty="0">
                <a:solidFill>
                  <a:srgbClr val="333333"/>
                </a:solidFill>
                <a:latin typeface="Calibri"/>
                <a:cs typeface="Calibri"/>
              </a:rPr>
              <a:t>need</a:t>
            </a:r>
            <a:r>
              <a:rPr sz="1500" spc="335" dirty="0">
                <a:solidFill>
                  <a:srgbClr val="333333"/>
                </a:solidFill>
                <a:latin typeface="Calibri"/>
                <a:cs typeface="Calibri"/>
              </a:rPr>
              <a:t> </a:t>
            </a:r>
            <a:r>
              <a:rPr sz="1500" dirty="0">
                <a:solidFill>
                  <a:srgbClr val="333333"/>
                </a:solidFill>
                <a:latin typeface="Calibri"/>
                <a:cs typeface="Calibri"/>
              </a:rPr>
              <a:t>for</a:t>
            </a:r>
            <a:r>
              <a:rPr sz="1500" spc="295" dirty="0">
                <a:solidFill>
                  <a:srgbClr val="333333"/>
                </a:solidFill>
                <a:latin typeface="Calibri"/>
                <a:cs typeface="Calibri"/>
              </a:rPr>
              <a:t> </a:t>
            </a:r>
            <a:r>
              <a:rPr sz="1500" spc="-10" dirty="0">
                <a:solidFill>
                  <a:srgbClr val="333333"/>
                </a:solidFill>
                <a:latin typeface="Calibri"/>
                <a:cs typeface="Calibri"/>
              </a:rPr>
              <a:t>inventory </a:t>
            </a:r>
            <a:r>
              <a:rPr sz="1500" dirty="0">
                <a:solidFill>
                  <a:srgbClr val="333333"/>
                </a:solidFill>
                <a:latin typeface="Calibri"/>
                <a:cs typeface="Calibri"/>
              </a:rPr>
              <a:t>management</a:t>
            </a:r>
            <a:r>
              <a:rPr sz="1500" spc="215" dirty="0">
                <a:solidFill>
                  <a:srgbClr val="333333"/>
                </a:solidFill>
                <a:latin typeface="Calibri"/>
                <a:cs typeface="Calibri"/>
              </a:rPr>
              <a:t> </a:t>
            </a:r>
            <a:r>
              <a:rPr sz="1500" dirty="0">
                <a:solidFill>
                  <a:srgbClr val="333333"/>
                </a:solidFill>
                <a:latin typeface="Calibri"/>
                <a:cs typeface="Calibri"/>
              </a:rPr>
              <a:t>by</a:t>
            </a:r>
            <a:r>
              <a:rPr sz="1500" spc="195" dirty="0">
                <a:solidFill>
                  <a:srgbClr val="333333"/>
                </a:solidFill>
                <a:latin typeface="Calibri"/>
                <a:cs typeface="Calibri"/>
              </a:rPr>
              <a:t> </a:t>
            </a:r>
            <a:r>
              <a:rPr sz="1500" dirty="0">
                <a:solidFill>
                  <a:srgbClr val="333333"/>
                </a:solidFill>
                <a:latin typeface="Calibri"/>
                <a:cs typeface="Calibri"/>
              </a:rPr>
              <a:t>allowing</a:t>
            </a:r>
            <a:r>
              <a:rPr sz="1500" spc="160" dirty="0">
                <a:solidFill>
                  <a:srgbClr val="333333"/>
                </a:solidFill>
                <a:latin typeface="Calibri"/>
                <a:cs typeface="Calibri"/>
              </a:rPr>
              <a:t> </a:t>
            </a:r>
            <a:r>
              <a:rPr sz="1500" dirty="0">
                <a:solidFill>
                  <a:srgbClr val="333333"/>
                </a:solidFill>
                <a:latin typeface="Calibri"/>
                <a:cs typeface="Calibri"/>
              </a:rPr>
              <a:t>retailers</a:t>
            </a:r>
            <a:r>
              <a:rPr sz="1500" spc="215" dirty="0">
                <a:solidFill>
                  <a:srgbClr val="333333"/>
                </a:solidFill>
                <a:latin typeface="Calibri"/>
                <a:cs typeface="Calibri"/>
              </a:rPr>
              <a:t> </a:t>
            </a:r>
            <a:r>
              <a:rPr sz="1500" dirty="0">
                <a:solidFill>
                  <a:srgbClr val="333333"/>
                </a:solidFill>
                <a:latin typeface="Calibri"/>
                <a:cs typeface="Calibri"/>
              </a:rPr>
              <a:t>to</a:t>
            </a:r>
            <a:r>
              <a:rPr sz="1500" spc="229" dirty="0">
                <a:solidFill>
                  <a:srgbClr val="333333"/>
                </a:solidFill>
                <a:latin typeface="Calibri"/>
                <a:cs typeface="Calibri"/>
              </a:rPr>
              <a:t> </a:t>
            </a:r>
            <a:r>
              <a:rPr sz="1500" dirty="0">
                <a:solidFill>
                  <a:srgbClr val="333333"/>
                </a:solidFill>
                <a:latin typeface="Calibri"/>
                <a:cs typeface="Calibri"/>
              </a:rPr>
              <a:t>transfer</a:t>
            </a:r>
            <a:r>
              <a:rPr sz="1500" spc="200" dirty="0">
                <a:solidFill>
                  <a:srgbClr val="333333"/>
                </a:solidFill>
                <a:latin typeface="Calibri"/>
                <a:cs typeface="Calibri"/>
              </a:rPr>
              <a:t> </a:t>
            </a:r>
            <a:r>
              <a:rPr sz="1500" dirty="0">
                <a:solidFill>
                  <a:srgbClr val="333333"/>
                </a:solidFill>
                <a:latin typeface="Calibri"/>
                <a:cs typeface="Calibri"/>
              </a:rPr>
              <a:t>customer</a:t>
            </a:r>
            <a:r>
              <a:rPr sz="1500" spc="204" dirty="0">
                <a:solidFill>
                  <a:srgbClr val="333333"/>
                </a:solidFill>
                <a:latin typeface="Calibri"/>
                <a:cs typeface="Calibri"/>
              </a:rPr>
              <a:t> </a:t>
            </a:r>
            <a:r>
              <a:rPr sz="1500" dirty="0">
                <a:solidFill>
                  <a:srgbClr val="333333"/>
                </a:solidFill>
                <a:latin typeface="Calibri"/>
                <a:cs typeface="Calibri"/>
              </a:rPr>
              <a:t>orders</a:t>
            </a:r>
            <a:r>
              <a:rPr sz="1500" spc="210" dirty="0">
                <a:solidFill>
                  <a:srgbClr val="333333"/>
                </a:solidFill>
                <a:latin typeface="Calibri"/>
                <a:cs typeface="Calibri"/>
              </a:rPr>
              <a:t> </a:t>
            </a:r>
            <a:r>
              <a:rPr sz="1500" spc="-10" dirty="0">
                <a:solidFill>
                  <a:srgbClr val="333333"/>
                </a:solidFill>
                <a:latin typeface="Calibri"/>
                <a:cs typeface="Calibri"/>
              </a:rPr>
              <a:t>directly </a:t>
            </a:r>
            <a:r>
              <a:rPr sz="1500" dirty="0">
                <a:solidFill>
                  <a:srgbClr val="333333"/>
                </a:solidFill>
                <a:latin typeface="Calibri"/>
                <a:cs typeface="Calibri"/>
              </a:rPr>
              <a:t>to</a:t>
            </a:r>
            <a:r>
              <a:rPr sz="1500" spc="95" dirty="0">
                <a:solidFill>
                  <a:srgbClr val="333333"/>
                </a:solidFill>
                <a:latin typeface="Calibri"/>
                <a:cs typeface="Calibri"/>
              </a:rPr>
              <a:t>  </a:t>
            </a:r>
            <a:r>
              <a:rPr sz="1500" dirty="0">
                <a:solidFill>
                  <a:srgbClr val="333333"/>
                </a:solidFill>
                <a:latin typeface="Calibri"/>
                <a:cs typeface="Calibri"/>
              </a:rPr>
              <a:t>suppliers.</a:t>
            </a:r>
            <a:r>
              <a:rPr sz="1500" spc="495" dirty="0">
                <a:solidFill>
                  <a:srgbClr val="333333"/>
                </a:solidFill>
                <a:latin typeface="Calibri"/>
                <a:cs typeface="Calibri"/>
              </a:rPr>
              <a:t> </a:t>
            </a:r>
            <a:r>
              <a:rPr sz="1500" dirty="0">
                <a:solidFill>
                  <a:srgbClr val="333333"/>
                </a:solidFill>
                <a:latin typeface="Calibri"/>
                <a:cs typeface="Calibri"/>
              </a:rPr>
              <a:t>This</a:t>
            </a:r>
            <a:r>
              <a:rPr sz="1500" spc="90" dirty="0">
                <a:solidFill>
                  <a:srgbClr val="333333"/>
                </a:solidFill>
                <a:latin typeface="Calibri"/>
                <a:cs typeface="Calibri"/>
              </a:rPr>
              <a:t>  </a:t>
            </a:r>
            <a:r>
              <a:rPr sz="1500" dirty="0">
                <a:solidFill>
                  <a:srgbClr val="333333"/>
                </a:solidFill>
                <a:latin typeface="Calibri"/>
                <a:cs typeface="Calibri"/>
              </a:rPr>
              <a:t>model</a:t>
            </a:r>
            <a:r>
              <a:rPr sz="1500" spc="95" dirty="0">
                <a:solidFill>
                  <a:srgbClr val="333333"/>
                </a:solidFill>
                <a:latin typeface="Calibri"/>
                <a:cs typeface="Calibri"/>
              </a:rPr>
              <a:t>  </a:t>
            </a:r>
            <a:r>
              <a:rPr sz="1500" dirty="0">
                <a:solidFill>
                  <a:srgbClr val="333333"/>
                </a:solidFill>
                <a:latin typeface="Calibri"/>
                <a:cs typeface="Calibri"/>
              </a:rPr>
              <a:t>reduces</a:t>
            </a:r>
            <a:r>
              <a:rPr sz="1500" spc="85" dirty="0">
                <a:solidFill>
                  <a:srgbClr val="333333"/>
                </a:solidFill>
                <a:latin typeface="Calibri"/>
                <a:cs typeface="Calibri"/>
              </a:rPr>
              <a:t>  </a:t>
            </a:r>
            <a:r>
              <a:rPr sz="1500" dirty="0">
                <a:solidFill>
                  <a:srgbClr val="333333"/>
                </a:solidFill>
                <a:latin typeface="Calibri"/>
                <a:cs typeface="Calibri"/>
              </a:rPr>
              <a:t>operational</a:t>
            </a:r>
            <a:r>
              <a:rPr sz="1500" spc="95" dirty="0">
                <a:solidFill>
                  <a:srgbClr val="333333"/>
                </a:solidFill>
                <a:latin typeface="Calibri"/>
                <a:cs typeface="Calibri"/>
              </a:rPr>
              <a:t>  </a:t>
            </a:r>
            <a:r>
              <a:rPr sz="1500" dirty="0">
                <a:solidFill>
                  <a:srgbClr val="333333"/>
                </a:solidFill>
                <a:latin typeface="Calibri"/>
                <a:cs typeface="Calibri"/>
              </a:rPr>
              <a:t>costs</a:t>
            </a:r>
            <a:r>
              <a:rPr sz="1500" spc="90" dirty="0">
                <a:solidFill>
                  <a:srgbClr val="333333"/>
                </a:solidFill>
                <a:latin typeface="Calibri"/>
                <a:cs typeface="Calibri"/>
              </a:rPr>
              <a:t>  </a:t>
            </a:r>
            <a:r>
              <a:rPr sz="1500" dirty="0">
                <a:solidFill>
                  <a:srgbClr val="333333"/>
                </a:solidFill>
                <a:latin typeface="Calibri"/>
                <a:cs typeface="Calibri"/>
              </a:rPr>
              <a:t>and</a:t>
            </a:r>
            <a:r>
              <a:rPr sz="1500" spc="100" dirty="0">
                <a:solidFill>
                  <a:srgbClr val="333333"/>
                </a:solidFill>
                <a:latin typeface="Calibri"/>
                <a:cs typeface="Calibri"/>
              </a:rPr>
              <a:t>  </a:t>
            </a:r>
            <a:r>
              <a:rPr sz="1500" dirty="0">
                <a:solidFill>
                  <a:srgbClr val="333333"/>
                </a:solidFill>
                <a:latin typeface="Calibri"/>
                <a:cs typeface="Calibri"/>
              </a:rPr>
              <a:t>risks</a:t>
            </a:r>
            <a:r>
              <a:rPr sz="1500" spc="90" dirty="0">
                <a:solidFill>
                  <a:srgbClr val="333333"/>
                </a:solidFill>
                <a:latin typeface="Calibri"/>
                <a:cs typeface="Calibri"/>
              </a:rPr>
              <a:t>  </a:t>
            </a:r>
            <a:r>
              <a:rPr sz="1500" spc="-10" dirty="0">
                <a:solidFill>
                  <a:srgbClr val="333333"/>
                </a:solidFill>
                <a:latin typeface="Calibri"/>
                <a:cs typeface="Calibri"/>
              </a:rPr>
              <a:t>while </a:t>
            </a:r>
            <a:r>
              <a:rPr sz="1500" dirty="0">
                <a:solidFill>
                  <a:srgbClr val="333333"/>
                </a:solidFill>
                <a:latin typeface="Calibri"/>
                <a:cs typeface="Calibri"/>
              </a:rPr>
              <a:t>enabling</a:t>
            </a:r>
            <a:r>
              <a:rPr sz="1500" spc="135" dirty="0">
                <a:solidFill>
                  <a:srgbClr val="333333"/>
                </a:solidFill>
                <a:latin typeface="Calibri"/>
                <a:cs typeface="Calibri"/>
              </a:rPr>
              <a:t> </a:t>
            </a:r>
            <a:r>
              <a:rPr sz="1500" dirty="0">
                <a:solidFill>
                  <a:srgbClr val="333333"/>
                </a:solidFill>
                <a:latin typeface="Calibri"/>
                <a:cs typeface="Calibri"/>
              </a:rPr>
              <a:t>business</a:t>
            </a:r>
            <a:r>
              <a:rPr sz="1500" spc="204" dirty="0">
                <a:solidFill>
                  <a:srgbClr val="333333"/>
                </a:solidFill>
                <a:latin typeface="Calibri"/>
                <a:cs typeface="Calibri"/>
              </a:rPr>
              <a:t> </a:t>
            </a:r>
            <a:r>
              <a:rPr sz="1500" spc="-10" dirty="0">
                <a:solidFill>
                  <a:srgbClr val="333333"/>
                </a:solidFill>
                <a:latin typeface="Calibri"/>
                <a:cs typeface="Calibri"/>
              </a:rPr>
              <a:t>scalability.</a:t>
            </a:r>
            <a:endParaRPr sz="15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Literature</a:t>
            </a:r>
            <a:r>
              <a:rPr spc="-100" dirty="0"/>
              <a:t> </a:t>
            </a:r>
            <a:r>
              <a:rPr dirty="0"/>
              <a:t>Review</a:t>
            </a:r>
            <a:r>
              <a:rPr spc="-80" dirty="0"/>
              <a:t> </a:t>
            </a:r>
            <a:r>
              <a:rPr spc="-10" dirty="0"/>
              <a:t>(Continued)</a:t>
            </a:r>
          </a:p>
        </p:txBody>
      </p:sp>
      <p:sp>
        <p:nvSpPr>
          <p:cNvPr id="3" name="object 3"/>
          <p:cNvSpPr txBox="1"/>
          <p:nvPr/>
        </p:nvSpPr>
        <p:spPr>
          <a:xfrm>
            <a:off x="920750" y="1587500"/>
            <a:ext cx="5731510" cy="4864100"/>
          </a:xfrm>
          <a:prstGeom prst="rect">
            <a:avLst/>
          </a:prstGeom>
        </p:spPr>
        <p:txBody>
          <a:bodyPr vert="horz" wrap="square" lIns="0" tIns="12700" rIns="0" bIns="0" rtlCol="0">
            <a:spAutoFit/>
          </a:bodyPr>
          <a:lstStyle/>
          <a:p>
            <a:pPr marL="12700" marR="5080" algn="just">
              <a:lnSpc>
                <a:spcPct val="150000"/>
              </a:lnSpc>
              <a:spcBef>
                <a:spcPts val="100"/>
              </a:spcBef>
            </a:pPr>
            <a:r>
              <a:rPr sz="1500" b="1" dirty="0">
                <a:solidFill>
                  <a:srgbClr val="333333"/>
                </a:solidFill>
                <a:latin typeface="Calibri"/>
                <a:cs typeface="Calibri"/>
              </a:rPr>
              <a:t>Payment</a:t>
            </a:r>
            <a:r>
              <a:rPr sz="1500" b="1" spc="70" dirty="0">
                <a:solidFill>
                  <a:srgbClr val="333333"/>
                </a:solidFill>
                <a:latin typeface="Calibri"/>
                <a:cs typeface="Calibri"/>
              </a:rPr>
              <a:t> </a:t>
            </a:r>
            <a:r>
              <a:rPr sz="1500" b="1" dirty="0">
                <a:solidFill>
                  <a:srgbClr val="333333"/>
                </a:solidFill>
                <a:latin typeface="Calibri"/>
                <a:cs typeface="Calibri"/>
              </a:rPr>
              <a:t>Gateway</a:t>
            </a:r>
            <a:r>
              <a:rPr sz="1500" b="1" spc="30" dirty="0">
                <a:solidFill>
                  <a:srgbClr val="333333"/>
                </a:solidFill>
                <a:latin typeface="Calibri"/>
                <a:cs typeface="Calibri"/>
              </a:rPr>
              <a:t> </a:t>
            </a:r>
            <a:r>
              <a:rPr sz="1500" b="1" dirty="0">
                <a:solidFill>
                  <a:srgbClr val="333333"/>
                </a:solidFill>
                <a:latin typeface="Calibri"/>
                <a:cs typeface="Calibri"/>
              </a:rPr>
              <a:t>Integration:</a:t>
            </a:r>
            <a:r>
              <a:rPr sz="1500" b="1" spc="100" dirty="0">
                <a:solidFill>
                  <a:srgbClr val="333333"/>
                </a:solidFill>
                <a:latin typeface="Calibri"/>
                <a:cs typeface="Calibri"/>
              </a:rPr>
              <a:t> </a:t>
            </a:r>
            <a:r>
              <a:rPr sz="1500" dirty="0">
                <a:solidFill>
                  <a:srgbClr val="333333"/>
                </a:solidFill>
                <a:latin typeface="Calibri"/>
                <a:cs typeface="Calibri"/>
              </a:rPr>
              <a:t>Secure</a:t>
            </a:r>
            <a:r>
              <a:rPr sz="1500" spc="70" dirty="0">
                <a:solidFill>
                  <a:srgbClr val="333333"/>
                </a:solidFill>
                <a:latin typeface="Calibri"/>
                <a:cs typeface="Calibri"/>
              </a:rPr>
              <a:t> </a:t>
            </a:r>
            <a:r>
              <a:rPr sz="1500" dirty="0">
                <a:solidFill>
                  <a:srgbClr val="333333"/>
                </a:solidFill>
                <a:latin typeface="Calibri"/>
                <a:cs typeface="Calibri"/>
              </a:rPr>
              <a:t>payment</a:t>
            </a:r>
            <a:r>
              <a:rPr sz="1500" spc="90" dirty="0">
                <a:solidFill>
                  <a:srgbClr val="333333"/>
                </a:solidFill>
                <a:latin typeface="Calibri"/>
                <a:cs typeface="Calibri"/>
              </a:rPr>
              <a:t> </a:t>
            </a:r>
            <a:r>
              <a:rPr sz="1500" dirty="0">
                <a:solidFill>
                  <a:srgbClr val="333333"/>
                </a:solidFill>
                <a:latin typeface="Calibri"/>
                <a:cs typeface="Calibri"/>
              </a:rPr>
              <a:t>processing</a:t>
            </a:r>
            <a:r>
              <a:rPr sz="1500" spc="35" dirty="0">
                <a:solidFill>
                  <a:srgbClr val="333333"/>
                </a:solidFill>
                <a:latin typeface="Calibri"/>
                <a:cs typeface="Calibri"/>
              </a:rPr>
              <a:t> </a:t>
            </a:r>
            <a:r>
              <a:rPr sz="1500" dirty="0">
                <a:solidFill>
                  <a:srgbClr val="333333"/>
                </a:solidFill>
                <a:latin typeface="Calibri"/>
                <a:cs typeface="Calibri"/>
              </a:rPr>
              <a:t>is</a:t>
            </a:r>
            <a:r>
              <a:rPr sz="1500" spc="80" dirty="0">
                <a:solidFill>
                  <a:srgbClr val="333333"/>
                </a:solidFill>
                <a:latin typeface="Calibri"/>
                <a:cs typeface="Calibri"/>
              </a:rPr>
              <a:t> </a:t>
            </a:r>
            <a:r>
              <a:rPr sz="1500" dirty="0">
                <a:solidFill>
                  <a:srgbClr val="333333"/>
                </a:solidFill>
                <a:latin typeface="Calibri"/>
                <a:cs typeface="Calibri"/>
              </a:rPr>
              <a:t>critical</a:t>
            </a:r>
            <a:r>
              <a:rPr sz="1500" spc="95" dirty="0">
                <a:solidFill>
                  <a:srgbClr val="333333"/>
                </a:solidFill>
                <a:latin typeface="Calibri"/>
                <a:cs typeface="Calibri"/>
              </a:rPr>
              <a:t> </a:t>
            </a:r>
            <a:r>
              <a:rPr sz="1500" spc="-25" dirty="0">
                <a:solidFill>
                  <a:srgbClr val="333333"/>
                </a:solidFill>
                <a:latin typeface="Calibri"/>
                <a:cs typeface="Calibri"/>
              </a:rPr>
              <a:t>for </a:t>
            </a:r>
            <a:r>
              <a:rPr sz="1500" spc="-20" dirty="0">
                <a:solidFill>
                  <a:srgbClr val="333333"/>
                </a:solidFill>
                <a:latin typeface="Calibri"/>
                <a:cs typeface="Calibri"/>
              </a:rPr>
              <a:t>e-</a:t>
            </a:r>
            <a:r>
              <a:rPr sz="1500" dirty="0">
                <a:solidFill>
                  <a:srgbClr val="333333"/>
                </a:solidFill>
                <a:latin typeface="Calibri"/>
                <a:cs typeface="Calibri"/>
              </a:rPr>
              <a:t>commerce</a:t>
            </a:r>
            <a:r>
              <a:rPr sz="1500" spc="260" dirty="0">
                <a:solidFill>
                  <a:srgbClr val="333333"/>
                </a:solidFill>
                <a:latin typeface="Calibri"/>
                <a:cs typeface="Calibri"/>
              </a:rPr>
              <a:t>  </a:t>
            </a:r>
            <a:r>
              <a:rPr sz="1500" dirty="0">
                <a:solidFill>
                  <a:srgbClr val="333333"/>
                </a:solidFill>
                <a:latin typeface="Calibri"/>
                <a:cs typeface="Calibri"/>
              </a:rPr>
              <a:t>success.</a:t>
            </a:r>
            <a:r>
              <a:rPr sz="1500" spc="265" dirty="0">
                <a:solidFill>
                  <a:srgbClr val="333333"/>
                </a:solidFill>
                <a:latin typeface="Calibri"/>
                <a:cs typeface="Calibri"/>
              </a:rPr>
              <a:t>  </a:t>
            </a:r>
            <a:r>
              <a:rPr sz="1500" dirty="0">
                <a:solidFill>
                  <a:srgbClr val="333333"/>
                </a:solidFill>
                <a:latin typeface="Calibri"/>
                <a:cs typeface="Calibri"/>
              </a:rPr>
              <a:t>Modern</a:t>
            </a:r>
            <a:r>
              <a:rPr sz="1500" spc="280" dirty="0">
                <a:solidFill>
                  <a:srgbClr val="333333"/>
                </a:solidFill>
                <a:latin typeface="Calibri"/>
                <a:cs typeface="Calibri"/>
              </a:rPr>
              <a:t>  </a:t>
            </a:r>
            <a:r>
              <a:rPr sz="1500" dirty="0">
                <a:solidFill>
                  <a:srgbClr val="333333"/>
                </a:solidFill>
                <a:latin typeface="Calibri"/>
                <a:cs typeface="Calibri"/>
              </a:rPr>
              <a:t>platforms</a:t>
            </a:r>
            <a:r>
              <a:rPr sz="1500" spc="270" dirty="0">
                <a:solidFill>
                  <a:srgbClr val="333333"/>
                </a:solidFill>
                <a:latin typeface="Calibri"/>
                <a:cs typeface="Calibri"/>
              </a:rPr>
              <a:t>  </a:t>
            </a:r>
            <a:r>
              <a:rPr sz="1500" dirty="0">
                <a:solidFill>
                  <a:srgbClr val="333333"/>
                </a:solidFill>
                <a:latin typeface="Calibri"/>
                <a:cs typeface="Calibri"/>
              </a:rPr>
              <a:t>integrate</a:t>
            </a:r>
            <a:r>
              <a:rPr sz="1500" spc="265" dirty="0">
                <a:solidFill>
                  <a:srgbClr val="333333"/>
                </a:solidFill>
                <a:latin typeface="Calibri"/>
                <a:cs typeface="Calibri"/>
              </a:rPr>
              <a:t>  </a:t>
            </a:r>
            <a:r>
              <a:rPr sz="1500" dirty="0">
                <a:solidFill>
                  <a:srgbClr val="333333"/>
                </a:solidFill>
                <a:latin typeface="Calibri"/>
                <a:cs typeface="Calibri"/>
              </a:rPr>
              <a:t>with</a:t>
            </a:r>
            <a:r>
              <a:rPr sz="1500" spc="285" dirty="0">
                <a:solidFill>
                  <a:srgbClr val="333333"/>
                </a:solidFill>
                <a:latin typeface="Calibri"/>
                <a:cs typeface="Calibri"/>
              </a:rPr>
              <a:t>  </a:t>
            </a:r>
            <a:r>
              <a:rPr sz="1500" spc="-10" dirty="0">
                <a:solidFill>
                  <a:srgbClr val="333333"/>
                </a:solidFill>
                <a:latin typeface="Calibri"/>
                <a:cs typeface="Calibri"/>
              </a:rPr>
              <a:t>payment </a:t>
            </a:r>
            <a:r>
              <a:rPr sz="1500" dirty="0">
                <a:solidFill>
                  <a:srgbClr val="333333"/>
                </a:solidFill>
                <a:latin typeface="Calibri"/>
                <a:cs typeface="Calibri"/>
              </a:rPr>
              <a:t>gateways</a:t>
            </a:r>
            <a:r>
              <a:rPr sz="1500" spc="285" dirty="0">
                <a:solidFill>
                  <a:srgbClr val="333333"/>
                </a:solidFill>
                <a:latin typeface="Calibri"/>
                <a:cs typeface="Calibri"/>
              </a:rPr>
              <a:t> </a:t>
            </a:r>
            <a:r>
              <a:rPr sz="1500" dirty="0">
                <a:solidFill>
                  <a:srgbClr val="333333"/>
                </a:solidFill>
                <a:latin typeface="Calibri"/>
                <a:cs typeface="Calibri"/>
              </a:rPr>
              <a:t>like</a:t>
            </a:r>
            <a:r>
              <a:rPr sz="1500" spc="280" dirty="0">
                <a:solidFill>
                  <a:srgbClr val="333333"/>
                </a:solidFill>
                <a:latin typeface="Calibri"/>
                <a:cs typeface="Calibri"/>
              </a:rPr>
              <a:t> </a:t>
            </a:r>
            <a:r>
              <a:rPr sz="1500" dirty="0">
                <a:solidFill>
                  <a:srgbClr val="333333"/>
                </a:solidFill>
                <a:latin typeface="Calibri"/>
                <a:cs typeface="Calibri"/>
              </a:rPr>
              <a:t>Stripe</a:t>
            </a:r>
            <a:r>
              <a:rPr sz="1500" spc="275" dirty="0">
                <a:solidFill>
                  <a:srgbClr val="333333"/>
                </a:solidFill>
                <a:latin typeface="Calibri"/>
                <a:cs typeface="Calibri"/>
              </a:rPr>
              <a:t> </a:t>
            </a:r>
            <a:r>
              <a:rPr sz="1500" dirty="0">
                <a:solidFill>
                  <a:srgbClr val="333333"/>
                </a:solidFill>
                <a:latin typeface="Calibri"/>
                <a:cs typeface="Calibri"/>
              </a:rPr>
              <a:t>and</a:t>
            </a:r>
            <a:r>
              <a:rPr sz="1500" spc="310" dirty="0">
                <a:solidFill>
                  <a:srgbClr val="333333"/>
                </a:solidFill>
                <a:latin typeface="Calibri"/>
                <a:cs typeface="Calibri"/>
              </a:rPr>
              <a:t> </a:t>
            </a:r>
            <a:r>
              <a:rPr sz="1500" dirty="0">
                <a:solidFill>
                  <a:srgbClr val="333333"/>
                </a:solidFill>
                <a:latin typeface="Calibri"/>
                <a:cs typeface="Calibri"/>
              </a:rPr>
              <a:t>Razorpay,</a:t>
            </a:r>
            <a:r>
              <a:rPr sz="1500" spc="270" dirty="0">
                <a:solidFill>
                  <a:srgbClr val="333333"/>
                </a:solidFill>
                <a:latin typeface="Calibri"/>
                <a:cs typeface="Calibri"/>
              </a:rPr>
              <a:t> </a:t>
            </a:r>
            <a:r>
              <a:rPr sz="1500" dirty="0">
                <a:solidFill>
                  <a:srgbClr val="333333"/>
                </a:solidFill>
                <a:latin typeface="Calibri"/>
                <a:cs typeface="Calibri"/>
              </a:rPr>
              <a:t>which</a:t>
            </a:r>
            <a:r>
              <a:rPr sz="1500" spc="310" dirty="0">
                <a:solidFill>
                  <a:srgbClr val="333333"/>
                </a:solidFill>
                <a:latin typeface="Calibri"/>
                <a:cs typeface="Calibri"/>
              </a:rPr>
              <a:t> </a:t>
            </a:r>
            <a:r>
              <a:rPr sz="1500" dirty="0">
                <a:solidFill>
                  <a:srgbClr val="333333"/>
                </a:solidFill>
                <a:latin typeface="Calibri"/>
                <a:cs typeface="Calibri"/>
              </a:rPr>
              <a:t>handle</a:t>
            </a:r>
            <a:r>
              <a:rPr sz="1500" spc="280" dirty="0">
                <a:solidFill>
                  <a:srgbClr val="333333"/>
                </a:solidFill>
                <a:latin typeface="Calibri"/>
                <a:cs typeface="Calibri"/>
              </a:rPr>
              <a:t> </a:t>
            </a:r>
            <a:r>
              <a:rPr sz="1500" dirty="0">
                <a:solidFill>
                  <a:srgbClr val="333333"/>
                </a:solidFill>
                <a:latin typeface="Calibri"/>
                <a:cs typeface="Calibri"/>
              </a:rPr>
              <a:t>transaction</a:t>
            </a:r>
            <a:r>
              <a:rPr sz="1500" spc="310" dirty="0">
                <a:solidFill>
                  <a:srgbClr val="333333"/>
                </a:solidFill>
                <a:latin typeface="Calibri"/>
                <a:cs typeface="Calibri"/>
              </a:rPr>
              <a:t> </a:t>
            </a:r>
            <a:r>
              <a:rPr sz="1500" spc="-10" dirty="0">
                <a:solidFill>
                  <a:srgbClr val="333333"/>
                </a:solidFill>
                <a:latin typeface="Calibri"/>
                <a:cs typeface="Calibri"/>
              </a:rPr>
              <a:t>security, </a:t>
            </a:r>
            <a:r>
              <a:rPr sz="1500" dirty="0">
                <a:solidFill>
                  <a:srgbClr val="333333"/>
                </a:solidFill>
                <a:latin typeface="Calibri"/>
                <a:cs typeface="Calibri"/>
              </a:rPr>
              <a:t>fraud</a:t>
            </a:r>
            <a:r>
              <a:rPr sz="1500" spc="375" dirty="0">
                <a:solidFill>
                  <a:srgbClr val="333333"/>
                </a:solidFill>
                <a:latin typeface="Calibri"/>
                <a:cs typeface="Calibri"/>
              </a:rPr>
              <a:t>  </a:t>
            </a:r>
            <a:r>
              <a:rPr sz="1500" dirty="0">
                <a:solidFill>
                  <a:srgbClr val="333333"/>
                </a:solidFill>
                <a:latin typeface="Calibri"/>
                <a:cs typeface="Calibri"/>
              </a:rPr>
              <a:t>detection,</a:t>
            </a:r>
            <a:r>
              <a:rPr sz="1500" spc="355" dirty="0">
                <a:solidFill>
                  <a:srgbClr val="333333"/>
                </a:solidFill>
                <a:latin typeface="Calibri"/>
                <a:cs typeface="Calibri"/>
              </a:rPr>
              <a:t>  </a:t>
            </a:r>
            <a:r>
              <a:rPr sz="1500" dirty="0">
                <a:solidFill>
                  <a:srgbClr val="333333"/>
                </a:solidFill>
                <a:latin typeface="Calibri"/>
                <a:cs typeface="Calibri"/>
              </a:rPr>
              <a:t>and</a:t>
            </a:r>
            <a:r>
              <a:rPr sz="1500" spc="375" dirty="0">
                <a:solidFill>
                  <a:srgbClr val="333333"/>
                </a:solidFill>
                <a:latin typeface="Calibri"/>
                <a:cs typeface="Calibri"/>
              </a:rPr>
              <a:t>  </a:t>
            </a:r>
            <a:r>
              <a:rPr sz="1500" dirty="0">
                <a:solidFill>
                  <a:srgbClr val="333333"/>
                </a:solidFill>
                <a:latin typeface="Calibri"/>
                <a:cs typeface="Calibri"/>
              </a:rPr>
              <a:t>compliance</a:t>
            </a:r>
            <a:r>
              <a:rPr sz="1500" spc="360" dirty="0">
                <a:solidFill>
                  <a:srgbClr val="333333"/>
                </a:solidFill>
                <a:latin typeface="Calibri"/>
                <a:cs typeface="Calibri"/>
              </a:rPr>
              <a:t>  </a:t>
            </a:r>
            <a:r>
              <a:rPr sz="1500" dirty="0">
                <a:solidFill>
                  <a:srgbClr val="333333"/>
                </a:solidFill>
                <a:latin typeface="Calibri"/>
                <a:cs typeface="Calibri"/>
              </a:rPr>
              <a:t>with</a:t>
            </a:r>
            <a:r>
              <a:rPr sz="1500" spc="375" dirty="0">
                <a:solidFill>
                  <a:srgbClr val="333333"/>
                </a:solidFill>
                <a:latin typeface="Calibri"/>
                <a:cs typeface="Calibri"/>
              </a:rPr>
              <a:t>  </a:t>
            </a:r>
            <a:r>
              <a:rPr sz="1500" dirty="0">
                <a:solidFill>
                  <a:srgbClr val="333333"/>
                </a:solidFill>
                <a:latin typeface="Calibri"/>
                <a:cs typeface="Calibri"/>
              </a:rPr>
              <a:t>payment</a:t>
            </a:r>
            <a:r>
              <a:rPr sz="1500" spc="370" dirty="0">
                <a:solidFill>
                  <a:srgbClr val="333333"/>
                </a:solidFill>
                <a:latin typeface="Calibri"/>
                <a:cs typeface="Calibri"/>
              </a:rPr>
              <a:t>  </a:t>
            </a:r>
            <a:r>
              <a:rPr sz="1500" dirty="0">
                <a:solidFill>
                  <a:srgbClr val="333333"/>
                </a:solidFill>
                <a:latin typeface="Calibri"/>
                <a:cs typeface="Calibri"/>
              </a:rPr>
              <a:t>card</a:t>
            </a:r>
            <a:r>
              <a:rPr sz="1500" spc="375" dirty="0">
                <a:solidFill>
                  <a:srgbClr val="333333"/>
                </a:solidFill>
                <a:latin typeface="Calibri"/>
                <a:cs typeface="Calibri"/>
              </a:rPr>
              <a:t>  </a:t>
            </a:r>
            <a:r>
              <a:rPr sz="1500" spc="-10" dirty="0">
                <a:solidFill>
                  <a:srgbClr val="333333"/>
                </a:solidFill>
                <a:latin typeface="Calibri"/>
                <a:cs typeface="Calibri"/>
              </a:rPr>
              <a:t>industry standards.</a:t>
            </a:r>
            <a:endParaRPr sz="1500">
              <a:latin typeface="Calibri"/>
              <a:cs typeface="Calibri"/>
            </a:endParaRPr>
          </a:p>
          <a:p>
            <a:pPr marL="12700" marR="5715" algn="just">
              <a:lnSpc>
                <a:spcPct val="150000"/>
              </a:lnSpc>
              <a:spcBef>
                <a:spcPts val="1500"/>
              </a:spcBef>
            </a:pPr>
            <a:r>
              <a:rPr sz="1500" b="1" dirty="0">
                <a:solidFill>
                  <a:srgbClr val="333333"/>
                </a:solidFill>
                <a:latin typeface="Calibri"/>
                <a:cs typeface="Calibri"/>
              </a:rPr>
              <a:t>Authentication</a:t>
            </a:r>
            <a:r>
              <a:rPr sz="1500" b="1" spc="85" dirty="0">
                <a:solidFill>
                  <a:srgbClr val="333333"/>
                </a:solidFill>
                <a:latin typeface="Calibri"/>
                <a:cs typeface="Calibri"/>
              </a:rPr>
              <a:t> </a:t>
            </a:r>
            <a:r>
              <a:rPr sz="1500" b="1" dirty="0">
                <a:solidFill>
                  <a:srgbClr val="333333"/>
                </a:solidFill>
                <a:latin typeface="Calibri"/>
                <a:cs typeface="Calibri"/>
              </a:rPr>
              <a:t>and</a:t>
            </a:r>
            <a:r>
              <a:rPr sz="1500" b="1" spc="90" dirty="0">
                <a:solidFill>
                  <a:srgbClr val="333333"/>
                </a:solidFill>
                <a:latin typeface="Calibri"/>
                <a:cs typeface="Calibri"/>
              </a:rPr>
              <a:t> </a:t>
            </a:r>
            <a:r>
              <a:rPr sz="1500" b="1" dirty="0">
                <a:solidFill>
                  <a:srgbClr val="333333"/>
                </a:solidFill>
                <a:latin typeface="Calibri"/>
                <a:cs typeface="Calibri"/>
              </a:rPr>
              <a:t>Security:</a:t>
            </a:r>
            <a:r>
              <a:rPr sz="1500" b="1" spc="105" dirty="0">
                <a:solidFill>
                  <a:srgbClr val="333333"/>
                </a:solidFill>
                <a:latin typeface="Calibri"/>
                <a:cs typeface="Calibri"/>
              </a:rPr>
              <a:t> </a:t>
            </a:r>
            <a:r>
              <a:rPr sz="1500" dirty="0">
                <a:solidFill>
                  <a:srgbClr val="333333"/>
                </a:solidFill>
                <a:latin typeface="Calibri"/>
                <a:cs typeface="Calibri"/>
              </a:rPr>
              <a:t>JWT</a:t>
            </a:r>
            <a:r>
              <a:rPr sz="1500" spc="85" dirty="0">
                <a:solidFill>
                  <a:srgbClr val="333333"/>
                </a:solidFill>
                <a:latin typeface="Calibri"/>
                <a:cs typeface="Calibri"/>
              </a:rPr>
              <a:t> </a:t>
            </a:r>
            <a:r>
              <a:rPr sz="1500" dirty="0">
                <a:solidFill>
                  <a:srgbClr val="333333"/>
                </a:solidFill>
                <a:latin typeface="Calibri"/>
                <a:cs typeface="Calibri"/>
              </a:rPr>
              <a:t>(JSON</a:t>
            </a:r>
            <a:r>
              <a:rPr sz="1500" spc="75" dirty="0">
                <a:solidFill>
                  <a:srgbClr val="333333"/>
                </a:solidFill>
                <a:latin typeface="Calibri"/>
                <a:cs typeface="Calibri"/>
              </a:rPr>
              <a:t> </a:t>
            </a:r>
            <a:r>
              <a:rPr sz="1500" dirty="0">
                <a:solidFill>
                  <a:srgbClr val="333333"/>
                </a:solidFill>
                <a:latin typeface="Calibri"/>
                <a:cs typeface="Calibri"/>
              </a:rPr>
              <a:t>Web</a:t>
            </a:r>
            <a:r>
              <a:rPr sz="1500" spc="105" dirty="0">
                <a:solidFill>
                  <a:srgbClr val="333333"/>
                </a:solidFill>
                <a:latin typeface="Calibri"/>
                <a:cs typeface="Calibri"/>
              </a:rPr>
              <a:t> </a:t>
            </a:r>
            <a:r>
              <a:rPr sz="1500" dirty="0">
                <a:solidFill>
                  <a:srgbClr val="333333"/>
                </a:solidFill>
                <a:latin typeface="Calibri"/>
                <a:cs typeface="Calibri"/>
              </a:rPr>
              <a:t>Tokens)</a:t>
            </a:r>
            <a:r>
              <a:rPr sz="1500" spc="65" dirty="0">
                <a:solidFill>
                  <a:srgbClr val="333333"/>
                </a:solidFill>
                <a:latin typeface="Calibri"/>
                <a:cs typeface="Calibri"/>
              </a:rPr>
              <a:t> </a:t>
            </a:r>
            <a:r>
              <a:rPr sz="1500" dirty="0">
                <a:solidFill>
                  <a:srgbClr val="333333"/>
                </a:solidFill>
                <a:latin typeface="Calibri"/>
                <a:cs typeface="Calibri"/>
              </a:rPr>
              <a:t>have</a:t>
            </a:r>
            <a:r>
              <a:rPr sz="1500" spc="70" dirty="0">
                <a:solidFill>
                  <a:srgbClr val="333333"/>
                </a:solidFill>
                <a:latin typeface="Calibri"/>
                <a:cs typeface="Calibri"/>
              </a:rPr>
              <a:t> </a:t>
            </a:r>
            <a:r>
              <a:rPr sz="1500" dirty="0">
                <a:solidFill>
                  <a:srgbClr val="333333"/>
                </a:solidFill>
                <a:latin typeface="Calibri"/>
                <a:cs typeface="Calibri"/>
              </a:rPr>
              <a:t>become</a:t>
            </a:r>
            <a:r>
              <a:rPr sz="1500" spc="70" dirty="0">
                <a:solidFill>
                  <a:srgbClr val="333333"/>
                </a:solidFill>
                <a:latin typeface="Calibri"/>
                <a:cs typeface="Calibri"/>
              </a:rPr>
              <a:t> </a:t>
            </a:r>
            <a:r>
              <a:rPr sz="1500" spc="-25" dirty="0">
                <a:solidFill>
                  <a:srgbClr val="333333"/>
                </a:solidFill>
                <a:latin typeface="Calibri"/>
                <a:cs typeface="Calibri"/>
              </a:rPr>
              <a:t>the </a:t>
            </a:r>
            <a:r>
              <a:rPr sz="1500" dirty="0">
                <a:solidFill>
                  <a:srgbClr val="333333"/>
                </a:solidFill>
                <a:latin typeface="Calibri"/>
                <a:cs typeface="Calibri"/>
              </a:rPr>
              <a:t>standard</a:t>
            </a:r>
            <a:r>
              <a:rPr sz="1500" spc="425" dirty="0">
                <a:solidFill>
                  <a:srgbClr val="333333"/>
                </a:solidFill>
                <a:latin typeface="Calibri"/>
                <a:cs typeface="Calibri"/>
              </a:rPr>
              <a:t> </a:t>
            </a:r>
            <a:r>
              <a:rPr sz="1500" dirty="0">
                <a:solidFill>
                  <a:srgbClr val="333333"/>
                </a:solidFill>
                <a:latin typeface="Calibri"/>
                <a:cs typeface="Calibri"/>
              </a:rPr>
              <a:t>for</a:t>
            </a:r>
            <a:r>
              <a:rPr sz="1500" spc="385" dirty="0">
                <a:solidFill>
                  <a:srgbClr val="333333"/>
                </a:solidFill>
                <a:latin typeface="Calibri"/>
                <a:cs typeface="Calibri"/>
              </a:rPr>
              <a:t> </a:t>
            </a:r>
            <a:r>
              <a:rPr sz="1500" dirty="0">
                <a:solidFill>
                  <a:srgbClr val="333333"/>
                </a:solidFill>
                <a:latin typeface="Calibri"/>
                <a:cs typeface="Calibri"/>
              </a:rPr>
              <a:t>stateless</a:t>
            </a:r>
            <a:r>
              <a:rPr sz="1500" spc="400" dirty="0">
                <a:solidFill>
                  <a:srgbClr val="333333"/>
                </a:solidFill>
                <a:latin typeface="Calibri"/>
                <a:cs typeface="Calibri"/>
              </a:rPr>
              <a:t> </a:t>
            </a:r>
            <a:r>
              <a:rPr sz="1500" dirty="0">
                <a:solidFill>
                  <a:srgbClr val="333333"/>
                </a:solidFill>
                <a:latin typeface="Calibri"/>
                <a:cs typeface="Calibri"/>
              </a:rPr>
              <a:t>authentication</a:t>
            </a:r>
            <a:r>
              <a:rPr sz="1500" spc="425" dirty="0">
                <a:solidFill>
                  <a:srgbClr val="333333"/>
                </a:solidFill>
                <a:latin typeface="Calibri"/>
                <a:cs typeface="Calibri"/>
              </a:rPr>
              <a:t> </a:t>
            </a:r>
            <a:r>
              <a:rPr sz="1500" dirty="0">
                <a:solidFill>
                  <a:srgbClr val="333333"/>
                </a:solidFill>
                <a:latin typeface="Calibri"/>
                <a:cs typeface="Calibri"/>
              </a:rPr>
              <a:t>in</a:t>
            </a:r>
            <a:r>
              <a:rPr sz="1500" spc="430" dirty="0">
                <a:solidFill>
                  <a:srgbClr val="333333"/>
                </a:solidFill>
                <a:latin typeface="Calibri"/>
                <a:cs typeface="Calibri"/>
              </a:rPr>
              <a:t> </a:t>
            </a:r>
            <a:r>
              <a:rPr sz="1500" dirty="0">
                <a:solidFill>
                  <a:srgbClr val="333333"/>
                </a:solidFill>
                <a:latin typeface="Calibri"/>
                <a:cs typeface="Calibri"/>
              </a:rPr>
              <a:t>web</a:t>
            </a:r>
            <a:r>
              <a:rPr sz="1500" spc="425" dirty="0">
                <a:solidFill>
                  <a:srgbClr val="333333"/>
                </a:solidFill>
                <a:latin typeface="Calibri"/>
                <a:cs typeface="Calibri"/>
              </a:rPr>
              <a:t> </a:t>
            </a:r>
            <a:r>
              <a:rPr sz="1500" dirty="0">
                <a:solidFill>
                  <a:srgbClr val="333333"/>
                </a:solidFill>
                <a:latin typeface="Calibri"/>
                <a:cs typeface="Calibri"/>
              </a:rPr>
              <a:t>applications.</a:t>
            </a:r>
            <a:r>
              <a:rPr sz="1500" spc="380" dirty="0">
                <a:solidFill>
                  <a:srgbClr val="333333"/>
                </a:solidFill>
                <a:latin typeface="Calibri"/>
                <a:cs typeface="Calibri"/>
              </a:rPr>
              <a:t> </a:t>
            </a:r>
            <a:r>
              <a:rPr sz="1500" spc="-10" dirty="0">
                <a:solidFill>
                  <a:srgbClr val="333333"/>
                </a:solidFill>
                <a:latin typeface="Calibri"/>
                <a:cs typeface="Calibri"/>
              </a:rPr>
              <a:t>Combined </a:t>
            </a:r>
            <a:r>
              <a:rPr sz="1500" dirty="0">
                <a:solidFill>
                  <a:srgbClr val="333333"/>
                </a:solidFill>
                <a:latin typeface="Calibri"/>
                <a:cs typeface="Calibri"/>
              </a:rPr>
              <a:t>with</a:t>
            </a:r>
            <a:r>
              <a:rPr sz="1500" spc="150" dirty="0">
                <a:solidFill>
                  <a:srgbClr val="333333"/>
                </a:solidFill>
                <a:latin typeface="Calibri"/>
                <a:cs typeface="Calibri"/>
              </a:rPr>
              <a:t>  </a:t>
            </a:r>
            <a:r>
              <a:rPr sz="1500" dirty="0">
                <a:solidFill>
                  <a:srgbClr val="333333"/>
                </a:solidFill>
                <a:latin typeface="Calibri"/>
                <a:cs typeface="Calibri"/>
              </a:rPr>
              <a:t>encryption</a:t>
            </a:r>
            <a:r>
              <a:rPr sz="1500" spc="150" dirty="0">
                <a:solidFill>
                  <a:srgbClr val="333333"/>
                </a:solidFill>
                <a:latin typeface="Calibri"/>
                <a:cs typeface="Calibri"/>
              </a:rPr>
              <a:t>  </a:t>
            </a:r>
            <a:r>
              <a:rPr sz="1500" dirty="0">
                <a:solidFill>
                  <a:srgbClr val="333333"/>
                </a:solidFill>
                <a:latin typeface="Calibri"/>
                <a:cs typeface="Calibri"/>
              </a:rPr>
              <a:t>and</a:t>
            </a:r>
            <a:r>
              <a:rPr sz="1500" spc="150" dirty="0">
                <a:solidFill>
                  <a:srgbClr val="333333"/>
                </a:solidFill>
                <a:latin typeface="Calibri"/>
                <a:cs typeface="Calibri"/>
              </a:rPr>
              <a:t>  </a:t>
            </a:r>
            <a:r>
              <a:rPr sz="1500" dirty="0">
                <a:solidFill>
                  <a:srgbClr val="333333"/>
                </a:solidFill>
                <a:latin typeface="Calibri"/>
                <a:cs typeface="Calibri"/>
              </a:rPr>
              <a:t>secure</a:t>
            </a:r>
            <a:r>
              <a:rPr sz="1500" spc="135" dirty="0">
                <a:solidFill>
                  <a:srgbClr val="333333"/>
                </a:solidFill>
                <a:latin typeface="Calibri"/>
                <a:cs typeface="Calibri"/>
              </a:rPr>
              <a:t>  </a:t>
            </a:r>
            <a:r>
              <a:rPr sz="1500" dirty="0">
                <a:solidFill>
                  <a:srgbClr val="333333"/>
                </a:solidFill>
                <a:latin typeface="Calibri"/>
                <a:cs typeface="Calibri"/>
              </a:rPr>
              <a:t>coding</a:t>
            </a:r>
            <a:r>
              <a:rPr sz="1500" spc="120" dirty="0">
                <a:solidFill>
                  <a:srgbClr val="333333"/>
                </a:solidFill>
                <a:latin typeface="Calibri"/>
                <a:cs typeface="Calibri"/>
              </a:rPr>
              <a:t>  </a:t>
            </a:r>
            <a:r>
              <a:rPr sz="1500" dirty="0">
                <a:solidFill>
                  <a:srgbClr val="333333"/>
                </a:solidFill>
                <a:latin typeface="Calibri"/>
                <a:cs typeface="Calibri"/>
              </a:rPr>
              <a:t>practices,</a:t>
            </a:r>
            <a:r>
              <a:rPr sz="1500" spc="130" dirty="0">
                <a:solidFill>
                  <a:srgbClr val="333333"/>
                </a:solidFill>
                <a:latin typeface="Calibri"/>
                <a:cs typeface="Calibri"/>
              </a:rPr>
              <a:t>  </a:t>
            </a:r>
            <a:r>
              <a:rPr sz="1500" dirty="0">
                <a:solidFill>
                  <a:srgbClr val="333333"/>
                </a:solidFill>
                <a:latin typeface="Calibri"/>
                <a:cs typeface="Calibri"/>
              </a:rPr>
              <a:t>they</a:t>
            </a:r>
            <a:r>
              <a:rPr sz="1500" spc="130" dirty="0">
                <a:solidFill>
                  <a:srgbClr val="333333"/>
                </a:solidFill>
                <a:latin typeface="Calibri"/>
                <a:cs typeface="Calibri"/>
              </a:rPr>
              <a:t>  </a:t>
            </a:r>
            <a:r>
              <a:rPr sz="1500" dirty="0">
                <a:solidFill>
                  <a:srgbClr val="333333"/>
                </a:solidFill>
                <a:latin typeface="Calibri"/>
                <a:cs typeface="Calibri"/>
              </a:rPr>
              <a:t>provide</a:t>
            </a:r>
            <a:r>
              <a:rPr sz="1500" spc="140" dirty="0">
                <a:solidFill>
                  <a:srgbClr val="333333"/>
                </a:solidFill>
                <a:latin typeface="Calibri"/>
                <a:cs typeface="Calibri"/>
              </a:rPr>
              <a:t>  </a:t>
            </a:r>
            <a:r>
              <a:rPr sz="1500" spc="-10" dirty="0">
                <a:solidFill>
                  <a:srgbClr val="333333"/>
                </a:solidFill>
                <a:latin typeface="Calibri"/>
                <a:cs typeface="Calibri"/>
              </a:rPr>
              <a:t>robust </a:t>
            </a:r>
            <a:r>
              <a:rPr sz="1500" dirty="0">
                <a:solidFill>
                  <a:srgbClr val="333333"/>
                </a:solidFill>
                <a:latin typeface="Calibri"/>
                <a:cs typeface="Calibri"/>
              </a:rPr>
              <a:t>security</a:t>
            </a:r>
            <a:r>
              <a:rPr sz="1500" spc="70" dirty="0">
                <a:solidFill>
                  <a:srgbClr val="333333"/>
                </a:solidFill>
                <a:latin typeface="Calibri"/>
                <a:cs typeface="Calibri"/>
              </a:rPr>
              <a:t> </a:t>
            </a:r>
            <a:r>
              <a:rPr sz="1500" dirty="0">
                <a:solidFill>
                  <a:srgbClr val="333333"/>
                </a:solidFill>
                <a:latin typeface="Calibri"/>
                <a:cs typeface="Calibri"/>
              </a:rPr>
              <a:t>for</a:t>
            </a:r>
            <a:r>
              <a:rPr sz="1500" spc="75" dirty="0">
                <a:solidFill>
                  <a:srgbClr val="333333"/>
                </a:solidFill>
                <a:latin typeface="Calibri"/>
                <a:cs typeface="Calibri"/>
              </a:rPr>
              <a:t> </a:t>
            </a:r>
            <a:r>
              <a:rPr sz="1500" dirty="0">
                <a:solidFill>
                  <a:srgbClr val="333333"/>
                </a:solidFill>
                <a:latin typeface="Calibri"/>
                <a:cs typeface="Calibri"/>
              </a:rPr>
              <a:t>user</a:t>
            </a:r>
            <a:r>
              <a:rPr sz="1500" spc="75" dirty="0">
                <a:solidFill>
                  <a:srgbClr val="333333"/>
                </a:solidFill>
                <a:latin typeface="Calibri"/>
                <a:cs typeface="Calibri"/>
              </a:rPr>
              <a:t> </a:t>
            </a:r>
            <a:r>
              <a:rPr sz="1500" dirty="0">
                <a:solidFill>
                  <a:srgbClr val="333333"/>
                </a:solidFill>
                <a:latin typeface="Calibri"/>
                <a:cs typeface="Calibri"/>
              </a:rPr>
              <a:t>data</a:t>
            </a:r>
            <a:r>
              <a:rPr sz="1500" spc="110" dirty="0">
                <a:solidFill>
                  <a:srgbClr val="333333"/>
                </a:solidFill>
                <a:latin typeface="Calibri"/>
                <a:cs typeface="Calibri"/>
              </a:rPr>
              <a:t> </a:t>
            </a:r>
            <a:r>
              <a:rPr sz="1500" dirty="0">
                <a:solidFill>
                  <a:srgbClr val="333333"/>
                </a:solidFill>
                <a:latin typeface="Calibri"/>
                <a:cs typeface="Calibri"/>
              </a:rPr>
              <a:t>and</a:t>
            </a:r>
            <a:r>
              <a:rPr sz="1500" spc="110" dirty="0">
                <a:solidFill>
                  <a:srgbClr val="333333"/>
                </a:solidFill>
                <a:latin typeface="Calibri"/>
                <a:cs typeface="Calibri"/>
              </a:rPr>
              <a:t> </a:t>
            </a:r>
            <a:r>
              <a:rPr sz="1500" spc="-10" dirty="0">
                <a:solidFill>
                  <a:srgbClr val="333333"/>
                </a:solidFill>
                <a:latin typeface="Calibri"/>
                <a:cs typeface="Calibri"/>
              </a:rPr>
              <a:t>transactions.</a:t>
            </a:r>
            <a:endParaRPr sz="1500">
              <a:latin typeface="Calibri"/>
              <a:cs typeface="Calibri"/>
            </a:endParaRPr>
          </a:p>
          <a:p>
            <a:pPr marL="12700" marR="5080" algn="just">
              <a:lnSpc>
                <a:spcPct val="150000"/>
              </a:lnSpc>
              <a:spcBef>
                <a:spcPts val="1500"/>
              </a:spcBef>
            </a:pPr>
            <a:r>
              <a:rPr sz="1500" b="1" dirty="0">
                <a:solidFill>
                  <a:srgbClr val="333333"/>
                </a:solidFill>
                <a:latin typeface="Calibri"/>
                <a:cs typeface="Calibri"/>
              </a:rPr>
              <a:t>Cloud</a:t>
            </a:r>
            <a:r>
              <a:rPr sz="1500" b="1" spc="125" dirty="0">
                <a:solidFill>
                  <a:srgbClr val="333333"/>
                </a:solidFill>
                <a:latin typeface="Calibri"/>
                <a:cs typeface="Calibri"/>
              </a:rPr>
              <a:t>  </a:t>
            </a:r>
            <a:r>
              <a:rPr sz="1500" b="1" dirty="0">
                <a:solidFill>
                  <a:srgbClr val="333333"/>
                </a:solidFill>
                <a:latin typeface="Calibri"/>
                <a:cs typeface="Calibri"/>
              </a:rPr>
              <a:t>Deployment:</a:t>
            </a:r>
            <a:r>
              <a:rPr sz="1500" b="1" spc="140" dirty="0">
                <a:solidFill>
                  <a:srgbClr val="333333"/>
                </a:solidFill>
                <a:latin typeface="Calibri"/>
                <a:cs typeface="Calibri"/>
              </a:rPr>
              <a:t>  </a:t>
            </a:r>
            <a:r>
              <a:rPr sz="1500" dirty="0">
                <a:solidFill>
                  <a:srgbClr val="333333"/>
                </a:solidFill>
                <a:latin typeface="Calibri"/>
                <a:cs typeface="Calibri"/>
              </a:rPr>
              <a:t>Cloud</a:t>
            </a:r>
            <a:r>
              <a:rPr sz="1500" spc="135" dirty="0">
                <a:solidFill>
                  <a:srgbClr val="333333"/>
                </a:solidFill>
                <a:latin typeface="Calibri"/>
                <a:cs typeface="Calibri"/>
              </a:rPr>
              <a:t>  </a:t>
            </a:r>
            <a:r>
              <a:rPr sz="1500" dirty="0">
                <a:solidFill>
                  <a:srgbClr val="333333"/>
                </a:solidFill>
                <a:latin typeface="Calibri"/>
                <a:cs typeface="Calibri"/>
              </a:rPr>
              <a:t>platforms</a:t>
            </a:r>
            <a:r>
              <a:rPr sz="1500" spc="125" dirty="0">
                <a:solidFill>
                  <a:srgbClr val="333333"/>
                </a:solidFill>
                <a:latin typeface="Calibri"/>
                <a:cs typeface="Calibri"/>
              </a:rPr>
              <a:t>  </a:t>
            </a:r>
            <a:r>
              <a:rPr sz="1500" dirty="0">
                <a:solidFill>
                  <a:srgbClr val="333333"/>
                </a:solidFill>
                <a:latin typeface="Calibri"/>
                <a:cs typeface="Calibri"/>
              </a:rPr>
              <a:t>like</a:t>
            </a:r>
            <a:r>
              <a:rPr sz="1500" spc="120" dirty="0">
                <a:solidFill>
                  <a:srgbClr val="333333"/>
                </a:solidFill>
                <a:latin typeface="Calibri"/>
                <a:cs typeface="Calibri"/>
              </a:rPr>
              <a:t>  </a:t>
            </a:r>
            <a:r>
              <a:rPr sz="1500" dirty="0">
                <a:solidFill>
                  <a:srgbClr val="333333"/>
                </a:solidFill>
                <a:latin typeface="Calibri"/>
                <a:cs typeface="Calibri"/>
              </a:rPr>
              <a:t>AWS</a:t>
            </a:r>
            <a:r>
              <a:rPr sz="1500" spc="110" dirty="0">
                <a:solidFill>
                  <a:srgbClr val="333333"/>
                </a:solidFill>
                <a:latin typeface="Calibri"/>
                <a:cs typeface="Calibri"/>
              </a:rPr>
              <a:t>  </a:t>
            </a:r>
            <a:r>
              <a:rPr sz="1500" dirty="0">
                <a:solidFill>
                  <a:srgbClr val="333333"/>
                </a:solidFill>
                <a:latin typeface="Calibri"/>
                <a:cs typeface="Calibri"/>
              </a:rPr>
              <a:t>and</a:t>
            </a:r>
            <a:r>
              <a:rPr sz="1500" spc="140" dirty="0">
                <a:solidFill>
                  <a:srgbClr val="333333"/>
                </a:solidFill>
                <a:latin typeface="Calibri"/>
                <a:cs typeface="Calibri"/>
              </a:rPr>
              <a:t>  </a:t>
            </a:r>
            <a:r>
              <a:rPr sz="1500" dirty="0">
                <a:solidFill>
                  <a:srgbClr val="333333"/>
                </a:solidFill>
                <a:latin typeface="Calibri"/>
                <a:cs typeface="Calibri"/>
              </a:rPr>
              <a:t>Heroku</a:t>
            </a:r>
            <a:r>
              <a:rPr sz="1500" spc="135" dirty="0">
                <a:solidFill>
                  <a:srgbClr val="333333"/>
                </a:solidFill>
                <a:latin typeface="Calibri"/>
                <a:cs typeface="Calibri"/>
              </a:rPr>
              <a:t>  </a:t>
            </a:r>
            <a:r>
              <a:rPr sz="1500" spc="-10" dirty="0">
                <a:solidFill>
                  <a:srgbClr val="333333"/>
                </a:solidFill>
                <a:latin typeface="Calibri"/>
                <a:cs typeface="Calibri"/>
              </a:rPr>
              <a:t>enable </a:t>
            </a:r>
            <a:r>
              <a:rPr sz="1500" dirty="0">
                <a:solidFill>
                  <a:srgbClr val="333333"/>
                </a:solidFill>
                <a:latin typeface="Calibri"/>
                <a:cs typeface="Calibri"/>
              </a:rPr>
              <a:t>scalable</a:t>
            </a:r>
            <a:r>
              <a:rPr sz="1500" spc="275" dirty="0">
                <a:solidFill>
                  <a:srgbClr val="333333"/>
                </a:solidFill>
                <a:latin typeface="Calibri"/>
                <a:cs typeface="Calibri"/>
              </a:rPr>
              <a:t> </a:t>
            </a:r>
            <a:r>
              <a:rPr sz="1500" dirty="0">
                <a:solidFill>
                  <a:srgbClr val="333333"/>
                </a:solidFill>
                <a:latin typeface="Calibri"/>
                <a:cs typeface="Calibri"/>
              </a:rPr>
              <a:t>deployment</a:t>
            </a:r>
            <a:r>
              <a:rPr sz="1500" spc="295" dirty="0">
                <a:solidFill>
                  <a:srgbClr val="333333"/>
                </a:solidFill>
                <a:latin typeface="Calibri"/>
                <a:cs typeface="Calibri"/>
              </a:rPr>
              <a:t> </a:t>
            </a:r>
            <a:r>
              <a:rPr sz="1500" dirty="0">
                <a:solidFill>
                  <a:srgbClr val="333333"/>
                </a:solidFill>
                <a:latin typeface="Calibri"/>
                <a:cs typeface="Calibri"/>
              </a:rPr>
              <a:t>of</a:t>
            </a:r>
            <a:r>
              <a:rPr sz="1500" spc="254" dirty="0">
                <a:solidFill>
                  <a:srgbClr val="333333"/>
                </a:solidFill>
                <a:latin typeface="Calibri"/>
                <a:cs typeface="Calibri"/>
              </a:rPr>
              <a:t> </a:t>
            </a:r>
            <a:r>
              <a:rPr sz="1500" dirty="0">
                <a:solidFill>
                  <a:srgbClr val="333333"/>
                </a:solidFill>
                <a:latin typeface="Calibri"/>
                <a:cs typeface="Calibri"/>
              </a:rPr>
              <a:t>web</a:t>
            </a:r>
            <a:r>
              <a:rPr sz="1500" spc="315" dirty="0">
                <a:solidFill>
                  <a:srgbClr val="333333"/>
                </a:solidFill>
                <a:latin typeface="Calibri"/>
                <a:cs typeface="Calibri"/>
              </a:rPr>
              <a:t> </a:t>
            </a:r>
            <a:r>
              <a:rPr sz="1500" dirty="0">
                <a:solidFill>
                  <a:srgbClr val="333333"/>
                </a:solidFill>
                <a:latin typeface="Calibri"/>
                <a:cs typeface="Calibri"/>
              </a:rPr>
              <a:t>applications,</a:t>
            </a:r>
            <a:r>
              <a:rPr sz="1500" spc="270" dirty="0">
                <a:solidFill>
                  <a:srgbClr val="333333"/>
                </a:solidFill>
                <a:latin typeface="Calibri"/>
                <a:cs typeface="Calibri"/>
              </a:rPr>
              <a:t> </a:t>
            </a:r>
            <a:r>
              <a:rPr sz="1500" dirty="0">
                <a:solidFill>
                  <a:srgbClr val="333333"/>
                </a:solidFill>
                <a:latin typeface="Calibri"/>
                <a:cs typeface="Calibri"/>
              </a:rPr>
              <a:t>providing</a:t>
            </a:r>
            <a:r>
              <a:rPr sz="1500" spc="235" dirty="0">
                <a:solidFill>
                  <a:srgbClr val="333333"/>
                </a:solidFill>
                <a:latin typeface="Calibri"/>
                <a:cs typeface="Calibri"/>
              </a:rPr>
              <a:t> </a:t>
            </a:r>
            <a:r>
              <a:rPr sz="1500" dirty="0">
                <a:solidFill>
                  <a:srgbClr val="333333"/>
                </a:solidFill>
                <a:latin typeface="Calibri"/>
                <a:cs typeface="Calibri"/>
              </a:rPr>
              <a:t>automatic</a:t>
            </a:r>
            <a:r>
              <a:rPr sz="1500" spc="235" dirty="0">
                <a:solidFill>
                  <a:srgbClr val="333333"/>
                </a:solidFill>
                <a:latin typeface="Calibri"/>
                <a:cs typeface="Calibri"/>
              </a:rPr>
              <a:t> </a:t>
            </a:r>
            <a:r>
              <a:rPr sz="1500" spc="-10" dirty="0">
                <a:solidFill>
                  <a:srgbClr val="333333"/>
                </a:solidFill>
                <a:latin typeface="Calibri"/>
                <a:cs typeface="Calibri"/>
              </a:rPr>
              <a:t>scaling, </a:t>
            </a:r>
            <a:r>
              <a:rPr sz="1500" dirty="0">
                <a:solidFill>
                  <a:srgbClr val="333333"/>
                </a:solidFill>
                <a:latin typeface="Calibri"/>
                <a:cs typeface="Calibri"/>
              </a:rPr>
              <a:t>load</a:t>
            </a:r>
            <a:r>
              <a:rPr sz="1500" spc="355" dirty="0">
                <a:solidFill>
                  <a:srgbClr val="333333"/>
                </a:solidFill>
                <a:latin typeface="Calibri"/>
                <a:cs typeface="Calibri"/>
              </a:rPr>
              <a:t> </a:t>
            </a:r>
            <a:r>
              <a:rPr sz="1500" dirty="0">
                <a:solidFill>
                  <a:srgbClr val="333333"/>
                </a:solidFill>
                <a:latin typeface="Calibri"/>
                <a:cs typeface="Calibri"/>
              </a:rPr>
              <a:t>balancing,</a:t>
            </a:r>
            <a:r>
              <a:rPr sz="1500" spc="315" dirty="0">
                <a:solidFill>
                  <a:srgbClr val="333333"/>
                </a:solidFill>
                <a:latin typeface="Calibri"/>
                <a:cs typeface="Calibri"/>
              </a:rPr>
              <a:t> </a:t>
            </a:r>
            <a:r>
              <a:rPr sz="1500" dirty="0">
                <a:solidFill>
                  <a:srgbClr val="333333"/>
                </a:solidFill>
                <a:latin typeface="Calibri"/>
                <a:cs typeface="Calibri"/>
              </a:rPr>
              <a:t>and</a:t>
            </a:r>
            <a:r>
              <a:rPr sz="1500" spc="360" dirty="0">
                <a:solidFill>
                  <a:srgbClr val="333333"/>
                </a:solidFill>
                <a:latin typeface="Calibri"/>
                <a:cs typeface="Calibri"/>
              </a:rPr>
              <a:t> </a:t>
            </a:r>
            <a:r>
              <a:rPr sz="1500" dirty="0">
                <a:solidFill>
                  <a:srgbClr val="333333"/>
                </a:solidFill>
                <a:latin typeface="Calibri"/>
                <a:cs typeface="Calibri"/>
              </a:rPr>
              <a:t>high</a:t>
            </a:r>
            <a:r>
              <a:rPr sz="1500" spc="355" dirty="0">
                <a:solidFill>
                  <a:srgbClr val="333333"/>
                </a:solidFill>
                <a:latin typeface="Calibri"/>
                <a:cs typeface="Calibri"/>
              </a:rPr>
              <a:t> </a:t>
            </a:r>
            <a:r>
              <a:rPr sz="1500" dirty="0">
                <a:solidFill>
                  <a:srgbClr val="333333"/>
                </a:solidFill>
                <a:latin typeface="Calibri"/>
                <a:cs typeface="Calibri"/>
              </a:rPr>
              <a:t>availability</a:t>
            </a:r>
            <a:r>
              <a:rPr sz="1500" spc="315" dirty="0">
                <a:solidFill>
                  <a:srgbClr val="333333"/>
                </a:solidFill>
                <a:latin typeface="Calibri"/>
                <a:cs typeface="Calibri"/>
              </a:rPr>
              <a:t> </a:t>
            </a:r>
            <a:r>
              <a:rPr sz="1500" dirty="0">
                <a:solidFill>
                  <a:srgbClr val="333333"/>
                </a:solidFill>
                <a:latin typeface="Calibri"/>
                <a:cs typeface="Calibri"/>
              </a:rPr>
              <a:t>without</a:t>
            </a:r>
            <a:r>
              <a:rPr sz="1500" spc="340" dirty="0">
                <a:solidFill>
                  <a:srgbClr val="333333"/>
                </a:solidFill>
                <a:latin typeface="Calibri"/>
                <a:cs typeface="Calibri"/>
              </a:rPr>
              <a:t> </a:t>
            </a:r>
            <a:r>
              <a:rPr sz="1500" dirty="0">
                <a:solidFill>
                  <a:srgbClr val="333333"/>
                </a:solidFill>
                <a:latin typeface="Calibri"/>
                <a:cs typeface="Calibri"/>
              </a:rPr>
              <a:t>significant</a:t>
            </a:r>
            <a:r>
              <a:rPr sz="1500" spc="340" dirty="0">
                <a:solidFill>
                  <a:srgbClr val="333333"/>
                </a:solidFill>
                <a:latin typeface="Calibri"/>
                <a:cs typeface="Calibri"/>
              </a:rPr>
              <a:t> </a:t>
            </a:r>
            <a:r>
              <a:rPr sz="1500" spc="-10" dirty="0">
                <a:solidFill>
                  <a:srgbClr val="333333"/>
                </a:solidFill>
                <a:latin typeface="Calibri"/>
                <a:cs typeface="Calibri"/>
              </a:rPr>
              <a:t>infrastructure investment.</a:t>
            </a:r>
            <a:endParaRPr sz="15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05" dirty="0"/>
              <a:t> </a:t>
            </a:r>
            <a:r>
              <a:rPr spc="-10" dirty="0"/>
              <a:t>Statement</a:t>
            </a:r>
          </a:p>
        </p:txBody>
      </p:sp>
      <p:sp>
        <p:nvSpPr>
          <p:cNvPr id="4" name="object 4"/>
          <p:cNvSpPr txBox="1"/>
          <p:nvPr/>
        </p:nvSpPr>
        <p:spPr>
          <a:xfrm>
            <a:off x="577850" y="2070100"/>
            <a:ext cx="5451476" cy="3910494"/>
          </a:xfrm>
          <a:prstGeom prst="rect">
            <a:avLst/>
          </a:prstGeom>
        </p:spPr>
        <p:txBody>
          <a:bodyPr vert="horz" wrap="square" lIns="0" tIns="12700" rIns="0" bIns="0" rtlCol="0">
            <a:spAutoFit/>
          </a:bodyPr>
          <a:lstStyle/>
          <a:p>
            <a:pPr marL="288290" marR="309245">
              <a:lnSpc>
                <a:spcPct val="133300"/>
              </a:lnSpc>
              <a:spcBef>
                <a:spcPts val="100"/>
              </a:spcBef>
            </a:pPr>
            <a:r>
              <a:rPr lang="en-US" sz="1600" dirty="0"/>
              <a:t>Traditional e-commerce platforms often face issues related to scalability, high development costs, and technical complexity. Many existing solutions require significant financial investment and advanced technical expertise. This makes them less accessible for small businesses and educational purposes. Additionally, students often lack exposure to real-world full-stack development projects. Therefore, there is a need for a cost-effective and scalable platform that demonstrates modern web development practices while delivering practical e-commerce functionality.</a:t>
            </a:r>
            <a:r>
              <a:rPr sz="1500" spc="-10" dirty="0">
                <a:solidFill>
                  <a:srgbClr val="333333"/>
                </a:solidFill>
                <a:latin typeface="Calibri"/>
                <a:cs typeface="Calibri"/>
              </a:rPr>
              <a:t>.</a:t>
            </a:r>
            <a:endParaRPr sz="15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D94A0-450B-E7DE-7FF0-79D683A2FF69}"/>
              </a:ext>
            </a:extLst>
          </p:cNvPr>
          <p:cNvSpPr>
            <a:spLocks noGrp="1"/>
          </p:cNvSpPr>
          <p:nvPr>
            <p:ph type="title"/>
          </p:nvPr>
        </p:nvSpPr>
        <p:spPr>
          <a:xfrm>
            <a:off x="882650" y="862569"/>
            <a:ext cx="4914900" cy="738664"/>
          </a:xfrm>
        </p:spPr>
        <p:txBody>
          <a:bodyPr/>
          <a:lstStyle/>
          <a:p>
            <a:r>
              <a:rPr lang="en-IN" dirty="0"/>
              <a:t>Requirement Analysis and Planning</a:t>
            </a:r>
          </a:p>
        </p:txBody>
      </p:sp>
      <p:sp>
        <p:nvSpPr>
          <p:cNvPr id="4" name="Rectangle 1">
            <a:extLst>
              <a:ext uri="{FF2B5EF4-FFF2-40B4-BE49-F238E27FC236}">
                <a16:creationId xmlns:a16="http://schemas.microsoft.com/office/drawing/2014/main" id="{A793E4CE-DC7E-61DC-5050-49980C6BA3C3}"/>
              </a:ext>
            </a:extLst>
          </p:cNvPr>
          <p:cNvSpPr>
            <a:spLocks noGrp="1" noChangeArrowheads="1"/>
          </p:cNvSpPr>
          <p:nvPr>
            <p:ph type="body" idx="1"/>
          </p:nvPr>
        </p:nvSpPr>
        <p:spPr bwMode="auto">
          <a:xfrm>
            <a:off x="196850" y="1460500"/>
            <a:ext cx="7620671"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Designed scalable web application using MERN stack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Included product management, secure payments, and </a:t>
            </a:r>
            <a:r>
              <a:rPr kumimoji="0" lang="en-US" altLang="en-US" sz="2800" b="0" i="0" u="none" strike="noStrike" cap="none" normalizeH="0" baseline="0" dirty="0" err="1">
                <a:ln>
                  <a:noFill/>
                </a:ln>
                <a:solidFill>
                  <a:schemeClr val="tx1"/>
                </a:solidFill>
                <a:effectLst/>
                <a:latin typeface="Arial" panose="020B0604020202020204" pitchFamily="34" charset="0"/>
              </a:rPr>
              <a:t>dropshipping</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Defined key features: registration, login, cart, orders, admin panel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Considered security, scalability, and performance factors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Designed complete user workflow from signup to order completion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Ensured structured and systematic development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Identified core requirements of a modern e-commerce platform</a:t>
            </a:r>
          </a:p>
        </p:txBody>
      </p:sp>
    </p:spTree>
    <p:extLst>
      <p:ext uri="{BB962C8B-B14F-4D97-AF65-F5344CB8AC3E}">
        <p14:creationId xmlns:p14="http://schemas.microsoft.com/office/powerpoint/2010/main" val="2328492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60BB4-9EAD-6308-17DD-6B7A7F85D664}"/>
              </a:ext>
            </a:extLst>
          </p:cNvPr>
          <p:cNvSpPr>
            <a:spLocks noGrp="1"/>
          </p:cNvSpPr>
          <p:nvPr>
            <p:ph type="title"/>
          </p:nvPr>
        </p:nvSpPr>
        <p:spPr>
          <a:xfrm>
            <a:off x="920750" y="806450"/>
            <a:ext cx="4065270" cy="369332"/>
          </a:xfrm>
        </p:spPr>
        <p:txBody>
          <a:bodyPr/>
          <a:lstStyle/>
          <a:p>
            <a:r>
              <a:rPr lang="en-IN" dirty="0"/>
              <a:t>System Design and Architecture</a:t>
            </a:r>
          </a:p>
        </p:txBody>
      </p:sp>
      <p:sp>
        <p:nvSpPr>
          <p:cNvPr id="3" name="Text Placeholder 2">
            <a:extLst>
              <a:ext uri="{FF2B5EF4-FFF2-40B4-BE49-F238E27FC236}">
                <a16:creationId xmlns:a16="http://schemas.microsoft.com/office/drawing/2014/main" id="{D0A6349A-60E8-AF3F-8DCD-03C6699534B4}"/>
              </a:ext>
            </a:extLst>
          </p:cNvPr>
          <p:cNvSpPr>
            <a:spLocks noGrp="1"/>
          </p:cNvSpPr>
          <p:nvPr>
            <p:ph type="body" idx="1"/>
          </p:nvPr>
        </p:nvSpPr>
        <p:spPr>
          <a:xfrm>
            <a:off x="735330" y="1713230"/>
            <a:ext cx="6781800" cy="8140700"/>
          </a:xfrm>
        </p:spPr>
        <p:txBody>
          <a:bodyPr/>
          <a:lstStyle/>
          <a:p>
            <a:r>
              <a:rPr lang="en-US" sz="2800" dirty="0"/>
              <a:t>A three-tier architecture was adopted consisting of:</a:t>
            </a:r>
          </a:p>
          <a:p>
            <a:r>
              <a:rPr lang="en-US" sz="2800" dirty="0"/>
              <a:t>Frontend – React</a:t>
            </a:r>
            <a:br>
              <a:rPr lang="en-US" sz="2800" dirty="0"/>
            </a:br>
            <a:r>
              <a:rPr lang="en-US" sz="2800" dirty="0"/>
              <a:t>Backend – Node.js with Express</a:t>
            </a:r>
            <a:br>
              <a:rPr lang="en-US" sz="2800" dirty="0"/>
            </a:br>
            <a:r>
              <a:rPr lang="en-US" sz="2800" dirty="0"/>
              <a:t>Database – MongoDB</a:t>
            </a:r>
          </a:p>
          <a:p>
            <a:r>
              <a:rPr lang="en-US" sz="2800" dirty="0"/>
              <a:t>The frontend was designed using React components for dynamic and responsive user interaction. The backend handled RESTful APIs for authentication, product management, and order processing.</a:t>
            </a:r>
          </a:p>
          <a:p>
            <a:r>
              <a:rPr lang="en-US" sz="2800" dirty="0"/>
              <a:t>MongoDB was used to store user, product, and order data efficiently. JWT authentication was implemented to ensure secure login and protected routes.</a:t>
            </a:r>
          </a:p>
          <a:p>
            <a:r>
              <a:rPr lang="en-US" sz="2800" dirty="0"/>
              <a:t>This layered architecture improves modularity and future scalability.</a:t>
            </a:r>
          </a:p>
          <a:p>
            <a:endParaRPr lang="en-IN" dirty="0"/>
          </a:p>
        </p:txBody>
      </p:sp>
    </p:spTree>
    <p:extLst>
      <p:ext uri="{BB962C8B-B14F-4D97-AF65-F5344CB8AC3E}">
        <p14:creationId xmlns:p14="http://schemas.microsoft.com/office/powerpoint/2010/main" val="3275237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ED7BE-C739-D4D3-047F-604D302BD722}"/>
              </a:ext>
            </a:extLst>
          </p:cNvPr>
          <p:cNvSpPr>
            <a:spLocks noGrp="1"/>
          </p:cNvSpPr>
          <p:nvPr>
            <p:ph type="title"/>
          </p:nvPr>
        </p:nvSpPr>
        <p:spPr>
          <a:xfrm>
            <a:off x="920750" y="806450"/>
            <a:ext cx="4457700" cy="1107996"/>
          </a:xfrm>
        </p:spPr>
        <p:txBody>
          <a:bodyPr/>
          <a:lstStyle/>
          <a:p>
            <a:r>
              <a:rPr lang="en-IN" dirty="0"/>
              <a:t>Implementation and Integration</a:t>
            </a:r>
            <a:br>
              <a:rPr lang="en-IN" dirty="0"/>
            </a:br>
            <a:endParaRPr lang="en-IN" dirty="0"/>
          </a:p>
        </p:txBody>
      </p:sp>
      <p:sp>
        <p:nvSpPr>
          <p:cNvPr id="3" name="Text Placeholder 2">
            <a:extLst>
              <a:ext uri="{FF2B5EF4-FFF2-40B4-BE49-F238E27FC236}">
                <a16:creationId xmlns:a16="http://schemas.microsoft.com/office/drawing/2014/main" id="{5B0138C4-C10D-39CB-8C0B-B6BD2C848984}"/>
              </a:ext>
            </a:extLst>
          </p:cNvPr>
          <p:cNvSpPr>
            <a:spLocks noGrp="1"/>
          </p:cNvSpPr>
          <p:nvPr>
            <p:ph type="body" idx="1"/>
          </p:nvPr>
        </p:nvSpPr>
        <p:spPr>
          <a:xfrm>
            <a:off x="1149350" y="2006600"/>
            <a:ext cx="5372100" cy="12272590"/>
          </a:xfrm>
        </p:spPr>
        <p:txBody>
          <a:bodyPr/>
          <a:lstStyle/>
          <a:p>
            <a:r>
              <a:rPr lang="en-US" sz="2800" dirty="0"/>
              <a:t>The project was implemented module by module. The authentication system was developed first using encrypted passwords and JWT tokens.</a:t>
            </a:r>
          </a:p>
          <a:p>
            <a:r>
              <a:rPr lang="en-US" sz="2800" dirty="0"/>
              <a:t>Next, product management and cart functionalities were implemented using MongoDB and React state management. CRUD operations were handled through backend APIs.</a:t>
            </a:r>
          </a:p>
          <a:p>
            <a:r>
              <a:rPr lang="en-US" sz="2800" dirty="0"/>
              <a:t>Payment gateway integration was completed using Stripe/</a:t>
            </a:r>
            <a:r>
              <a:rPr lang="en-US" sz="2800" dirty="0" err="1"/>
              <a:t>Razorpay</a:t>
            </a:r>
            <a:r>
              <a:rPr lang="en-US" sz="2800" dirty="0"/>
              <a:t> APIs to enable secure transactions. After individual module testing, all components were integrated to ensure smooth communication between frontend and backend.</a:t>
            </a:r>
          </a:p>
          <a:p>
            <a:endParaRPr lang="en-IN" dirty="0"/>
          </a:p>
        </p:txBody>
      </p:sp>
    </p:spTree>
    <p:extLst>
      <p:ext uri="{BB962C8B-B14F-4D97-AF65-F5344CB8AC3E}">
        <p14:creationId xmlns:p14="http://schemas.microsoft.com/office/powerpoint/2010/main" val="1899037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6781C-18F5-CEBC-DC7E-BAC198070E7F}"/>
              </a:ext>
            </a:extLst>
          </p:cNvPr>
          <p:cNvSpPr>
            <a:spLocks noGrp="1"/>
          </p:cNvSpPr>
          <p:nvPr>
            <p:ph type="title"/>
          </p:nvPr>
        </p:nvSpPr>
        <p:spPr>
          <a:xfrm>
            <a:off x="920750" y="806450"/>
            <a:ext cx="4065270" cy="369332"/>
          </a:xfrm>
        </p:spPr>
        <p:txBody>
          <a:bodyPr/>
          <a:lstStyle/>
          <a:p>
            <a:r>
              <a:rPr lang="en-IN" dirty="0"/>
              <a:t>Testing and Deployment</a:t>
            </a:r>
          </a:p>
        </p:txBody>
      </p:sp>
      <p:sp>
        <p:nvSpPr>
          <p:cNvPr id="3" name="Text Placeholder 2">
            <a:extLst>
              <a:ext uri="{FF2B5EF4-FFF2-40B4-BE49-F238E27FC236}">
                <a16:creationId xmlns:a16="http://schemas.microsoft.com/office/drawing/2014/main" id="{0484FBC8-74F2-3585-BE9E-4EE6D9F7B4B5}"/>
              </a:ext>
            </a:extLst>
          </p:cNvPr>
          <p:cNvSpPr>
            <a:spLocks noGrp="1"/>
          </p:cNvSpPr>
          <p:nvPr>
            <p:ph type="body" idx="1"/>
          </p:nvPr>
        </p:nvSpPr>
        <p:spPr>
          <a:xfrm>
            <a:off x="1149350" y="2006600"/>
            <a:ext cx="5676900" cy="9256380"/>
          </a:xfrm>
        </p:spPr>
        <p:txBody>
          <a:bodyPr/>
          <a:lstStyle/>
          <a:p>
            <a:r>
              <a:rPr lang="en-US" sz="2800" dirty="0"/>
              <a:t>Testing was performed at both frontend and backend levels. APIs were tested for correct responses and error handling. User flows such as login, cart updates, and payment processing were verified.</a:t>
            </a:r>
          </a:p>
          <a:p>
            <a:r>
              <a:rPr lang="en-US" sz="2800" dirty="0"/>
              <a:t>The application was prepared for cloud deployment with secure environment configurations. Basic performance optimization techniques were applied to ensure smooth functioning.</a:t>
            </a:r>
          </a:p>
          <a:p>
            <a:r>
              <a:rPr lang="en-US" sz="2800" dirty="0"/>
              <a:t>This ensured the system was reliable and ready for real-world usage.</a:t>
            </a:r>
          </a:p>
          <a:p>
            <a:endParaRPr lang="en-IN" dirty="0"/>
          </a:p>
        </p:txBody>
      </p:sp>
    </p:spTree>
    <p:extLst>
      <p:ext uri="{BB962C8B-B14F-4D97-AF65-F5344CB8AC3E}">
        <p14:creationId xmlns:p14="http://schemas.microsoft.com/office/powerpoint/2010/main" val="3675782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Proposed</a:t>
            </a:r>
            <a:r>
              <a:rPr spc="-65" dirty="0"/>
              <a:t> </a:t>
            </a:r>
            <a:r>
              <a:rPr spc="-10" dirty="0"/>
              <a:t>Solution</a:t>
            </a:r>
          </a:p>
        </p:txBody>
      </p:sp>
      <p:sp>
        <p:nvSpPr>
          <p:cNvPr id="3" name="object 3"/>
          <p:cNvSpPr/>
          <p:nvPr/>
        </p:nvSpPr>
        <p:spPr>
          <a:xfrm>
            <a:off x="933449" y="1857372"/>
            <a:ext cx="38100" cy="561975"/>
          </a:xfrm>
          <a:custGeom>
            <a:avLst/>
            <a:gdLst/>
            <a:ahLst/>
            <a:cxnLst/>
            <a:rect l="l" t="t" r="r" b="b"/>
            <a:pathLst>
              <a:path w="38100" h="561975">
                <a:moveTo>
                  <a:pt x="38099" y="561974"/>
                </a:moveTo>
                <a:lnTo>
                  <a:pt x="0" y="561974"/>
                </a:lnTo>
                <a:lnTo>
                  <a:pt x="0" y="0"/>
                </a:lnTo>
                <a:lnTo>
                  <a:pt x="38099" y="0"/>
                </a:lnTo>
                <a:lnTo>
                  <a:pt x="38099" y="561974"/>
                </a:lnTo>
                <a:close/>
              </a:path>
            </a:pathLst>
          </a:custGeom>
          <a:solidFill>
            <a:srgbClr val="2B3D4F"/>
          </a:solid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182880" indent="-170180">
              <a:lnSpc>
                <a:spcPct val="100000"/>
              </a:lnSpc>
              <a:spcBef>
                <a:spcPts val="100"/>
              </a:spcBef>
              <a:buAutoNum type="arabicPeriod"/>
              <a:tabLst>
                <a:tab pos="182880" algn="l"/>
              </a:tabLst>
            </a:pPr>
            <a:r>
              <a:rPr spc="-20" dirty="0"/>
              <a:t>Design</a:t>
            </a:r>
            <a:r>
              <a:rPr spc="-35" dirty="0"/>
              <a:t> </a:t>
            </a:r>
            <a:r>
              <a:rPr dirty="0"/>
              <a:t>MERN-</a:t>
            </a:r>
            <a:r>
              <a:rPr spc="-10" dirty="0"/>
              <a:t>based</a:t>
            </a:r>
            <a:r>
              <a:rPr spc="-35" dirty="0"/>
              <a:t> </a:t>
            </a:r>
            <a:r>
              <a:rPr spc="-10" dirty="0"/>
              <a:t>architecture</a:t>
            </a:r>
            <a:r>
              <a:rPr spc="5" dirty="0"/>
              <a:t> </a:t>
            </a:r>
            <a:r>
              <a:rPr dirty="0"/>
              <a:t>with</a:t>
            </a:r>
            <a:r>
              <a:rPr spc="-35" dirty="0"/>
              <a:t> </a:t>
            </a:r>
            <a:r>
              <a:rPr dirty="0"/>
              <a:t>RESTful</a:t>
            </a:r>
            <a:r>
              <a:rPr spc="-5" dirty="0"/>
              <a:t> </a:t>
            </a:r>
            <a:r>
              <a:rPr spc="-20" dirty="0"/>
              <a:t>APIs</a:t>
            </a:r>
          </a:p>
          <a:p>
            <a:pPr>
              <a:lnSpc>
                <a:spcPct val="100000"/>
              </a:lnSpc>
              <a:spcBef>
                <a:spcPts val="1605"/>
              </a:spcBef>
              <a:buClr>
                <a:srgbClr val="333333"/>
              </a:buClr>
              <a:buFont typeface="Calibri"/>
              <a:buAutoNum type="arabicPeriod"/>
            </a:pPr>
            <a:endParaRPr spc="-20" dirty="0"/>
          </a:p>
          <a:p>
            <a:pPr marR="974725" algn="r">
              <a:lnSpc>
                <a:spcPct val="100000"/>
              </a:lnSpc>
            </a:pPr>
            <a:r>
              <a:rPr sz="1800" spc="-50" dirty="0">
                <a:solidFill>
                  <a:srgbClr val="2B3D4F"/>
                </a:solidFill>
              </a:rPr>
              <a:t>↓</a:t>
            </a:r>
            <a:endParaRPr sz="1800"/>
          </a:p>
          <a:p>
            <a:pPr>
              <a:lnSpc>
                <a:spcPct val="100000"/>
              </a:lnSpc>
              <a:spcBef>
                <a:spcPts val="1040"/>
              </a:spcBef>
            </a:pPr>
            <a:endParaRPr sz="1800"/>
          </a:p>
          <a:p>
            <a:pPr marL="182880" indent="-170180">
              <a:lnSpc>
                <a:spcPct val="100000"/>
              </a:lnSpc>
              <a:spcBef>
                <a:spcPts val="5"/>
              </a:spcBef>
              <a:buAutoNum type="arabicPeriod" startAt="2"/>
              <a:tabLst>
                <a:tab pos="182880" algn="l"/>
              </a:tabLst>
            </a:pPr>
            <a:r>
              <a:rPr spc="-10" dirty="0"/>
              <a:t>Implement</a:t>
            </a:r>
            <a:r>
              <a:rPr spc="-15" dirty="0"/>
              <a:t> </a:t>
            </a:r>
            <a:r>
              <a:rPr spc="-10" dirty="0"/>
              <a:t>user</a:t>
            </a:r>
            <a:r>
              <a:rPr spc="-30" dirty="0"/>
              <a:t> </a:t>
            </a:r>
            <a:r>
              <a:rPr spc="-10" dirty="0"/>
              <a:t>authentication</a:t>
            </a:r>
            <a:r>
              <a:rPr spc="-40" dirty="0"/>
              <a:t> </a:t>
            </a:r>
            <a:r>
              <a:rPr spc="-25" dirty="0"/>
              <a:t>using</a:t>
            </a:r>
            <a:r>
              <a:rPr spc="-50" dirty="0"/>
              <a:t> </a:t>
            </a:r>
            <a:r>
              <a:rPr dirty="0"/>
              <a:t>JWT</a:t>
            </a:r>
            <a:r>
              <a:rPr spc="10" dirty="0"/>
              <a:t> </a:t>
            </a:r>
            <a:r>
              <a:rPr spc="-10" dirty="0"/>
              <a:t>tokens</a:t>
            </a:r>
          </a:p>
          <a:p>
            <a:pPr>
              <a:lnSpc>
                <a:spcPct val="100000"/>
              </a:lnSpc>
              <a:spcBef>
                <a:spcPts val="1605"/>
              </a:spcBef>
              <a:buClr>
                <a:srgbClr val="333333"/>
              </a:buClr>
              <a:buFont typeface="Calibri"/>
              <a:buAutoNum type="arabicPeriod" startAt="2"/>
            </a:pPr>
            <a:endParaRPr spc="-10" dirty="0"/>
          </a:p>
          <a:p>
            <a:pPr marR="974725" algn="r">
              <a:lnSpc>
                <a:spcPct val="100000"/>
              </a:lnSpc>
            </a:pPr>
            <a:r>
              <a:rPr sz="1800" spc="-50" dirty="0">
                <a:solidFill>
                  <a:srgbClr val="2B3D4F"/>
                </a:solidFill>
              </a:rPr>
              <a:t>↓</a:t>
            </a:r>
            <a:endParaRPr sz="1800"/>
          </a:p>
          <a:p>
            <a:pPr>
              <a:lnSpc>
                <a:spcPct val="100000"/>
              </a:lnSpc>
              <a:spcBef>
                <a:spcPts val="1040"/>
              </a:spcBef>
            </a:pPr>
            <a:endParaRPr sz="1800"/>
          </a:p>
          <a:p>
            <a:pPr marL="182880" indent="-170180">
              <a:lnSpc>
                <a:spcPct val="100000"/>
              </a:lnSpc>
              <a:spcBef>
                <a:spcPts val="5"/>
              </a:spcBef>
              <a:buAutoNum type="arabicPeriod" startAt="3"/>
              <a:tabLst>
                <a:tab pos="182880" algn="l"/>
              </a:tabLst>
            </a:pPr>
            <a:r>
              <a:rPr dirty="0"/>
              <a:t>Develop</a:t>
            </a:r>
            <a:r>
              <a:rPr spc="-65" dirty="0"/>
              <a:t> </a:t>
            </a:r>
            <a:r>
              <a:rPr spc="-10" dirty="0"/>
              <a:t>product</a:t>
            </a:r>
            <a:r>
              <a:rPr spc="-30" dirty="0"/>
              <a:t> </a:t>
            </a:r>
            <a:r>
              <a:rPr dirty="0"/>
              <a:t>catalog</a:t>
            </a:r>
            <a:r>
              <a:rPr spc="-65" dirty="0"/>
              <a:t> </a:t>
            </a:r>
            <a:r>
              <a:rPr dirty="0"/>
              <a:t>with</a:t>
            </a:r>
            <a:r>
              <a:rPr spc="-60" dirty="0"/>
              <a:t> </a:t>
            </a:r>
            <a:r>
              <a:rPr dirty="0"/>
              <a:t>MongoDB</a:t>
            </a:r>
            <a:r>
              <a:rPr spc="-15" dirty="0"/>
              <a:t> </a:t>
            </a:r>
            <a:r>
              <a:rPr spc="-10" dirty="0"/>
              <a:t>database</a:t>
            </a:r>
          </a:p>
          <a:p>
            <a:pPr>
              <a:lnSpc>
                <a:spcPct val="100000"/>
              </a:lnSpc>
              <a:spcBef>
                <a:spcPts val="1605"/>
              </a:spcBef>
              <a:buClr>
                <a:srgbClr val="333333"/>
              </a:buClr>
              <a:buFont typeface="Calibri"/>
              <a:buAutoNum type="arabicPeriod" startAt="3"/>
            </a:pPr>
            <a:endParaRPr spc="-10" dirty="0"/>
          </a:p>
          <a:p>
            <a:pPr marR="974725" algn="r">
              <a:lnSpc>
                <a:spcPct val="100000"/>
              </a:lnSpc>
            </a:pPr>
            <a:r>
              <a:rPr sz="1800" spc="-50" dirty="0">
                <a:solidFill>
                  <a:srgbClr val="2B3D4F"/>
                </a:solidFill>
              </a:rPr>
              <a:t>↓</a:t>
            </a:r>
            <a:endParaRPr sz="1800"/>
          </a:p>
          <a:p>
            <a:pPr>
              <a:lnSpc>
                <a:spcPct val="100000"/>
              </a:lnSpc>
              <a:spcBef>
                <a:spcPts val="1115"/>
              </a:spcBef>
            </a:pPr>
            <a:endParaRPr sz="1800"/>
          </a:p>
          <a:p>
            <a:pPr marL="182880" indent="-170180">
              <a:lnSpc>
                <a:spcPct val="100000"/>
              </a:lnSpc>
              <a:spcBef>
                <a:spcPts val="5"/>
              </a:spcBef>
              <a:buAutoNum type="arabicPeriod" startAt="4"/>
              <a:tabLst>
                <a:tab pos="182880" algn="l"/>
              </a:tabLst>
            </a:pPr>
            <a:r>
              <a:rPr spc="-10" dirty="0"/>
              <a:t>Integrate</a:t>
            </a:r>
            <a:r>
              <a:rPr spc="-35" dirty="0"/>
              <a:t> </a:t>
            </a:r>
            <a:r>
              <a:rPr spc="-10" dirty="0"/>
              <a:t>payment</a:t>
            </a:r>
            <a:r>
              <a:rPr spc="-35" dirty="0"/>
              <a:t> </a:t>
            </a:r>
            <a:r>
              <a:rPr dirty="0"/>
              <a:t>gateway</a:t>
            </a:r>
            <a:r>
              <a:rPr spc="-40" dirty="0"/>
              <a:t> </a:t>
            </a:r>
            <a:r>
              <a:rPr spc="-10" dirty="0"/>
              <a:t>(Stripe/Razorpay)</a:t>
            </a:r>
          </a:p>
          <a:p>
            <a:pPr>
              <a:lnSpc>
                <a:spcPct val="100000"/>
              </a:lnSpc>
              <a:spcBef>
                <a:spcPts val="1530"/>
              </a:spcBef>
              <a:buClr>
                <a:srgbClr val="333333"/>
              </a:buClr>
              <a:buFont typeface="Calibri"/>
              <a:buAutoNum type="arabicPeriod" startAt="4"/>
            </a:pPr>
            <a:endParaRPr spc="-10" dirty="0"/>
          </a:p>
          <a:p>
            <a:pPr marR="974725" algn="r">
              <a:lnSpc>
                <a:spcPct val="100000"/>
              </a:lnSpc>
            </a:pPr>
            <a:r>
              <a:rPr sz="1800" spc="-50" dirty="0">
                <a:solidFill>
                  <a:srgbClr val="2B3D4F"/>
                </a:solidFill>
              </a:rPr>
              <a:t>↓</a:t>
            </a:r>
            <a:endParaRPr sz="1800"/>
          </a:p>
          <a:p>
            <a:pPr>
              <a:lnSpc>
                <a:spcPct val="100000"/>
              </a:lnSpc>
              <a:spcBef>
                <a:spcPts val="1115"/>
              </a:spcBef>
            </a:pPr>
            <a:endParaRPr sz="1800"/>
          </a:p>
          <a:p>
            <a:pPr marL="182880" indent="-170180">
              <a:lnSpc>
                <a:spcPct val="100000"/>
              </a:lnSpc>
              <a:spcBef>
                <a:spcPts val="5"/>
              </a:spcBef>
              <a:buAutoNum type="arabicPeriod" startAt="5"/>
              <a:tabLst>
                <a:tab pos="182880" algn="l"/>
              </a:tabLst>
            </a:pPr>
            <a:r>
              <a:rPr spc="-10" dirty="0"/>
              <a:t>Build</a:t>
            </a:r>
            <a:r>
              <a:rPr spc="-45" dirty="0"/>
              <a:t> </a:t>
            </a:r>
            <a:r>
              <a:rPr spc="-10" dirty="0"/>
              <a:t>admin</a:t>
            </a:r>
            <a:r>
              <a:rPr spc="-40" dirty="0"/>
              <a:t> </a:t>
            </a:r>
            <a:r>
              <a:rPr spc="-10" dirty="0"/>
              <a:t>dashboard</a:t>
            </a:r>
            <a:r>
              <a:rPr spc="-40" dirty="0"/>
              <a:t> </a:t>
            </a:r>
            <a:r>
              <a:rPr dirty="0"/>
              <a:t>for</a:t>
            </a:r>
            <a:r>
              <a:rPr spc="-35" dirty="0"/>
              <a:t> </a:t>
            </a:r>
            <a:r>
              <a:rPr spc="-10" dirty="0"/>
              <a:t>order</a:t>
            </a:r>
            <a:r>
              <a:rPr spc="-30" dirty="0"/>
              <a:t> </a:t>
            </a:r>
            <a:r>
              <a:rPr spc="-10" dirty="0"/>
              <a:t>management</a:t>
            </a:r>
          </a:p>
          <a:p>
            <a:pPr>
              <a:lnSpc>
                <a:spcPct val="100000"/>
              </a:lnSpc>
              <a:spcBef>
                <a:spcPts val="1605"/>
              </a:spcBef>
              <a:buClr>
                <a:srgbClr val="333333"/>
              </a:buClr>
              <a:buFont typeface="Calibri"/>
              <a:buAutoNum type="arabicPeriod" startAt="5"/>
            </a:pPr>
            <a:endParaRPr spc="-10" dirty="0"/>
          </a:p>
          <a:p>
            <a:pPr marR="974725" algn="r">
              <a:lnSpc>
                <a:spcPct val="100000"/>
              </a:lnSpc>
            </a:pPr>
            <a:r>
              <a:rPr sz="1800" spc="-50" dirty="0">
                <a:solidFill>
                  <a:srgbClr val="2B3D4F"/>
                </a:solidFill>
              </a:rPr>
              <a:t>↓</a:t>
            </a:r>
            <a:endParaRPr sz="1800"/>
          </a:p>
          <a:p>
            <a:pPr>
              <a:lnSpc>
                <a:spcPct val="100000"/>
              </a:lnSpc>
              <a:spcBef>
                <a:spcPts val="1040"/>
              </a:spcBef>
            </a:pPr>
            <a:endParaRPr sz="1800"/>
          </a:p>
          <a:p>
            <a:pPr marL="182880" indent="-170180">
              <a:lnSpc>
                <a:spcPct val="100000"/>
              </a:lnSpc>
              <a:buAutoNum type="arabicPeriod" startAt="6"/>
              <a:tabLst>
                <a:tab pos="182880" algn="l"/>
              </a:tabLst>
            </a:pPr>
            <a:r>
              <a:rPr dirty="0"/>
              <a:t>Deploy</a:t>
            </a:r>
            <a:r>
              <a:rPr spc="-20" dirty="0"/>
              <a:t> </a:t>
            </a:r>
            <a:r>
              <a:rPr dirty="0"/>
              <a:t>on</a:t>
            </a:r>
            <a:r>
              <a:rPr spc="-40" dirty="0"/>
              <a:t> </a:t>
            </a:r>
            <a:r>
              <a:rPr dirty="0"/>
              <a:t>cloud</a:t>
            </a:r>
            <a:r>
              <a:rPr spc="-40" dirty="0"/>
              <a:t> </a:t>
            </a:r>
            <a:r>
              <a:rPr spc="-10" dirty="0"/>
              <a:t>platform</a:t>
            </a:r>
            <a:r>
              <a:rPr spc="-35" dirty="0"/>
              <a:t> </a:t>
            </a:r>
            <a:r>
              <a:rPr dirty="0"/>
              <a:t>with</a:t>
            </a:r>
            <a:r>
              <a:rPr spc="-40" dirty="0"/>
              <a:t> </a:t>
            </a:r>
            <a:r>
              <a:rPr dirty="0"/>
              <a:t>CI/CD</a:t>
            </a:r>
            <a:r>
              <a:rPr spc="-15" dirty="0"/>
              <a:t> </a:t>
            </a:r>
            <a:r>
              <a:rPr spc="-10" dirty="0"/>
              <a:t>pipeline</a:t>
            </a:r>
          </a:p>
        </p:txBody>
      </p:sp>
      <p:sp>
        <p:nvSpPr>
          <p:cNvPr id="5" name="object 5"/>
          <p:cNvSpPr/>
          <p:nvPr/>
        </p:nvSpPr>
        <p:spPr>
          <a:xfrm>
            <a:off x="933449" y="3162297"/>
            <a:ext cx="38100" cy="561975"/>
          </a:xfrm>
          <a:custGeom>
            <a:avLst/>
            <a:gdLst/>
            <a:ahLst/>
            <a:cxnLst/>
            <a:rect l="l" t="t" r="r" b="b"/>
            <a:pathLst>
              <a:path w="38100" h="561975">
                <a:moveTo>
                  <a:pt x="38099" y="561974"/>
                </a:moveTo>
                <a:lnTo>
                  <a:pt x="0" y="561974"/>
                </a:lnTo>
                <a:lnTo>
                  <a:pt x="0" y="0"/>
                </a:lnTo>
                <a:lnTo>
                  <a:pt x="38099" y="0"/>
                </a:lnTo>
                <a:lnTo>
                  <a:pt x="38099" y="561974"/>
                </a:lnTo>
                <a:close/>
              </a:path>
            </a:pathLst>
          </a:custGeom>
          <a:solidFill>
            <a:srgbClr val="2B3D4F"/>
          </a:solidFill>
        </p:spPr>
        <p:txBody>
          <a:bodyPr wrap="square" lIns="0" tIns="0" rIns="0" bIns="0" rtlCol="0"/>
          <a:lstStyle/>
          <a:p>
            <a:endParaRPr/>
          </a:p>
        </p:txBody>
      </p:sp>
      <p:sp>
        <p:nvSpPr>
          <p:cNvPr id="6" name="object 6"/>
          <p:cNvSpPr/>
          <p:nvPr/>
        </p:nvSpPr>
        <p:spPr>
          <a:xfrm>
            <a:off x="933449" y="4467222"/>
            <a:ext cx="38100" cy="561975"/>
          </a:xfrm>
          <a:custGeom>
            <a:avLst/>
            <a:gdLst/>
            <a:ahLst/>
            <a:cxnLst/>
            <a:rect l="l" t="t" r="r" b="b"/>
            <a:pathLst>
              <a:path w="38100" h="561975">
                <a:moveTo>
                  <a:pt x="38099" y="561974"/>
                </a:moveTo>
                <a:lnTo>
                  <a:pt x="0" y="561974"/>
                </a:lnTo>
                <a:lnTo>
                  <a:pt x="0" y="0"/>
                </a:lnTo>
                <a:lnTo>
                  <a:pt x="38099" y="0"/>
                </a:lnTo>
                <a:lnTo>
                  <a:pt x="38099" y="561974"/>
                </a:lnTo>
                <a:close/>
              </a:path>
            </a:pathLst>
          </a:custGeom>
          <a:solidFill>
            <a:srgbClr val="2B3D4F"/>
          </a:solidFill>
        </p:spPr>
        <p:txBody>
          <a:bodyPr wrap="square" lIns="0" tIns="0" rIns="0" bIns="0" rtlCol="0"/>
          <a:lstStyle/>
          <a:p>
            <a:endParaRPr/>
          </a:p>
        </p:txBody>
      </p:sp>
      <p:sp>
        <p:nvSpPr>
          <p:cNvPr id="7" name="object 7"/>
          <p:cNvSpPr/>
          <p:nvPr/>
        </p:nvSpPr>
        <p:spPr>
          <a:xfrm>
            <a:off x="933449" y="5781672"/>
            <a:ext cx="38100" cy="552450"/>
          </a:xfrm>
          <a:custGeom>
            <a:avLst/>
            <a:gdLst/>
            <a:ahLst/>
            <a:cxnLst/>
            <a:rect l="l" t="t" r="r" b="b"/>
            <a:pathLst>
              <a:path w="38100" h="552450">
                <a:moveTo>
                  <a:pt x="38099" y="552449"/>
                </a:moveTo>
                <a:lnTo>
                  <a:pt x="0" y="552449"/>
                </a:lnTo>
                <a:lnTo>
                  <a:pt x="0" y="0"/>
                </a:lnTo>
                <a:lnTo>
                  <a:pt x="38099" y="0"/>
                </a:lnTo>
                <a:lnTo>
                  <a:pt x="38099" y="552449"/>
                </a:lnTo>
                <a:close/>
              </a:path>
            </a:pathLst>
          </a:custGeom>
          <a:solidFill>
            <a:srgbClr val="2B3D4F"/>
          </a:solidFill>
        </p:spPr>
        <p:txBody>
          <a:bodyPr wrap="square" lIns="0" tIns="0" rIns="0" bIns="0" rtlCol="0"/>
          <a:lstStyle/>
          <a:p>
            <a:endParaRPr/>
          </a:p>
        </p:txBody>
      </p:sp>
      <p:sp>
        <p:nvSpPr>
          <p:cNvPr id="8" name="object 8"/>
          <p:cNvSpPr/>
          <p:nvPr/>
        </p:nvSpPr>
        <p:spPr>
          <a:xfrm>
            <a:off x="933449" y="7086596"/>
            <a:ext cx="38100" cy="561975"/>
          </a:xfrm>
          <a:custGeom>
            <a:avLst/>
            <a:gdLst/>
            <a:ahLst/>
            <a:cxnLst/>
            <a:rect l="l" t="t" r="r" b="b"/>
            <a:pathLst>
              <a:path w="38100" h="561975">
                <a:moveTo>
                  <a:pt x="38099" y="561974"/>
                </a:moveTo>
                <a:lnTo>
                  <a:pt x="0" y="561974"/>
                </a:lnTo>
                <a:lnTo>
                  <a:pt x="0" y="0"/>
                </a:lnTo>
                <a:lnTo>
                  <a:pt x="38099" y="0"/>
                </a:lnTo>
                <a:lnTo>
                  <a:pt x="38099" y="561974"/>
                </a:lnTo>
                <a:close/>
              </a:path>
            </a:pathLst>
          </a:custGeom>
          <a:solidFill>
            <a:srgbClr val="2B3D4F"/>
          </a:solidFill>
        </p:spPr>
        <p:txBody>
          <a:bodyPr wrap="square" lIns="0" tIns="0" rIns="0" bIns="0" rtlCol="0"/>
          <a:lstStyle/>
          <a:p>
            <a:endParaRPr/>
          </a:p>
        </p:txBody>
      </p:sp>
      <p:sp>
        <p:nvSpPr>
          <p:cNvPr id="9" name="object 9"/>
          <p:cNvSpPr/>
          <p:nvPr/>
        </p:nvSpPr>
        <p:spPr>
          <a:xfrm>
            <a:off x="933449" y="8391521"/>
            <a:ext cx="38100" cy="561975"/>
          </a:xfrm>
          <a:custGeom>
            <a:avLst/>
            <a:gdLst/>
            <a:ahLst/>
            <a:cxnLst/>
            <a:rect l="l" t="t" r="r" b="b"/>
            <a:pathLst>
              <a:path w="38100" h="561975">
                <a:moveTo>
                  <a:pt x="38099" y="561974"/>
                </a:moveTo>
                <a:lnTo>
                  <a:pt x="0" y="561974"/>
                </a:lnTo>
                <a:lnTo>
                  <a:pt x="0" y="0"/>
                </a:lnTo>
                <a:lnTo>
                  <a:pt x="38099" y="0"/>
                </a:lnTo>
                <a:lnTo>
                  <a:pt x="38099" y="561974"/>
                </a:lnTo>
                <a:close/>
              </a:path>
            </a:pathLst>
          </a:custGeom>
          <a:solidFill>
            <a:srgbClr val="2B3D4F"/>
          </a:solid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Objectives</a:t>
            </a:r>
          </a:p>
        </p:txBody>
      </p:sp>
      <p:sp>
        <p:nvSpPr>
          <p:cNvPr id="3" name="object 3"/>
          <p:cNvSpPr/>
          <p:nvPr/>
        </p:nvSpPr>
        <p:spPr>
          <a:xfrm>
            <a:off x="933449" y="2562222"/>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4" name="object 4"/>
          <p:cNvSpPr/>
          <p:nvPr/>
        </p:nvSpPr>
        <p:spPr>
          <a:xfrm>
            <a:off x="933449" y="3467097"/>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5" name="object 5"/>
          <p:cNvSpPr/>
          <p:nvPr/>
        </p:nvSpPr>
        <p:spPr>
          <a:xfrm>
            <a:off x="933449" y="4371971"/>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6" name="object 6"/>
          <p:cNvSpPr/>
          <p:nvPr/>
        </p:nvSpPr>
        <p:spPr>
          <a:xfrm>
            <a:off x="933449" y="5276846"/>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7" name="object 7"/>
          <p:cNvSpPr txBox="1"/>
          <p:nvPr/>
        </p:nvSpPr>
        <p:spPr>
          <a:xfrm>
            <a:off x="920750" y="1749425"/>
            <a:ext cx="5583555" cy="4254500"/>
          </a:xfrm>
          <a:prstGeom prst="rect">
            <a:avLst/>
          </a:prstGeom>
        </p:spPr>
        <p:txBody>
          <a:bodyPr vert="horz" wrap="square" lIns="0" tIns="12700" rIns="0" bIns="0" rtlCol="0">
            <a:spAutoFit/>
          </a:bodyPr>
          <a:lstStyle/>
          <a:p>
            <a:pPr marL="345440" marR="27940" indent="-333375">
              <a:lnSpc>
                <a:spcPct val="133300"/>
              </a:lnSpc>
              <a:spcBef>
                <a:spcPts val="100"/>
              </a:spcBef>
              <a:buClr>
                <a:srgbClr val="2B3D4F"/>
              </a:buClr>
              <a:buSzPct val="140000"/>
              <a:buChar char="•"/>
              <a:tabLst>
                <a:tab pos="345440" algn="l"/>
              </a:tabLst>
            </a:pPr>
            <a:r>
              <a:rPr sz="1500" dirty="0">
                <a:solidFill>
                  <a:srgbClr val="333333"/>
                </a:solidFill>
                <a:latin typeface="Calibri"/>
                <a:cs typeface="Calibri"/>
              </a:rPr>
              <a:t>Build</a:t>
            </a:r>
            <a:r>
              <a:rPr sz="1500" spc="105" dirty="0">
                <a:solidFill>
                  <a:srgbClr val="333333"/>
                </a:solidFill>
                <a:latin typeface="Calibri"/>
                <a:cs typeface="Calibri"/>
              </a:rPr>
              <a:t> </a:t>
            </a:r>
            <a:r>
              <a:rPr sz="1500" dirty="0">
                <a:solidFill>
                  <a:srgbClr val="333333"/>
                </a:solidFill>
                <a:latin typeface="Calibri"/>
                <a:cs typeface="Calibri"/>
              </a:rPr>
              <a:t>a</a:t>
            </a:r>
            <a:r>
              <a:rPr sz="1500" spc="105" dirty="0">
                <a:solidFill>
                  <a:srgbClr val="333333"/>
                </a:solidFill>
                <a:latin typeface="Calibri"/>
                <a:cs typeface="Calibri"/>
              </a:rPr>
              <a:t> </a:t>
            </a:r>
            <a:r>
              <a:rPr sz="1500" dirty="0">
                <a:solidFill>
                  <a:srgbClr val="333333"/>
                </a:solidFill>
                <a:latin typeface="Calibri"/>
                <a:cs typeface="Calibri"/>
              </a:rPr>
              <a:t>scalable</a:t>
            </a:r>
            <a:r>
              <a:rPr sz="1500" spc="70" dirty="0">
                <a:solidFill>
                  <a:srgbClr val="333333"/>
                </a:solidFill>
                <a:latin typeface="Calibri"/>
                <a:cs typeface="Calibri"/>
              </a:rPr>
              <a:t> </a:t>
            </a:r>
            <a:r>
              <a:rPr sz="1500" dirty="0">
                <a:solidFill>
                  <a:srgbClr val="333333"/>
                </a:solidFill>
                <a:latin typeface="Calibri"/>
                <a:cs typeface="Calibri"/>
              </a:rPr>
              <a:t>full-stack</a:t>
            </a:r>
            <a:r>
              <a:rPr sz="1500" spc="55" dirty="0">
                <a:solidFill>
                  <a:srgbClr val="333333"/>
                </a:solidFill>
                <a:latin typeface="Calibri"/>
                <a:cs typeface="Calibri"/>
              </a:rPr>
              <a:t> </a:t>
            </a:r>
            <a:r>
              <a:rPr sz="1500" spc="-20" dirty="0">
                <a:solidFill>
                  <a:srgbClr val="333333"/>
                </a:solidFill>
                <a:latin typeface="Calibri"/>
                <a:cs typeface="Calibri"/>
              </a:rPr>
              <a:t>e-</a:t>
            </a:r>
            <a:r>
              <a:rPr sz="1500" dirty="0">
                <a:solidFill>
                  <a:srgbClr val="333333"/>
                </a:solidFill>
                <a:latin typeface="Calibri"/>
                <a:cs typeface="Calibri"/>
              </a:rPr>
              <a:t>commerce</a:t>
            </a:r>
            <a:r>
              <a:rPr sz="1500" spc="70" dirty="0">
                <a:solidFill>
                  <a:srgbClr val="333333"/>
                </a:solidFill>
                <a:latin typeface="Calibri"/>
                <a:cs typeface="Calibri"/>
              </a:rPr>
              <a:t> </a:t>
            </a:r>
            <a:r>
              <a:rPr sz="1500" dirty="0">
                <a:solidFill>
                  <a:srgbClr val="333333"/>
                </a:solidFill>
                <a:latin typeface="Calibri"/>
                <a:cs typeface="Calibri"/>
              </a:rPr>
              <a:t>platform</a:t>
            </a:r>
            <a:r>
              <a:rPr sz="1500" spc="70" dirty="0">
                <a:solidFill>
                  <a:srgbClr val="333333"/>
                </a:solidFill>
                <a:latin typeface="Calibri"/>
                <a:cs typeface="Calibri"/>
              </a:rPr>
              <a:t> </a:t>
            </a:r>
            <a:r>
              <a:rPr sz="1500" dirty="0">
                <a:solidFill>
                  <a:srgbClr val="333333"/>
                </a:solidFill>
                <a:latin typeface="Calibri"/>
                <a:cs typeface="Calibri"/>
              </a:rPr>
              <a:t>using</a:t>
            </a:r>
            <a:r>
              <a:rPr sz="1500" spc="35" dirty="0">
                <a:solidFill>
                  <a:srgbClr val="333333"/>
                </a:solidFill>
                <a:latin typeface="Calibri"/>
                <a:cs typeface="Calibri"/>
              </a:rPr>
              <a:t> </a:t>
            </a:r>
            <a:r>
              <a:rPr sz="1500" dirty="0">
                <a:solidFill>
                  <a:srgbClr val="333333"/>
                </a:solidFill>
                <a:latin typeface="Calibri"/>
                <a:cs typeface="Calibri"/>
              </a:rPr>
              <a:t>MERN</a:t>
            </a:r>
            <a:r>
              <a:rPr sz="1500" spc="75" dirty="0">
                <a:solidFill>
                  <a:srgbClr val="333333"/>
                </a:solidFill>
                <a:latin typeface="Calibri"/>
                <a:cs typeface="Calibri"/>
              </a:rPr>
              <a:t> </a:t>
            </a:r>
            <a:r>
              <a:rPr sz="1500" spc="-10" dirty="0">
                <a:solidFill>
                  <a:srgbClr val="333333"/>
                </a:solidFill>
                <a:latin typeface="Calibri"/>
                <a:cs typeface="Calibri"/>
              </a:rPr>
              <a:t>stack technologies</a:t>
            </a:r>
            <a:endParaRPr sz="1500">
              <a:latin typeface="Calibri"/>
              <a:cs typeface="Calibri"/>
            </a:endParaRPr>
          </a:p>
          <a:p>
            <a:pPr>
              <a:lnSpc>
                <a:spcPct val="100000"/>
              </a:lnSpc>
              <a:spcBef>
                <a:spcPts val="495"/>
              </a:spcBef>
              <a:buClr>
                <a:srgbClr val="2B3D4F"/>
              </a:buClr>
              <a:buFont typeface="Calibri"/>
              <a:buChar char="•"/>
            </a:pPr>
            <a:endParaRPr sz="1500">
              <a:latin typeface="Calibri"/>
              <a:cs typeface="Calibri"/>
            </a:endParaRPr>
          </a:p>
          <a:p>
            <a:pPr marL="345440" marR="155575" indent="-333375">
              <a:lnSpc>
                <a:spcPct val="133300"/>
              </a:lnSpc>
              <a:buClr>
                <a:srgbClr val="2B3D4F"/>
              </a:buClr>
              <a:buSzPct val="140000"/>
              <a:buChar char="•"/>
              <a:tabLst>
                <a:tab pos="345440" algn="l"/>
              </a:tabLst>
            </a:pPr>
            <a:r>
              <a:rPr sz="1500" dirty="0">
                <a:solidFill>
                  <a:srgbClr val="333333"/>
                </a:solidFill>
                <a:latin typeface="Calibri"/>
                <a:cs typeface="Calibri"/>
              </a:rPr>
              <a:t>Integrate</a:t>
            </a:r>
            <a:r>
              <a:rPr sz="1500" spc="125" dirty="0">
                <a:solidFill>
                  <a:srgbClr val="333333"/>
                </a:solidFill>
                <a:latin typeface="Calibri"/>
                <a:cs typeface="Calibri"/>
              </a:rPr>
              <a:t> </a:t>
            </a:r>
            <a:r>
              <a:rPr sz="1500" dirty="0">
                <a:solidFill>
                  <a:srgbClr val="333333"/>
                </a:solidFill>
                <a:latin typeface="Calibri"/>
                <a:cs typeface="Calibri"/>
              </a:rPr>
              <a:t>dropshipping</a:t>
            </a:r>
            <a:r>
              <a:rPr sz="1500" spc="85" dirty="0">
                <a:solidFill>
                  <a:srgbClr val="333333"/>
                </a:solidFill>
                <a:latin typeface="Calibri"/>
                <a:cs typeface="Calibri"/>
              </a:rPr>
              <a:t> </a:t>
            </a:r>
            <a:r>
              <a:rPr sz="1500" dirty="0">
                <a:solidFill>
                  <a:srgbClr val="333333"/>
                </a:solidFill>
                <a:latin typeface="Calibri"/>
                <a:cs typeface="Calibri"/>
              </a:rPr>
              <a:t>model</a:t>
            </a:r>
            <a:r>
              <a:rPr sz="1500" spc="160" dirty="0">
                <a:solidFill>
                  <a:srgbClr val="333333"/>
                </a:solidFill>
                <a:latin typeface="Calibri"/>
                <a:cs typeface="Calibri"/>
              </a:rPr>
              <a:t> </a:t>
            </a:r>
            <a:r>
              <a:rPr sz="1500" dirty="0">
                <a:solidFill>
                  <a:srgbClr val="333333"/>
                </a:solidFill>
                <a:latin typeface="Calibri"/>
                <a:cs typeface="Calibri"/>
              </a:rPr>
              <a:t>with</a:t>
            </a:r>
            <a:r>
              <a:rPr sz="1500" spc="175" dirty="0">
                <a:solidFill>
                  <a:srgbClr val="333333"/>
                </a:solidFill>
                <a:latin typeface="Calibri"/>
                <a:cs typeface="Calibri"/>
              </a:rPr>
              <a:t> </a:t>
            </a:r>
            <a:r>
              <a:rPr sz="1500" dirty="0">
                <a:solidFill>
                  <a:srgbClr val="333333"/>
                </a:solidFill>
                <a:latin typeface="Calibri"/>
                <a:cs typeface="Calibri"/>
              </a:rPr>
              <a:t>automated</a:t>
            </a:r>
            <a:r>
              <a:rPr sz="1500" spc="170" dirty="0">
                <a:solidFill>
                  <a:srgbClr val="333333"/>
                </a:solidFill>
                <a:latin typeface="Calibri"/>
                <a:cs typeface="Calibri"/>
              </a:rPr>
              <a:t> </a:t>
            </a:r>
            <a:r>
              <a:rPr sz="1500" dirty="0">
                <a:solidFill>
                  <a:srgbClr val="333333"/>
                </a:solidFill>
                <a:latin typeface="Calibri"/>
                <a:cs typeface="Calibri"/>
              </a:rPr>
              <a:t>order</a:t>
            </a:r>
            <a:r>
              <a:rPr sz="1500" spc="125" dirty="0">
                <a:solidFill>
                  <a:srgbClr val="333333"/>
                </a:solidFill>
                <a:latin typeface="Calibri"/>
                <a:cs typeface="Calibri"/>
              </a:rPr>
              <a:t> </a:t>
            </a:r>
            <a:r>
              <a:rPr sz="1500" spc="-10" dirty="0">
                <a:solidFill>
                  <a:srgbClr val="333333"/>
                </a:solidFill>
                <a:latin typeface="Calibri"/>
                <a:cs typeface="Calibri"/>
              </a:rPr>
              <a:t>fulfillment capabilities</a:t>
            </a:r>
            <a:endParaRPr sz="1500">
              <a:latin typeface="Calibri"/>
              <a:cs typeface="Calibri"/>
            </a:endParaRPr>
          </a:p>
          <a:p>
            <a:pPr>
              <a:lnSpc>
                <a:spcPct val="100000"/>
              </a:lnSpc>
              <a:spcBef>
                <a:spcPts val="490"/>
              </a:spcBef>
              <a:buClr>
                <a:srgbClr val="2B3D4F"/>
              </a:buClr>
              <a:buFont typeface="Calibri"/>
              <a:buChar char="•"/>
            </a:pPr>
            <a:endParaRPr sz="1500">
              <a:latin typeface="Calibri"/>
              <a:cs typeface="Calibri"/>
            </a:endParaRPr>
          </a:p>
          <a:p>
            <a:pPr marL="345440" marR="5080" indent="-333375">
              <a:lnSpc>
                <a:spcPct val="133300"/>
              </a:lnSpc>
              <a:spcBef>
                <a:spcPts val="5"/>
              </a:spcBef>
              <a:buClr>
                <a:srgbClr val="2B3D4F"/>
              </a:buClr>
              <a:buSzPct val="140000"/>
              <a:buChar char="•"/>
              <a:tabLst>
                <a:tab pos="345440" algn="l"/>
              </a:tabLst>
            </a:pPr>
            <a:r>
              <a:rPr sz="1500" dirty="0">
                <a:solidFill>
                  <a:srgbClr val="333333"/>
                </a:solidFill>
                <a:latin typeface="Calibri"/>
                <a:cs typeface="Calibri"/>
              </a:rPr>
              <a:t>Implement</a:t>
            </a:r>
            <a:r>
              <a:rPr sz="1500" spc="130" dirty="0">
                <a:solidFill>
                  <a:srgbClr val="333333"/>
                </a:solidFill>
                <a:latin typeface="Calibri"/>
                <a:cs typeface="Calibri"/>
              </a:rPr>
              <a:t> </a:t>
            </a:r>
            <a:r>
              <a:rPr sz="1500" dirty="0">
                <a:solidFill>
                  <a:srgbClr val="333333"/>
                </a:solidFill>
                <a:latin typeface="Calibri"/>
                <a:cs typeface="Calibri"/>
              </a:rPr>
              <a:t>secure</a:t>
            </a:r>
            <a:r>
              <a:rPr sz="1500" spc="114" dirty="0">
                <a:solidFill>
                  <a:srgbClr val="333333"/>
                </a:solidFill>
                <a:latin typeface="Calibri"/>
                <a:cs typeface="Calibri"/>
              </a:rPr>
              <a:t> </a:t>
            </a:r>
            <a:r>
              <a:rPr sz="1500" dirty="0">
                <a:solidFill>
                  <a:srgbClr val="333333"/>
                </a:solidFill>
                <a:latin typeface="Calibri"/>
                <a:cs typeface="Calibri"/>
              </a:rPr>
              <a:t>payment</a:t>
            </a:r>
            <a:r>
              <a:rPr sz="1500" spc="130" dirty="0">
                <a:solidFill>
                  <a:srgbClr val="333333"/>
                </a:solidFill>
                <a:latin typeface="Calibri"/>
                <a:cs typeface="Calibri"/>
              </a:rPr>
              <a:t> </a:t>
            </a:r>
            <a:r>
              <a:rPr sz="1500" dirty="0">
                <a:solidFill>
                  <a:srgbClr val="333333"/>
                </a:solidFill>
                <a:latin typeface="Calibri"/>
                <a:cs typeface="Calibri"/>
              </a:rPr>
              <a:t>processing</a:t>
            </a:r>
            <a:r>
              <a:rPr sz="1500" spc="70" dirty="0">
                <a:solidFill>
                  <a:srgbClr val="333333"/>
                </a:solidFill>
                <a:latin typeface="Calibri"/>
                <a:cs typeface="Calibri"/>
              </a:rPr>
              <a:t> </a:t>
            </a:r>
            <a:r>
              <a:rPr sz="1500" dirty="0">
                <a:solidFill>
                  <a:srgbClr val="333333"/>
                </a:solidFill>
                <a:latin typeface="Calibri"/>
                <a:cs typeface="Calibri"/>
              </a:rPr>
              <a:t>through</a:t>
            </a:r>
            <a:r>
              <a:rPr sz="1500" spc="155" dirty="0">
                <a:solidFill>
                  <a:srgbClr val="333333"/>
                </a:solidFill>
                <a:latin typeface="Calibri"/>
                <a:cs typeface="Calibri"/>
              </a:rPr>
              <a:t> </a:t>
            </a:r>
            <a:r>
              <a:rPr sz="1500" dirty="0">
                <a:solidFill>
                  <a:srgbClr val="333333"/>
                </a:solidFill>
                <a:latin typeface="Calibri"/>
                <a:cs typeface="Calibri"/>
              </a:rPr>
              <a:t>industry-</a:t>
            </a:r>
            <a:r>
              <a:rPr sz="1500" spc="-10" dirty="0">
                <a:solidFill>
                  <a:srgbClr val="333333"/>
                </a:solidFill>
                <a:latin typeface="Calibri"/>
                <a:cs typeface="Calibri"/>
              </a:rPr>
              <a:t>standard </a:t>
            </a:r>
            <a:r>
              <a:rPr sz="1500" dirty="0">
                <a:solidFill>
                  <a:srgbClr val="333333"/>
                </a:solidFill>
                <a:latin typeface="Calibri"/>
                <a:cs typeface="Calibri"/>
              </a:rPr>
              <a:t>payment</a:t>
            </a:r>
            <a:r>
              <a:rPr sz="1500" spc="130" dirty="0">
                <a:solidFill>
                  <a:srgbClr val="333333"/>
                </a:solidFill>
                <a:latin typeface="Calibri"/>
                <a:cs typeface="Calibri"/>
              </a:rPr>
              <a:t> </a:t>
            </a:r>
            <a:r>
              <a:rPr sz="1500" spc="-10" dirty="0">
                <a:solidFill>
                  <a:srgbClr val="333333"/>
                </a:solidFill>
                <a:latin typeface="Calibri"/>
                <a:cs typeface="Calibri"/>
              </a:rPr>
              <a:t>gateways</a:t>
            </a:r>
            <a:endParaRPr sz="1500">
              <a:latin typeface="Calibri"/>
              <a:cs typeface="Calibri"/>
            </a:endParaRPr>
          </a:p>
          <a:p>
            <a:pPr>
              <a:lnSpc>
                <a:spcPct val="100000"/>
              </a:lnSpc>
              <a:spcBef>
                <a:spcPts val="490"/>
              </a:spcBef>
              <a:buClr>
                <a:srgbClr val="2B3D4F"/>
              </a:buClr>
              <a:buFont typeface="Calibri"/>
              <a:buChar char="•"/>
            </a:pPr>
            <a:endParaRPr sz="1500">
              <a:latin typeface="Calibri"/>
              <a:cs typeface="Calibri"/>
            </a:endParaRPr>
          </a:p>
          <a:p>
            <a:pPr marL="345440" marR="314960" indent="-333375">
              <a:lnSpc>
                <a:spcPct val="133300"/>
              </a:lnSpc>
              <a:spcBef>
                <a:spcPts val="5"/>
              </a:spcBef>
              <a:buClr>
                <a:srgbClr val="2B3D4F"/>
              </a:buClr>
              <a:buSzPct val="140000"/>
              <a:buChar char="•"/>
              <a:tabLst>
                <a:tab pos="345440" algn="l"/>
              </a:tabLst>
            </a:pPr>
            <a:r>
              <a:rPr sz="1500" dirty="0">
                <a:solidFill>
                  <a:srgbClr val="333333"/>
                </a:solidFill>
                <a:latin typeface="Calibri"/>
                <a:cs typeface="Calibri"/>
              </a:rPr>
              <a:t>Develop</a:t>
            </a:r>
            <a:r>
              <a:rPr sz="1500" spc="150" dirty="0">
                <a:solidFill>
                  <a:srgbClr val="333333"/>
                </a:solidFill>
                <a:latin typeface="Calibri"/>
                <a:cs typeface="Calibri"/>
              </a:rPr>
              <a:t> </a:t>
            </a:r>
            <a:r>
              <a:rPr sz="1500" dirty="0">
                <a:solidFill>
                  <a:srgbClr val="333333"/>
                </a:solidFill>
                <a:latin typeface="Calibri"/>
                <a:cs typeface="Calibri"/>
              </a:rPr>
              <a:t>an</a:t>
            </a:r>
            <a:r>
              <a:rPr sz="1500" spc="155" dirty="0">
                <a:solidFill>
                  <a:srgbClr val="333333"/>
                </a:solidFill>
                <a:latin typeface="Calibri"/>
                <a:cs typeface="Calibri"/>
              </a:rPr>
              <a:t> </a:t>
            </a:r>
            <a:r>
              <a:rPr sz="1500" dirty="0">
                <a:solidFill>
                  <a:srgbClr val="333333"/>
                </a:solidFill>
                <a:latin typeface="Calibri"/>
                <a:cs typeface="Calibri"/>
              </a:rPr>
              <a:t>administrative</a:t>
            </a:r>
            <a:r>
              <a:rPr sz="1500" spc="110" dirty="0">
                <a:solidFill>
                  <a:srgbClr val="333333"/>
                </a:solidFill>
                <a:latin typeface="Calibri"/>
                <a:cs typeface="Calibri"/>
              </a:rPr>
              <a:t> </a:t>
            </a:r>
            <a:r>
              <a:rPr sz="1500" dirty="0">
                <a:solidFill>
                  <a:srgbClr val="333333"/>
                </a:solidFill>
                <a:latin typeface="Calibri"/>
                <a:cs typeface="Calibri"/>
              </a:rPr>
              <a:t>dashboard</a:t>
            </a:r>
            <a:r>
              <a:rPr sz="1500" spc="150" dirty="0">
                <a:solidFill>
                  <a:srgbClr val="333333"/>
                </a:solidFill>
                <a:latin typeface="Calibri"/>
                <a:cs typeface="Calibri"/>
              </a:rPr>
              <a:t> </a:t>
            </a:r>
            <a:r>
              <a:rPr sz="1500" dirty="0">
                <a:solidFill>
                  <a:srgbClr val="333333"/>
                </a:solidFill>
                <a:latin typeface="Calibri"/>
                <a:cs typeface="Calibri"/>
              </a:rPr>
              <a:t>for</a:t>
            </a:r>
            <a:r>
              <a:rPr sz="1500" spc="110" dirty="0">
                <a:solidFill>
                  <a:srgbClr val="333333"/>
                </a:solidFill>
                <a:latin typeface="Calibri"/>
                <a:cs typeface="Calibri"/>
              </a:rPr>
              <a:t> </a:t>
            </a:r>
            <a:r>
              <a:rPr sz="1500" dirty="0">
                <a:solidFill>
                  <a:srgbClr val="333333"/>
                </a:solidFill>
                <a:latin typeface="Calibri"/>
                <a:cs typeface="Calibri"/>
              </a:rPr>
              <a:t>inventory</a:t>
            </a:r>
            <a:r>
              <a:rPr sz="1500" spc="105" dirty="0">
                <a:solidFill>
                  <a:srgbClr val="333333"/>
                </a:solidFill>
                <a:latin typeface="Calibri"/>
                <a:cs typeface="Calibri"/>
              </a:rPr>
              <a:t> </a:t>
            </a:r>
            <a:r>
              <a:rPr sz="1500" dirty="0">
                <a:solidFill>
                  <a:srgbClr val="333333"/>
                </a:solidFill>
                <a:latin typeface="Calibri"/>
                <a:cs typeface="Calibri"/>
              </a:rPr>
              <a:t>and</a:t>
            </a:r>
            <a:r>
              <a:rPr sz="1500" spc="155" dirty="0">
                <a:solidFill>
                  <a:srgbClr val="333333"/>
                </a:solidFill>
                <a:latin typeface="Calibri"/>
                <a:cs typeface="Calibri"/>
              </a:rPr>
              <a:t> </a:t>
            </a:r>
            <a:r>
              <a:rPr sz="1500" spc="-10" dirty="0">
                <a:solidFill>
                  <a:srgbClr val="333333"/>
                </a:solidFill>
                <a:latin typeface="Calibri"/>
                <a:cs typeface="Calibri"/>
              </a:rPr>
              <a:t>order management</a:t>
            </a:r>
            <a:endParaRPr sz="1500">
              <a:latin typeface="Calibri"/>
              <a:cs typeface="Calibri"/>
            </a:endParaRPr>
          </a:p>
          <a:p>
            <a:pPr>
              <a:lnSpc>
                <a:spcPct val="100000"/>
              </a:lnSpc>
              <a:spcBef>
                <a:spcPts val="490"/>
              </a:spcBef>
              <a:buClr>
                <a:srgbClr val="2B3D4F"/>
              </a:buClr>
              <a:buFont typeface="Calibri"/>
              <a:buChar char="•"/>
            </a:pPr>
            <a:endParaRPr sz="1500">
              <a:latin typeface="Calibri"/>
              <a:cs typeface="Calibri"/>
            </a:endParaRPr>
          </a:p>
          <a:p>
            <a:pPr marL="345440" marR="286385" indent="-333375">
              <a:lnSpc>
                <a:spcPct val="133300"/>
              </a:lnSpc>
              <a:buClr>
                <a:srgbClr val="2B3D4F"/>
              </a:buClr>
              <a:buSzPct val="140000"/>
              <a:buChar char="•"/>
              <a:tabLst>
                <a:tab pos="345440" algn="l"/>
              </a:tabLst>
            </a:pPr>
            <a:r>
              <a:rPr sz="1500" dirty="0">
                <a:solidFill>
                  <a:srgbClr val="333333"/>
                </a:solidFill>
                <a:latin typeface="Calibri"/>
                <a:cs typeface="Calibri"/>
              </a:rPr>
              <a:t>Enable</a:t>
            </a:r>
            <a:r>
              <a:rPr sz="1500" spc="105" dirty="0">
                <a:solidFill>
                  <a:srgbClr val="333333"/>
                </a:solidFill>
                <a:latin typeface="Calibri"/>
                <a:cs typeface="Calibri"/>
              </a:rPr>
              <a:t> </a:t>
            </a:r>
            <a:r>
              <a:rPr sz="1500" dirty="0">
                <a:solidFill>
                  <a:srgbClr val="333333"/>
                </a:solidFill>
                <a:latin typeface="Calibri"/>
                <a:cs typeface="Calibri"/>
              </a:rPr>
              <a:t>AI-based</a:t>
            </a:r>
            <a:r>
              <a:rPr sz="1500" spc="145" dirty="0">
                <a:solidFill>
                  <a:srgbClr val="333333"/>
                </a:solidFill>
                <a:latin typeface="Calibri"/>
                <a:cs typeface="Calibri"/>
              </a:rPr>
              <a:t> </a:t>
            </a:r>
            <a:r>
              <a:rPr sz="1500" dirty="0">
                <a:solidFill>
                  <a:srgbClr val="333333"/>
                </a:solidFill>
                <a:latin typeface="Calibri"/>
                <a:cs typeface="Calibri"/>
              </a:rPr>
              <a:t>product</a:t>
            </a:r>
            <a:r>
              <a:rPr sz="1500" spc="130" dirty="0">
                <a:solidFill>
                  <a:srgbClr val="333333"/>
                </a:solidFill>
                <a:latin typeface="Calibri"/>
                <a:cs typeface="Calibri"/>
              </a:rPr>
              <a:t> </a:t>
            </a:r>
            <a:r>
              <a:rPr sz="1500" dirty="0">
                <a:solidFill>
                  <a:srgbClr val="333333"/>
                </a:solidFill>
                <a:latin typeface="Calibri"/>
                <a:cs typeface="Calibri"/>
              </a:rPr>
              <a:t>recommendations</a:t>
            </a:r>
            <a:r>
              <a:rPr sz="1500" spc="114" dirty="0">
                <a:solidFill>
                  <a:srgbClr val="333333"/>
                </a:solidFill>
                <a:latin typeface="Calibri"/>
                <a:cs typeface="Calibri"/>
              </a:rPr>
              <a:t> </a:t>
            </a:r>
            <a:r>
              <a:rPr sz="1500" dirty="0">
                <a:solidFill>
                  <a:srgbClr val="333333"/>
                </a:solidFill>
                <a:latin typeface="Calibri"/>
                <a:cs typeface="Calibri"/>
              </a:rPr>
              <a:t>for</a:t>
            </a:r>
            <a:r>
              <a:rPr sz="1500" spc="105" dirty="0">
                <a:solidFill>
                  <a:srgbClr val="333333"/>
                </a:solidFill>
                <a:latin typeface="Calibri"/>
                <a:cs typeface="Calibri"/>
              </a:rPr>
              <a:t> </a:t>
            </a:r>
            <a:r>
              <a:rPr sz="1500" dirty="0">
                <a:solidFill>
                  <a:srgbClr val="333333"/>
                </a:solidFill>
                <a:latin typeface="Calibri"/>
                <a:cs typeface="Calibri"/>
              </a:rPr>
              <a:t>enhanced</a:t>
            </a:r>
            <a:r>
              <a:rPr sz="1500" spc="145" dirty="0">
                <a:solidFill>
                  <a:srgbClr val="333333"/>
                </a:solidFill>
                <a:latin typeface="Calibri"/>
                <a:cs typeface="Calibri"/>
              </a:rPr>
              <a:t> </a:t>
            </a:r>
            <a:r>
              <a:rPr sz="1500" spc="-20" dirty="0">
                <a:solidFill>
                  <a:srgbClr val="333333"/>
                </a:solidFill>
                <a:latin typeface="Calibri"/>
                <a:cs typeface="Calibri"/>
              </a:rPr>
              <a:t>user </a:t>
            </a:r>
            <a:r>
              <a:rPr sz="1500" spc="-10" dirty="0">
                <a:solidFill>
                  <a:srgbClr val="333333"/>
                </a:solidFill>
                <a:latin typeface="Calibri"/>
                <a:cs typeface="Calibri"/>
              </a:rPr>
              <a:t>experience</a:t>
            </a:r>
            <a:endParaRPr sz="1500">
              <a:latin typeface="Calibri"/>
              <a:cs typeface="Calibri"/>
            </a:endParaRPr>
          </a:p>
        </p:txBody>
      </p:sp>
      <p:sp>
        <p:nvSpPr>
          <p:cNvPr id="8" name="object 8"/>
          <p:cNvSpPr/>
          <p:nvPr/>
        </p:nvSpPr>
        <p:spPr>
          <a:xfrm>
            <a:off x="933449" y="6181721"/>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0750" y="806450"/>
            <a:ext cx="2560320" cy="391160"/>
          </a:xfrm>
          <a:prstGeom prst="rect">
            <a:avLst/>
          </a:prstGeom>
        </p:spPr>
        <p:txBody>
          <a:bodyPr vert="horz" wrap="square" lIns="0" tIns="12700" rIns="0" bIns="0" rtlCol="0">
            <a:spAutoFit/>
          </a:bodyPr>
          <a:lstStyle/>
          <a:p>
            <a:pPr marL="12700">
              <a:lnSpc>
                <a:spcPct val="100000"/>
              </a:lnSpc>
              <a:spcBef>
                <a:spcPts val="100"/>
              </a:spcBef>
            </a:pPr>
            <a:r>
              <a:rPr dirty="0"/>
              <a:t>System</a:t>
            </a:r>
            <a:r>
              <a:rPr spc="-105" dirty="0"/>
              <a:t> </a:t>
            </a:r>
            <a:r>
              <a:rPr spc="-10" dirty="0"/>
              <a:t>Architecture</a:t>
            </a:r>
          </a:p>
        </p:txBody>
      </p:sp>
      <p:sp>
        <p:nvSpPr>
          <p:cNvPr id="3" name="object 3"/>
          <p:cNvSpPr txBox="1"/>
          <p:nvPr/>
        </p:nvSpPr>
        <p:spPr>
          <a:xfrm>
            <a:off x="942974" y="1962146"/>
            <a:ext cx="5686425" cy="1028700"/>
          </a:xfrm>
          <a:prstGeom prst="rect">
            <a:avLst/>
          </a:prstGeom>
          <a:ln w="19049">
            <a:solidFill>
              <a:srgbClr val="2B3D4F"/>
            </a:solidFill>
          </a:ln>
        </p:spPr>
        <p:txBody>
          <a:bodyPr vert="horz" wrap="square" lIns="0" tIns="9525" rIns="0" bIns="0" rtlCol="0">
            <a:spAutoFit/>
          </a:bodyPr>
          <a:lstStyle/>
          <a:p>
            <a:pPr>
              <a:lnSpc>
                <a:spcPct val="100000"/>
              </a:lnSpc>
              <a:spcBef>
                <a:spcPts val="75"/>
              </a:spcBef>
            </a:pPr>
            <a:endParaRPr sz="1500">
              <a:latin typeface="Times New Roman"/>
              <a:cs typeface="Times New Roman"/>
            </a:endParaRPr>
          </a:p>
          <a:p>
            <a:pPr marL="1905" algn="ctr">
              <a:lnSpc>
                <a:spcPct val="100000"/>
              </a:lnSpc>
            </a:pPr>
            <a:r>
              <a:rPr sz="1500" b="1" dirty="0">
                <a:solidFill>
                  <a:srgbClr val="333333"/>
                </a:solidFill>
                <a:latin typeface="Calibri"/>
                <a:cs typeface="Calibri"/>
              </a:rPr>
              <a:t>Frontend</a:t>
            </a:r>
            <a:r>
              <a:rPr sz="1500" b="1" spc="60" dirty="0">
                <a:solidFill>
                  <a:srgbClr val="333333"/>
                </a:solidFill>
                <a:latin typeface="Calibri"/>
                <a:cs typeface="Calibri"/>
              </a:rPr>
              <a:t> </a:t>
            </a:r>
            <a:r>
              <a:rPr sz="1500" b="1" spc="-10" dirty="0">
                <a:solidFill>
                  <a:srgbClr val="333333"/>
                </a:solidFill>
                <a:latin typeface="Calibri"/>
                <a:cs typeface="Calibri"/>
              </a:rPr>
              <a:t>(React)</a:t>
            </a:r>
            <a:endParaRPr sz="1500">
              <a:latin typeface="Calibri"/>
              <a:cs typeface="Calibri"/>
            </a:endParaRPr>
          </a:p>
          <a:p>
            <a:pPr algn="ctr">
              <a:lnSpc>
                <a:spcPct val="100000"/>
              </a:lnSpc>
              <a:spcBef>
                <a:spcPts val="1125"/>
              </a:spcBef>
            </a:pPr>
            <a:r>
              <a:rPr sz="1200" dirty="0">
                <a:solidFill>
                  <a:srgbClr val="333333"/>
                </a:solidFill>
                <a:latin typeface="Calibri"/>
                <a:cs typeface="Calibri"/>
              </a:rPr>
              <a:t>User</a:t>
            </a:r>
            <a:r>
              <a:rPr sz="1200" spc="-65" dirty="0">
                <a:solidFill>
                  <a:srgbClr val="333333"/>
                </a:solidFill>
                <a:latin typeface="Calibri"/>
                <a:cs typeface="Calibri"/>
              </a:rPr>
              <a:t> </a:t>
            </a:r>
            <a:r>
              <a:rPr sz="1200" dirty="0">
                <a:solidFill>
                  <a:srgbClr val="333333"/>
                </a:solidFill>
                <a:latin typeface="Calibri"/>
                <a:cs typeface="Calibri"/>
              </a:rPr>
              <a:t>Interface,</a:t>
            </a:r>
            <a:r>
              <a:rPr sz="1200" spc="-25" dirty="0">
                <a:solidFill>
                  <a:srgbClr val="333333"/>
                </a:solidFill>
                <a:latin typeface="Calibri"/>
                <a:cs typeface="Calibri"/>
              </a:rPr>
              <a:t> </a:t>
            </a:r>
            <a:r>
              <a:rPr sz="1200" dirty="0">
                <a:solidFill>
                  <a:srgbClr val="333333"/>
                </a:solidFill>
                <a:latin typeface="Calibri"/>
                <a:cs typeface="Calibri"/>
              </a:rPr>
              <a:t>State</a:t>
            </a:r>
            <a:r>
              <a:rPr sz="1200" spc="-25" dirty="0">
                <a:solidFill>
                  <a:srgbClr val="333333"/>
                </a:solidFill>
                <a:latin typeface="Calibri"/>
                <a:cs typeface="Calibri"/>
              </a:rPr>
              <a:t> </a:t>
            </a:r>
            <a:r>
              <a:rPr sz="1200" spc="-10" dirty="0">
                <a:solidFill>
                  <a:srgbClr val="333333"/>
                </a:solidFill>
                <a:latin typeface="Calibri"/>
                <a:cs typeface="Calibri"/>
              </a:rPr>
              <a:t>Management,</a:t>
            </a:r>
            <a:r>
              <a:rPr sz="1200" spc="-30" dirty="0">
                <a:solidFill>
                  <a:srgbClr val="333333"/>
                </a:solidFill>
                <a:latin typeface="Calibri"/>
                <a:cs typeface="Calibri"/>
              </a:rPr>
              <a:t> </a:t>
            </a:r>
            <a:r>
              <a:rPr sz="1200" spc="-10" dirty="0">
                <a:solidFill>
                  <a:srgbClr val="333333"/>
                </a:solidFill>
                <a:latin typeface="Calibri"/>
                <a:cs typeface="Calibri"/>
              </a:rPr>
              <a:t>Routing</a:t>
            </a:r>
            <a:endParaRPr sz="1200">
              <a:latin typeface="Calibri"/>
              <a:cs typeface="Calibri"/>
            </a:endParaRPr>
          </a:p>
        </p:txBody>
      </p:sp>
      <p:sp>
        <p:nvSpPr>
          <p:cNvPr id="4" name="object 4"/>
          <p:cNvSpPr txBox="1"/>
          <p:nvPr/>
        </p:nvSpPr>
        <p:spPr>
          <a:xfrm>
            <a:off x="3668712" y="3159125"/>
            <a:ext cx="233045" cy="345440"/>
          </a:xfrm>
          <a:prstGeom prst="rect">
            <a:avLst/>
          </a:prstGeom>
        </p:spPr>
        <p:txBody>
          <a:bodyPr vert="horz" wrap="square" lIns="0" tIns="12700" rIns="0" bIns="0" rtlCol="0">
            <a:spAutoFit/>
          </a:bodyPr>
          <a:lstStyle/>
          <a:p>
            <a:pPr marL="12700">
              <a:lnSpc>
                <a:spcPct val="100000"/>
              </a:lnSpc>
              <a:spcBef>
                <a:spcPts val="100"/>
              </a:spcBef>
            </a:pPr>
            <a:r>
              <a:rPr sz="2100" spc="-50" dirty="0">
                <a:solidFill>
                  <a:srgbClr val="2B3D4F"/>
                </a:solidFill>
                <a:latin typeface="Calibri"/>
                <a:cs typeface="Calibri"/>
              </a:rPr>
              <a:t>↕</a:t>
            </a:r>
            <a:endParaRPr sz="2100">
              <a:latin typeface="Calibri"/>
              <a:cs typeface="Calibri"/>
            </a:endParaRPr>
          </a:p>
        </p:txBody>
      </p:sp>
      <p:sp>
        <p:nvSpPr>
          <p:cNvPr id="5" name="object 5"/>
          <p:cNvSpPr txBox="1"/>
          <p:nvPr/>
        </p:nvSpPr>
        <p:spPr>
          <a:xfrm>
            <a:off x="942974" y="3667121"/>
            <a:ext cx="5686425" cy="1028700"/>
          </a:xfrm>
          <a:prstGeom prst="rect">
            <a:avLst/>
          </a:prstGeom>
          <a:ln w="19049">
            <a:solidFill>
              <a:srgbClr val="2B3D4F"/>
            </a:solidFill>
          </a:ln>
        </p:spPr>
        <p:txBody>
          <a:bodyPr vert="horz" wrap="square" lIns="0" tIns="9525" rIns="0" bIns="0" rtlCol="0">
            <a:spAutoFit/>
          </a:bodyPr>
          <a:lstStyle/>
          <a:p>
            <a:pPr>
              <a:lnSpc>
                <a:spcPct val="100000"/>
              </a:lnSpc>
              <a:spcBef>
                <a:spcPts val="75"/>
              </a:spcBef>
            </a:pPr>
            <a:endParaRPr sz="1500">
              <a:latin typeface="Times New Roman"/>
              <a:cs typeface="Times New Roman"/>
            </a:endParaRPr>
          </a:p>
          <a:p>
            <a:pPr marL="1905" algn="ctr">
              <a:lnSpc>
                <a:spcPct val="100000"/>
              </a:lnSpc>
            </a:pPr>
            <a:r>
              <a:rPr sz="1500" b="1" dirty="0">
                <a:solidFill>
                  <a:srgbClr val="333333"/>
                </a:solidFill>
                <a:latin typeface="Calibri"/>
                <a:cs typeface="Calibri"/>
              </a:rPr>
              <a:t>Backend</a:t>
            </a:r>
            <a:r>
              <a:rPr sz="1500" b="1" spc="-5" dirty="0">
                <a:solidFill>
                  <a:srgbClr val="333333"/>
                </a:solidFill>
                <a:latin typeface="Calibri"/>
                <a:cs typeface="Calibri"/>
              </a:rPr>
              <a:t> </a:t>
            </a:r>
            <a:r>
              <a:rPr sz="1500" b="1" dirty="0">
                <a:solidFill>
                  <a:srgbClr val="333333"/>
                </a:solidFill>
                <a:latin typeface="Calibri"/>
                <a:cs typeface="Calibri"/>
              </a:rPr>
              <a:t>(Node.js</a:t>
            </a:r>
            <a:r>
              <a:rPr sz="1500" b="1" spc="-15" dirty="0">
                <a:solidFill>
                  <a:srgbClr val="333333"/>
                </a:solidFill>
                <a:latin typeface="Calibri"/>
                <a:cs typeface="Calibri"/>
              </a:rPr>
              <a:t> </a:t>
            </a:r>
            <a:r>
              <a:rPr sz="1500" b="1" dirty="0">
                <a:solidFill>
                  <a:srgbClr val="333333"/>
                </a:solidFill>
                <a:latin typeface="Calibri"/>
                <a:cs typeface="Calibri"/>
              </a:rPr>
              <a:t>+</a:t>
            </a:r>
            <a:r>
              <a:rPr sz="1500" b="1" spc="-20" dirty="0">
                <a:solidFill>
                  <a:srgbClr val="333333"/>
                </a:solidFill>
                <a:latin typeface="Calibri"/>
                <a:cs typeface="Calibri"/>
              </a:rPr>
              <a:t> </a:t>
            </a:r>
            <a:r>
              <a:rPr sz="1500" b="1" spc="-10" dirty="0">
                <a:solidFill>
                  <a:srgbClr val="333333"/>
                </a:solidFill>
                <a:latin typeface="Calibri"/>
                <a:cs typeface="Calibri"/>
              </a:rPr>
              <a:t>Express)</a:t>
            </a:r>
            <a:endParaRPr sz="1500">
              <a:latin typeface="Calibri"/>
              <a:cs typeface="Calibri"/>
            </a:endParaRPr>
          </a:p>
          <a:p>
            <a:pPr algn="ctr">
              <a:lnSpc>
                <a:spcPct val="100000"/>
              </a:lnSpc>
              <a:spcBef>
                <a:spcPts val="1125"/>
              </a:spcBef>
            </a:pPr>
            <a:r>
              <a:rPr sz="1200" dirty="0">
                <a:solidFill>
                  <a:srgbClr val="333333"/>
                </a:solidFill>
                <a:latin typeface="Calibri"/>
                <a:cs typeface="Calibri"/>
              </a:rPr>
              <a:t>RESTful</a:t>
            </a:r>
            <a:r>
              <a:rPr sz="1200" spc="30" dirty="0">
                <a:solidFill>
                  <a:srgbClr val="333333"/>
                </a:solidFill>
                <a:latin typeface="Calibri"/>
                <a:cs typeface="Calibri"/>
              </a:rPr>
              <a:t> </a:t>
            </a:r>
            <a:r>
              <a:rPr sz="1200" dirty="0">
                <a:solidFill>
                  <a:srgbClr val="333333"/>
                </a:solidFill>
                <a:latin typeface="Calibri"/>
                <a:cs typeface="Calibri"/>
              </a:rPr>
              <a:t>APIs,</a:t>
            </a:r>
            <a:r>
              <a:rPr sz="1200" spc="10" dirty="0">
                <a:solidFill>
                  <a:srgbClr val="333333"/>
                </a:solidFill>
                <a:latin typeface="Calibri"/>
                <a:cs typeface="Calibri"/>
              </a:rPr>
              <a:t> </a:t>
            </a:r>
            <a:r>
              <a:rPr sz="1200" spc="-10" dirty="0">
                <a:solidFill>
                  <a:srgbClr val="333333"/>
                </a:solidFill>
                <a:latin typeface="Calibri"/>
                <a:cs typeface="Calibri"/>
              </a:rPr>
              <a:t>Authentication,</a:t>
            </a:r>
            <a:r>
              <a:rPr sz="1200" spc="10" dirty="0">
                <a:solidFill>
                  <a:srgbClr val="333333"/>
                </a:solidFill>
                <a:latin typeface="Calibri"/>
                <a:cs typeface="Calibri"/>
              </a:rPr>
              <a:t> </a:t>
            </a:r>
            <a:r>
              <a:rPr sz="1200" dirty="0">
                <a:solidFill>
                  <a:srgbClr val="333333"/>
                </a:solidFill>
                <a:latin typeface="Calibri"/>
                <a:cs typeface="Calibri"/>
              </a:rPr>
              <a:t>Business</a:t>
            </a:r>
            <a:r>
              <a:rPr sz="1200" spc="60" dirty="0">
                <a:solidFill>
                  <a:srgbClr val="333333"/>
                </a:solidFill>
                <a:latin typeface="Calibri"/>
                <a:cs typeface="Calibri"/>
              </a:rPr>
              <a:t> </a:t>
            </a:r>
            <a:r>
              <a:rPr sz="1200" spc="-20" dirty="0">
                <a:solidFill>
                  <a:srgbClr val="333333"/>
                </a:solidFill>
                <a:latin typeface="Calibri"/>
                <a:cs typeface="Calibri"/>
              </a:rPr>
              <a:t>Logic</a:t>
            </a:r>
            <a:endParaRPr sz="1200">
              <a:latin typeface="Calibri"/>
              <a:cs typeface="Calibri"/>
            </a:endParaRPr>
          </a:p>
        </p:txBody>
      </p:sp>
      <p:sp>
        <p:nvSpPr>
          <p:cNvPr id="6" name="object 6"/>
          <p:cNvSpPr txBox="1"/>
          <p:nvPr/>
        </p:nvSpPr>
        <p:spPr>
          <a:xfrm>
            <a:off x="3668712" y="4864100"/>
            <a:ext cx="233045" cy="345440"/>
          </a:xfrm>
          <a:prstGeom prst="rect">
            <a:avLst/>
          </a:prstGeom>
        </p:spPr>
        <p:txBody>
          <a:bodyPr vert="horz" wrap="square" lIns="0" tIns="12700" rIns="0" bIns="0" rtlCol="0">
            <a:spAutoFit/>
          </a:bodyPr>
          <a:lstStyle/>
          <a:p>
            <a:pPr marL="12700">
              <a:lnSpc>
                <a:spcPct val="100000"/>
              </a:lnSpc>
              <a:spcBef>
                <a:spcPts val="100"/>
              </a:spcBef>
            </a:pPr>
            <a:r>
              <a:rPr sz="2100" spc="-50" dirty="0">
                <a:solidFill>
                  <a:srgbClr val="2B3D4F"/>
                </a:solidFill>
                <a:latin typeface="Calibri"/>
                <a:cs typeface="Calibri"/>
              </a:rPr>
              <a:t>↕</a:t>
            </a:r>
            <a:endParaRPr sz="2100">
              <a:latin typeface="Calibri"/>
              <a:cs typeface="Calibri"/>
            </a:endParaRPr>
          </a:p>
        </p:txBody>
      </p:sp>
      <p:sp>
        <p:nvSpPr>
          <p:cNvPr id="7" name="object 7"/>
          <p:cNvSpPr txBox="1"/>
          <p:nvPr/>
        </p:nvSpPr>
        <p:spPr>
          <a:xfrm>
            <a:off x="942974" y="5381621"/>
            <a:ext cx="5686425" cy="1019175"/>
          </a:xfrm>
          <a:prstGeom prst="rect">
            <a:avLst/>
          </a:prstGeom>
          <a:ln w="19049">
            <a:solidFill>
              <a:srgbClr val="2B3D4F"/>
            </a:solidFill>
          </a:ln>
        </p:spPr>
        <p:txBody>
          <a:bodyPr vert="horz" wrap="square" lIns="0" tIns="9525" rIns="0" bIns="0" rtlCol="0">
            <a:spAutoFit/>
          </a:bodyPr>
          <a:lstStyle/>
          <a:p>
            <a:pPr>
              <a:lnSpc>
                <a:spcPct val="100000"/>
              </a:lnSpc>
              <a:spcBef>
                <a:spcPts val="75"/>
              </a:spcBef>
            </a:pPr>
            <a:endParaRPr sz="1500">
              <a:latin typeface="Times New Roman"/>
              <a:cs typeface="Times New Roman"/>
            </a:endParaRPr>
          </a:p>
          <a:p>
            <a:pPr marL="1905" algn="ctr">
              <a:lnSpc>
                <a:spcPct val="100000"/>
              </a:lnSpc>
            </a:pPr>
            <a:r>
              <a:rPr sz="1500" b="1" dirty="0">
                <a:solidFill>
                  <a:srgbClr val="333333"/>
                </a:solidFill>
                <a:latin typeface="Calibri"/>
                <a:cs typeface="Calibri"/>
              </a:rPr>
              <a:t>Database</a:t>
            </a:r>
            <a:r>
              <a:rPr sz="1500" b="1" spc="70" dirty="0">
                <a:solidFill>
                  <a:srgbClr val="333333"/>
                </a:solidFill>
                <a:latin typeface="Calibri"/>
                <a:cs typeface="Calibri"/>
              </a:rPr>
              <a:t> </a:t>
            </a:r>
            <a:r>
              <a:rPr sz="1500" b="1" spc="-10" dirty="0">
                <a:solidFill>
                  <a:srgbClr val="333333"/>
                </a:solidFill>
                <a:latin typeface="Calibri"/>
                <a:cs typeface="Calibri"/>
              </a:rPr>
              <a:t>(MongoDB)</a:t>
            </a:r>
            <a:endParaRPr sz="1500">
              <a:latin typeface="Calibri"/>
              <a:cs typeface="Calibri"/>
            </a:endParaRPr>
          </a:p>
          <a:p>
            <a:pPr algn="ctr">
              <a:lnSpc>
                <a:spcPct val="100000"/>
              </a:lnSpc>
              <a:spcBef>
                <a:spcPts val="1125"/>
              </a:spcBef>
            </a:pPr>
            <a:r>
              <a:rPr sz="1200" dirty="0">
                <a:solidFill>
                  <a:srgbClr val="333333"/>
                </a:solidFill>
                <a:latin typeface="Calibri"/>
                <a:cs typeface="Calibri"/>
              </a:rPr>
              <a:t>Data</a:t>
            </a:r>
            <a:r>
              <a:rPr sz="1200" spc="35" dirty="0">
                <a:solidFill>
                  <a:srgbClr val="333333"/>
                </a:solidFill>
                <a:latin typeface="Calibri"/>
                <a:cs typeface="Calibri"/>
              </a:rPr>
              <a:t> </a:t>
            </a:r>
            <a:r>
              <a:rPr sz="1200" spc="-10" dirty="0">
                <a:solidFill>
                  <a:srgbClr val="333333"/>
                </a:solidFill>
                <a:latin typeface="Calibri"/>
                <a:cs typeface="Calibri"/>
              </a:rPr>
              <a:t>Storage,</a:t>
            </a:r>
            <a:r>
              <a:rPr sz="1200" spc="15" dirty="0">
                <a:solidFill>
                  <a:srgbClr val="333333"/>
                </a:solidFill>
                <a:latin typeface="Calibri"/>
                <a:cs typeface="Calibri"/>
              </a:rPr>
              <a:t> </a:t>
            </a:r>
            <a:r>
              <a:rPr sz="1200" dirty="0">
                <a:solidFill>
                  <a:srgbClr val="333333"/>
                </a:solidFill>
                <a:latin typeface="Calibri"/>
                <a:cs typeface="Calibri"/>
              </a:rPr>
              <a:t>User</a:t>
            </a:r>
            <a:r>
              <a:rPr sz="1200" spc="-25" dirty="0">
                <a:solidFill>
                  <a:srgbClr val="333333"/>
                </a:solidFill>
                <a:latin typeface="Calibri"/>
                <a:cs typeface="Calibri"/>
              </a:rPr>
              <a:t> </a:t>
            </a:r>
            <a:r>
              <a:rPr sz="1200" dirty="0">
                <a:solidFill>
                  <a:srgbClr val="333333"/>
                </a:solidFill>
                <a:latin typeface="Calibri"/>
                <a:cs typeface="Calibri"/>
              </a:rPr>
              <a:t>Data,</a:t>
            </a:r>
            <a:r>
              <a:rPr sz="1200" spc="10" dirty="0">
                <a:solidFill>
                  <a:srgbClr val="333333"/>
                </a:solidFill>
                <a:latin typeface="Calibri"/>
                <a:cs typeface="Calibri"/>
              </a:rPr>
              <a:t> </a:t>
            </a:r>
            <a:r>
              <a:rPr sz="1200" spc="-10" dirty="0">
                <a:solidFill>
                  <a:srgbClr val="333333"/>
                </a:solidFill>
                <a:latin typeface="Calibri"/>
                <a:cs typeface="Calibri"/>
              </a:rPr>
              <a:t>Products,</a:t>
            </a:r>
            <a:r>
              <a:rPr sz="1200" spc="15" dirty="0">
                <a:solidFill>
                  <a:srgbClr val="333333"/>
                </a:solidFill>
                <a:latin typeface="Calibri"/>
                <a:cs typeface="Calibri"/>
              </a:rPr>
              <a:t> </a:t>
            </a:r>
            <a:r>
              <a:rPr sz="1200" spc="-10" dirty="0">
                <a:solidFill>
                  <a:srgbClr val="333333"/>
                </a:solidFill>
                <a:latin typeface="Calibri"/>
                <a:cs typeface="Calibri"/>
              </a:rPr>
              <a:t>Orders</a:t>
            </a:r>
            <a:endParaRPr sz="12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Technology</a:t>
            </a:r>
            <a:r>
              <a:rPr spc="-85" dirty="0"/>
              <a:t> </a:t>
            </a:r>
            <a:r>
              <a:rPr spc="-20" dirty="0"/>
              <a:t>Stack</a:t>
            </a:r>
          </a:p>
        </p:txBody>
      </p:sp>
      <p:sp>
        <p:nvSpPr>
          <p:cNvPr id="3" name="object 3"/>
          <p:cNvSpPr/>
          <p:nvPr/>
        </p:nvSpPr>
        <p:spPr>
          <a:xfrm>
            <a:off x="933449" y="1857371"/>
            <a:ext cx="28575" cy="1095375"/>
          </a:xfrm>
          <a:custGeom>
            <a:avLst/>
            <a:gdLst/>
            <a:ahLst/>
            <a:cxnLst/>
            <a:rect l="l" t="t" r="r" b="b"/>
            <a:pathLst>
              <a:path w="28575" h="1095375">
                <a:moveTo>
                  <a:pt x="28574" y="1095374"/>
                </a:moveTo>
                <a:lnTo>
                  <a:pt x="0" y="1095374"/>
                </a:lnTo>
                <a:lnTo>
                  <a:pt x="0" y="0"/>
                </a:lnTo>
                <a:lnTo>
                  <a:pt x="28574" y="0"/>
                </a:lnTo>
                <a:lnTo>
                  <a:pt x="28574" y="1095374"/>
                </a:lnTo>
                <a:close/>
              </a:path>
            </a:pathLst>
          </a:custGeom>
          <a:solidFill>
            <a:srgbClr val="2B3D4F"/>
          </a:solidFill>
        </p:spPr>
        <p:txBody>
          <a:bodyPr wrap="square" lIns="0" tIns="0" rIns="0" bIns="0" rtlCol="0"/>
          <a:lstStyle/>
          <a:p>
            <a:endParaRPr/>
          </a:p>
        </p:txBody>
      </p:sp>
      <p:sp>
        <p:nvSpPr>
          <p:cNvPr id="4" name="object 4"/>
          <p:cNvSpPr txBox="1"/>
          <p:nvPr/>
        </p:nvSpPr>
        <p:spPr>
          <a:xfrm>
            <a:off x="1092200" y="2006600"/>
            <a:ext cx="2051050" cy="770255"/>
          </a:xfrm>
          <a:prstGeom prst="rect">
            <a:avLst/>
          </a:prstGeom>
        </p:spPr>
        <p:txBody>
          <a:bodyPr vert="horz" wrap="square" lIns="0" tIns="12700" rIns="0" bIns="0" rtlCol="0">
            <a:spAutoFit/>
          </a:bodyPr>
          <a:lstStyle/>
          <a:p>
            <a:pPr marL="12700">
              <a:lnSpc>
                <a:spcPct val="100000"/>
              </a:lnSpc>
              <a:spcBef>
                <a:spcPts val="100"/>
              </a:spcBef>
            </a:pPr>
            <a:r>
              <a:rPr sz="1350" b="1" spc="-10" dirty="0">
                <a:solidFill>
                  <a:srgbClr val="333333"/>
                </a:solidFill>
                <a:latin typeface="Calibri"/>
                <a:cs typeface="Calibri"/>
              </a:rPr>
              <a:t>MongoDB</a:t>
            </a:r>
            <a:endParaRPr sz="1350">
              <a:latin typeface="Calibri"/>
              <a:cs typeface="Calibri"/>
            </a:endParaRPr>
          </a:p>
          <a:p>
            <a:pPr marL="12700" marR="5080">
              <a:lnSpc>
                <a:spcPct val="130200"/>
              </a:lnSpc>
              <a:spcBef>
                <a:spcPts val="495"/>
              </a:spcBef>
            </a:pPr>
            <a:r>
              <a:rPr sz="1200" dirty="0">
                <a:solidFill>
                  <a:srgbClr val="333333"/>
                </a:solidFill>
                <a:latin typeface="Calibri"/>
                <a:cs typeface="Calibri"/>
              </a:rPr>
              <a:t>NoSQL</a:t>
            </a:r>
            <a:r>
              <a:rPr sz="1200" spc="-10" dirty="0">
                <a:solidFill>
                  <a:srgbClr val="333333"/>
                </a:solidFill>
                <a:latin typeface="Calibri"/>
                <a:cs typeface="Calibri"/>
              </a:rPr>
              <a:t> </a:t>
            </a:r>
            <a:r>
              <a:rPr sz="1200" dirty="0">
                <a:solidFill>
                  <a:srgbClr val="333333"/>
                </a:solidFill>
                <a:latin typeface="Calibri"/>
                <a:cs typeface="Calibri"/>
              </a:rPr>
              <a:t>database</a:t>
            </a:r>
            <a:r>
              <a:rPr sz="1200" spc="-15" dirty="0">
                <a:solidFill>
                  <a:srgbClr val="333333"/>
                </a:solidFill>
                <a:latin typeface="Calibri"/>
                <a:cs typeface="Calibri"/>
              </a:rPr>
              <a:t> </a:t>
            </a:r>
            <a:r>
              <a:rPr sz="1200" dirty="0">
                <a:solidFill>
                  <a:srgbClr val="333333"/>
                </a:solidFill>
                <a:latin typeface="Calibri"/>
                <a:cs typeface="Calibri"/>
              </a:rPr>
              <a:t>for</a:t>
            </a:r>
            <a:r>
              <a:rPr sz="1200" spc="-55" dirty="0">
                <a:solidFill>
                  <a:srgbClr val="333333"/>
                </a:solidFill>
                <a:latin typeface="Calibri"/>
                <a:cs typeface="Calibri"/>
              </a:rPr>
              <a:t> </a:t>
            </a:r>
            <a:r>
              <a:rPr sz="1200" dirty="0">
                <a:solidFill>
                  <a:srgbClr val="333333"/>
                </a:solidFill>
                <a:latin typeface="Calibri"/>
                <a:cs typeface="Calibri"/>
              </a:rPr>
              <a:t>flexible</a:t>
            </a:r>
            <a:r>
              <a:rPr sz="1200" spc="-20" dirty="0">
                <a:solidFill>
                  <a:srgbClr val="333333"/>
                </a:solidFill>
                <a:latin typeface="Calibri"/>
                <a:cs typeface="Calibri"/>
              </a:rPr>
              <a:t> data </a:t>
            </a:r>
            <a:r>
              <a:rPr sz="1200" spc="-10" dirty="0">
                <a:solidFill>
                  <a:srgbClr val="333333"/>
                </a:solidFill>
                <a:latin typeface="Calibri"/>
                <a:cs typeface="Calibri"/>
              </a:rPr>
              <a:t>storage</a:t>
            </a:r>
            <a:endParaRPr sz="1200">
              <a:latin typeface="Calibri"/>
              <a:cs typeface="Calibri"/>
            </a:endParaRPr>
          </a:p>
        </p:txBody>
      </p:sp>
      <p:sp>
        <p:nvSpPr>
          <p:cNvPr id="5" name="object 5"/>
          <p:cNvSpPr/>
          <p:nvPr/>
        </p:nvSpPr>
        <p:spPr>
          <a:xfrm>
            <a:off x="3857624" y="1857371"/>
            <a:ext cx="28575" cy="1095375"/>
          </a:xfrm>
          <a:custGeom>
            <a:avLst/>
            <a:gdLst/>
            <a:ahLst/>
            <a:cxnLst/>
            <a:rect l="l" t="t" r="r" b="b"/>
            <a:pathLst>
              <a:path w="28575" h="1095375">
                <a:moveTo>
                  <a:pt x="28574" y="1095374"/>
                </a:moveTo>
                <a:lnTo>
                  <a:pt x="0" y="1095374"/>
                </a:lnTo>
                <a:lnTo>
                  <a:pt x="0" y="0"/>
                </a:lnTo>
                <a:lnTo>
                  <a:pt x="28574" y="0"/>
                </a:lnTo>
                <a:lnTo>
                  <a:pt x="28574" y="1095374"/>
                </a:lnTo>
                <a:close/>
              </a:path>
            </a:pathLst>
          </a:custGeom>
          <a:solidFill>
            <a:srgbClr val="2B3D4F"/>
          </a:solidFill>
        </p:spPr>
        <p:txBody>
          <a:bodyPr wrap="square" lIns="0" tIns="0" rIns="0" bIns="0" rtlCol="0"/>
          <a:lstStyle/>
          <a:p>
            <a:endParaRPr/>
          </a:p>
        </p:txBody>
      </p:sp>
      <p:sp>
        <p:nvSpPr>
          <p:cNvPr id="6" name="object 6"/>
          <p:cNvSpPr txBox="1"/>
          <p:nvPr/>
        </p:nvSpPr>
        <p:spPr>
          <a:xfrm>
            <a:off x="4016375" y="2006600"/>
            <a:ext cx="722630" cy="231140"/>
          </a:xfrm>
          <a:prstGeom prst="rect">
            <a:avLst/>
          </a:prstGeom>
        </p:spPr>
        <p:txBody>
          <a:bodyPr vert="horz" wrap="square" lIns="0" tIns="12700" rIns="0" bIns="0" rtlCol="0">
            <a:spAutoFit/>
          </a:bodyPr>
          <a:lstStyle/>
          <a:p>
            <a:pPr marL="12700">
              <a:lnSpc>
                <a:spcPct val="100000"/>
              </a:lnSpc>
              <a:spcBef>
                <a:spcPts val="100"/>
              </a:spcBef>
            </a:pPr>
            <a:r>
              <a:rPr sz="1350" b="1" spc="-10" dirty="0">
                <a:solidFill>
                  <a:srgbClr val="333333"/>
                </a:solidFill>
                <a:latin typeface="Calibri"/>
                <a:cs typeface="Calibri"/>
              </a:rPr>
              <a:t>Express.js</a:t>
            </a:r>
            <a:endParaRPr sz="1350">
              <a:latin typeface="Calibri"/>
              <a:cs typeface="Calibri"/>
            </a:endParaRPr>
          </a:p>
        </p:txBody>
      </p:sp>
      <p:sp>
        <p:nvSpPr>
          <p:cNvPr id="7" name="object 7"/>
          <p:cNvSpPr txBox="1"/>
          <p:nvPr/>
        </p:nvSpPr>
        <p:spPr>
          <a:xfrm>
            <a:off x="4016375" y="2275204"/>
            <a:ext cx="1683385" cy="501650"/>
          </a:xfrm>
          <a:prstGeom prst="rect">
            <a:avLst/>
          </a:prstGeom>
        </p:spPr>
        <p:txBody>
          <a:bodyPr vert="horz" wrap="square" lIns="0" tIns="12700" rIns="0" bIns="0" rtlCol="0">
            <a:spAutoFit/>
          </a:bodyPr>
          <a:lstStyle/>
          <a:p>
            <a:pPr marL="12700" marR="5080">
              <a:lnSpc>
                <a:spcPct val="130200"/>
              </a:lnSpc>
              <a:spcBef>
                <a:spcPts val="100"/>
              </a:spcBef>
            </a:pPr>
            <a:r>
              <a:rPr sz="1200" spc="-10" dirty="0">
                <a:solidFill>
                  <a:srgbClr val="333333"/>
                </a:solidFill>
                <a:latin typeface="Calibri"/>
                <a:cs typeface="Calibri"/>
              </a:rPr>
              <a:t>Backend</a:t>
            </a:r>
            <a:r>
              <a:rPr sz="1200" spc="-25" dirty="0">
                <a:solidFill>
                  <a:srgbClr val="333333"/>
                </a:solidFill>
                <a:latin typeface="Calibri"/>
                <a:cs typeface="Calibri"/>
              </a:rPr>
              <a:t> framework</a:t>
            </a:r>
            <a:r>
              <a:rPr sz="1200" spc="-10" dirty="0">
                <a:solidFill>
                  <a:srgbClr val="333333"/>
                </a:solidFill>
                <a:latin typeface="Calibri"/>
                <a:cs typeface="Calibri"/>
              </a:rPr>
              <a:t> </a:t>
            </a:r>
            <a:r>
              <a:rPr sz="1200" dirty="0">
                <a:solidFill>
                  <a:srgbClr val="333333"/>
                </a:solidFill>
                <a:latin typeface="Calibri"/>
                <a:cs typeface="Calibri"/>
              </a:rPr>
              <a:t>for</a:t>
            </a:r>
            <a:r>
              <a:rPr sz="1200" spc="-35" dirty="0">
                <a:solidFill>
                  <a:srgbClr val="333333"/>
                </a:solidFill>
                <a:latin typeface="Calibri"/>
                <a:cs typeface="Calibri"/>
              </a:rPr>
              <a:t> </a:t>
            </a:r>
            <a:r>
              <a:rPr sz="1200" spc="-25" dirty="0">
                <a:solidFill>
                  <a:srgbClr val="333333"/>
                </a:solidFill>
                <a:latin typeface="Calibri"/>
                <a:cs typeface="Calibri"/>
              </a:rPr>
              <a:t>API </a:t>
            </a:r>
            <a:r>
              <a:rPr sz="1200" spc="-10" dirty="0">
                <a:solidFill>
                  <a:srgbClr val="333333"/>
                </a:solidFill>
                <a:latin typeface="Calibri"/>
                <a:cs typeface="Calibri"/>
              </a:rPr>
              <a:t>development</a:t>
            </a:r>
            <a:endParaRPr sz="1200">
              <a:latin typeface="Calibri"/>
              <a:cs typeface="Calibri"/>
            </a:endParaRPr>
          </a:p>
        </p:txBody>
      </p:sp>
      <p:sp>
        <p:nvSpPr>
          <p:cNvPr id="8" name="object 8"/>
          <p:cNvSpPr/>
          <p:nvPr/>
        </p:nvSpPr>
        <p:spPr>
          <a:xfrm>
            <a:off x="933449" y="3095621"/>
            <a:ext cx="28575" cy="847725"/>
          </a:xfrm>
          <a:custGeom>
            <a:avLst/>
            <a:gdLst/>
            <a:ahLst/>
            <a:cxnLst/>
            <a:rect l="l" t="t" r="r" b="b"/>
            <a:pathLst>
              <a:path w="28575" h="847725">
                <a:moveTo>
                  <a:pt x="28574" y="847724"/>
                </a:moveTo>
                <a:lnTo>
                  <a:pt x="0" y="847724"/>
                </a:lnTo>
                <a:lnTo>
                  <a:pt x="0" y="0"/>
                </a:lnTo>
                <a:lnTo>
                  <a:pt x="28574" y="0"/>
                </a:lnTo>
                <a:lnTo>
                  <a:pt x="28574" y="847724"/>
                </a:lnTo>
                <a:close/>
              </a:path>
            </a:pathLst>
          </a:custGeom>
          <a:solidFill>
            <a:srgbClr val="2B3D4F"/>
          </a:solidFill>
        </p:spPr>
        <p:txBody>
          <a:bodyPr wrap="square" lIns="0" tIns="0" rIns="0" bIns="0" rtlCol="0"/>
          <a:lstStyle/>
          <a:p>
            <a:endParaRPr/>
          </a:p>
        </p:txBody>
      </p:sp>
      <p:sp>
        <p:nvSpPr>
          <p:cNvPr id="9" name="object 9"/>
          <p:cNvSpPr txBox="1"/>
          <p:nvPr/>
        </p:nvSpPr>
        <p:spPr>
          <a:xfrm>
            <a:off x="1092200" y="3244850"/>
            <a:ext cx="2101850" cy="532130"/>
          </a:xfrm>
          <a:prstGeom prst="rect">
            <a:avLst/>
          </a:prstGeom>
        </p:spPr>
        <p:txBody>
          <a:bodyPr vert="horz" wrap="square" lIns="0" tIns="12700" rIns="0" bIns="0" rtlCol="0">
            <a:spAutoFit/>
          </a:bodyPr>
          <a:lstStyle/>
          <a:p>
            <a:pPr marL="12700">
              <a:lnSpc>
                <a:spcPct val="100000"/>
              </a:lnSpc>
              <a:spcBef>
                <a:spcPts val="100"/>
              </a:spcBef>
            </a:pPr>
            <a:r>
              <a:rPr sz="1350" b="1" spc="-10" dirty="0">
                <a:solidFill>
                  <a:srgbClr val="333333"/>
                </a:solidFill>
                <a:latin typeface="Calibri"/>
                <a:cs typeface="Calibri"/>
              </a:rPr>
              <a:t>React</a:t>
            </a:r>
            <a:endParaRPr sz="1350">
              <a:latin typeface="Calibri"/>
              <a:cs typeface="Calibri"/>
            </a:endParaRPr>
          </a:p>
          <a:p>
            <a:pPr marL="12700">
              <a:lnSpc>
                <a:spcPct val="100000"/>
              </a:lnSpc>
              <a:spcBef>
                <a:spcPts val="930"/>
              </a:spcBef>
            </a:pPr>
            <a:r>
              <a:rPr sz="1200" spc="-25" dirty="0">
                <a:solidFill>
                  <a:srgbClr val="333333"/>
                </a:solidFill>
                <a:latin typeface="Calibri"/>
                <a:cs typeface="Calibri"/>
              </a:rPr>
              <a:t>Frontend</a:t>
            </a:r>
            <a:r>
              <a:rPr sz="1200" spc="-30" dirty="0">
                <a:solidFill>
                  <a:srgbClr val="333333"/>
                </a:solidFill>
                <a:latin typeface="Calibri"/>
                <a:cs typeface="Calibri"/>
              </a:rPr>
              <a:t> </a:t>
            </a:r>
            <a:r>
              <a:rPr sz="1200" dirty="0">
                <a:solidFill>
                  <a:srgbClr val="333333"/>
                </a:solidFill>
                <a:latin typeface="Calibri"/>
                <a:cs typeface="Calibri"/>
              </a:rPr>
              <a:t>library</a:t>
            </a:r>
            <a:r>
              <a:rPr sz="1200" spc="-15" dirty="0">
                <a:solidFill>
                  <a:srgbClr val="333333"/>
                </a:solidFill>
                <a:latin typeface="Calibri"/>
                <a:cs typeface="Calibri"/>
              </a:rPr>
              <a:t> </a:t>
            </a:r>
            <a:r>
              <a:rPr sz="1200" dirty="0">
                <a:solidFill>
                  <a:srgbClr val="333333"/>
                </a:solidFill>
                <a:latin typeface="Calibri"/>
                <a:cs typeface="Calibri"/>
              </a:rPr>
              <a:t>for</a:t>
            </a:r>
            <a:r>
              <a:rPr sz="1200" spc="-35" dirty="0">
                <a:solidFill>
                  <a:srgbClr val="333333"/>
                </a:solidFill>
                <a:latin typeface="Calibri"/>
                <a:cs typeface="Calibri"/>
              </a:rPr>
              <a:t> </a:t>
            </a:r>
            <a:r>
              <a:rPr sz="1200" dirty="0">
                <a:solidFill>
                  <a:srgbClr val="333333"/>
                </a:solidFill>
                <a:latin typeface="Calibri"/>
                <a:cs typeface="Calibri"/>
              </a:rPr>
              <a:t>user</a:t>
            </a:r>
            <a:r>
              <a:rPr sz="1200" spc="-40" dirty="0">
                <a:solidFill>
                  <a:srgbClr val="333333"/>
                </a:solidFill>
                <a:latin typeface="Calibri"/>
                <a:cs typeface="Calibri"/>
              </a:rPr>
              <a:t> </a:t>
            </a:r>
            <a:r>
              <a:rPr sz="1200" spc="-10" dirty="0">
                <a:solidFill>
                  <a:srgbClr val="333333"/>
                </a:solidFill>
                <a:latin typeface="Calibri"/>
                <a:cs typeface="Calibri"/>
              </a:rPr>
              <a:t>interface</a:t>
            </a:r>
            <a:endParaRPr sz="1200">
              <a:latin typeface="Calibri"/>
              <a:cs typeface="Calibri"/>
            </a:endParaRPr>
          </a:p>
        </p:txBody>
      </p:sp>
      <p:sp>
        <p:nvSpPr>
          <p:cNvPr id="10" name="object 10"/>
          <p:cNvSpPr/>
          <p:nvPr/>
        </p:nvSpPr>
        <p:spPr>
          <a:xfrm>
            <a:off x="3857624" y="3095621"/>
            <a:ext cx="28575" cy="847725"/>
          </a:xfrm>
          <a:custGeom>
            <a:avLst/>
            <a:gdLst/>
            <a:ahLst/>
            <a:cxnLst/>
            <a:rect l="l" t="t" r="r" b="b"/>
            <a:pathLst>
              <a:path w="28575" h="847725">
                <a:moveTo>
                  <a:pt x="28574" y="847724"/>
                </a:moveTo>
                <a:lnTo>
                  <a:pt x="0" y="847724"/>
                </a:lnTo>
                <a:lnTo>
                  <a:pt x="0" y="0"/>
                </a:lnTo>
                <a:lnTo>
                  <a:pt x="28574" y="0"/>
                </a:lnTo>
                <a:lnTo>
                  <a:pt x="28574" y="847724"/>
                </a:lnTo>
                <a:close/>
              </a:path>
            </a:pathLst>
          </a:custGeom>
          <a:solidFill>
            <a:srgbClr val="2B3D4F"/>
          </a:solidFill>
        </p:spPr>
        <p:txBody>
          <a:bodyPr wrap="square" lIns="0" tIns="0" rIns="0" bIns="0" rtlCol="0"/>
          <a:lstStyle/>
          <a:p>
            <a:endParaRPr/>
          </a:p>
        </p:txBody>
      </p:sp>
      <p:sp>
        <p:nvSpPr>
          <p:cNvPr id="11" name="object 11"/>
          <p:cNvSpPr txBox="1"/>
          <p:nvPr/>
        </p:nvSpPr>
        <p:spPr>
          <a:xfrm>
            <a:off x="4016375" y="3244850"/>
            <a:ext cx="2416175" cy="532130"/>
          </a:xfrm>
          <a:prstGeom prst="rect">
            <a:avLst/>
          </a:prstGeom>
        </p:spPr>
        <p:txBody>
          <a:bodyPr vert="horz" wrap="square" lIns="0" tIns="12700" rIns="0" bIns="0" rtlCol="0">
            <a:spAutoFit/>
          </a:bodyPr>
          <a:lstStyle/>
          <a:p>
            <a:pPr marL="12700">
              <a:lnSpc>
                <a:spcPct val="100000"/>
              </a:lnSpc>
              <a:spcBef>
                <a:spcPts val="100"/>
              </a:spcBef>
            </a:pPr>
            <a:r>
              <a:rPr sz="1350" b="1" spc="-10" dirty="0">
                <a:solidFill>
                  <a:srgbClr val="333333"/>
                </a:solidFill>
                <a:latin typeface="Calibri"/>
                <a:cs typeface="Calibri"/>
              </a:rPr>
              <a:t>Node.js</a:t>
            </a:r>
            <a:endParaRPr sz="1350">
              <a:latin typeface="Calibri"/>
              <a:cs typeface="Calibri"/>
            </a:endParaRPr>
          </a:p>
          <a:p>
            <a:pPr marL="12700">
              <a:lnSpc>
                <a:spcPct val="100000"/>
              </a:lnSpc>
              <a:spcBef>
                <a:spcPts val="930"/>
              </a:spcBef>
            </a:pPr>
            <a:r>
              <a:rPr sz="1200" spc="-10" dirty="0">
                <a:solidFill>
                  <a:srgbClr val="333333"/>
                </a:solidFill>
                <a:latin typeface="Calibri"/>
                <a:cs typeface="Calibri"/>
              </a:rPr>
              <a:t>JavaScript</a:t>
            </a:r>
            <a:r>
              <a:rPr sz="1200" spc="-5" dirty="0">
                <a:solidFill>
                  <a:srgbClr val="333333"/>
                </a:solidFill>
                <a:latin typeface="Calibri"/>
                <a:cs typeface="Calibri"/>
              </a:rPr>
              <a:t> </a:t>
            </a:r>
            <a:r>
              <a:rPr sz="1200" spc="-20" dirty="0">
                <a:solidFill>
                  <a:srgbClr val="333333"/>
                </a:solidFill>
                <a:latin typeface="Calibri"/>
                <a:cs typeface="Calibri"/>
              </a:rPr>
              <a:t>runtime</a:t>
            </a:r>
            <a:r>
              <a:rPr sz="1200" spc="25" dirty="0">
                <a:solidFill>
                  <a:srgbClr val="333333"/>
                </a:solidFill>
                <a:latin typeface="Calibri"/>
                <a:cs typeface="Calibri"/>
              </a:rPr>
              <a:t> </a:t>
            </a:r>
            <a:r>
              <a:rPr sz="1200" dirty="0">
                <a:solidFill>
                  <a:srgbClr val="333333"/>
                </a:solidFill>
                <a:latin typeface="Calibri"/>
                <a:cs typeface="Calibri"/>
              </a:rPr>
              <a:t>for</a:t>
            </a:r>
            <a:r>
              <a:rPr sz="1200" spc="-20" dirty="0">
                <a:solidFill>
                  <a:srgbClr val="333333"/>
                </a:solidFill>
                <a:latin typeface="Calibri"/>
                <a:cs typeface="Calibri"/>
              </a:rPr>
              <a:t> </a:t>
            </a:r>
            <a:r>
              <a:rPr sz="1200" spc="-10" dirty="0">
                <a:solidFill>
                  <a:srgbClr val="333333"/>
                </a:solidFill>
                <a:latin typeface="Calibri"/>
                <a:cs typeface="Calibri"/>
              </a:rPr>
              <a:t>server-</a:t>
            </a:r>
            <a:r>
              <a:rPr sz="1200" dirty="0">
                <a:solidFill>
                  <a:srgbClr val="333333"/>
                </a:solidFill>
                <a:latin typeface="Calibri"/>
                <a:cs typeface="Calibri"/>
              </a:rPr>
              <a:t>side</a:t>
            </a:r>
            <a:r>
              <a:rPr sz="1200" spc="25" dirty="0">
                <a:solidFill>
                  <a:srgbClr val="333333"/>
                </a:solidFill>
                <a:latin typeface="Calibri"/>
                <a:cs typeface="Calibri"/>
              </a:rPr>
              <a:t> </a:t>
            </a:r>
            <a:r>
              <a:rPr sz="1200" spc="-20" dirty="0">
                <a:solidFill>
                  <a:srgbClr val="333333"/>
                </a:solidFill>
                <a:latin typeface="Calibri"/>
                <a:cs typeface="Calibri"/>
              </a:rPr>
              <a:t>code</a:t>
            </a:r>
            <a:endParaRPr sz="1200">
              <a:latin typeface="Calibri"/>
              <a:cs typeface="Calibri"/>
            </a:endParaRPr>
          </a:p>
        </p:txBody>
      </p:sp>
      <p:sp>
        <p:nvSpPr>
          <p:cNvPr id="12" name="object 12"/>
          <p:cNvSpPr/>
          <p:nvPr/>
        </p:nvSpPr>
        <p:spPr>
          <a:xfrm>
            <a:off x="933449" y="4086221"/>
            <a:ext cx="28575" cy="857250"/>
          </a:xfrm>
          <a:custGeom>
            <a:avLst/>
            <a:gdLst/>
            <a:ahLst/>
            <a:cxnLst/>
            <a:rect l="l" t="t" r="r" b="b"/>
            <a:pathLst>
              <a:path w="28575" h="857250">
                <a:moveTo>
                  <a:pt x="28574" y="857249"/>
                </a:moveTo>
                <a:lnTo>
                  <a:pt x="0" y="857249"/>
                </a:lnTo>
                <a:lnTo>
                  <a:pt x="0" y="0"/>
                </a:lnTo>
                <a:lnTo>
                  <a:pt x="28574" y="0"/>
                </a:lnTo>
                <a:lnTo>
                  <a:pt x="28574" y="857249"/>
                </a:lnTo>
                <a:close/>
              </a:path>
            </a:pathLst>
          </a:custGeom>
          <a:solidFill>
            <a:srgbClr val="2B3D4F"/>
          </a:solidFill>
        </p:spPr>
        <p:txBody>
          <a:bodyPr wrap="square" lIns="0" tIns="0" rIns="0" bIns="0" rtlCol="0"/>
          <a:lstStyle/>
          <a:p>
            <a:endParaRPr/>
          </a:p>
        </p:txBody>
      </p:sp>
      <p:sp>
        <p:nvSpPr>
          <p:cNvPr id="13" name="object 13"/>
          <p:cNvSpPr txBox="1"/>
          <p:nvPr/>
        </p:nvSpPr>
        <p:spPr>
          <a:xfrm>
            <a:off x="1092200" y="4235450"/>
            <a:ext cx="1999614" cy="532130"/>
          </a:xfrm>
          <a:prstGeom prst="rect">
            <a:avLst/>
          </a:prstGeom>
        </p:spPr>
        <p:txBody>
          <a:bodyPr vert="horz" wrap="square" lIns="0" tIns="12700" rIns="0" bIns="0" rtlCol="0">
            <a:spAutoFit/>
          </a:bodyPr>
          <a:lstStyle/>
          <a:p>
            <a:pPr marL="12700">
              <a:lnSpc>
                <a:spcPct val="100000"/>
              </a:lnSpc>
              <a:spcBef>
                <a:spcPts val="100"/>
              </a:spcBef>
            </a:pPr>
            <a:r>
              <a:rPr sz="1350" b="1" dirty="0">
                <a:solidFill>
                  <a:srgbClr val="333333"/>
                </a:solidFill>
                <a:latin typeface="Calibri"/>
                <a:cs typeface="Calibri"/>
              </a:rPr>
              <a:t>Payment</a:t>
            </a:r>
            <a:r>
              <a:rPr sz="1350" b="1" spc="75" dirty="0">
                <a:solidFill>
                  <a:srgbClr val="333333"/>
                </a:solidFill>
                <a:latin typeface="Calibri"/>
                <a:cs typeface="Calibri"/>
              </a:rPr>
              <a:t> </a:t>
            </a:r>
            <a:r>
              <a:rPr sz="1350" b="1" spc="-20" dirty="0">
                <a:solidFill>
                  <a:srgbClr val="333333"/>
                </a:solidFill>
                <a:latin typeface="Calibri"/>
                <a:cs typeface="Calibri"/>
              </a:rPr>
              <a:t>APIs</a:t>
            </a:r>
            <a:endParaRPr sz="1350">
              <a:latin typeface="Calibri"/>
              <a:cs typeface="Calibri"/>
            </a:endParaRPr>
          </a:p>
          <a:p>
            <a:pPr marL="12700">
              <a:lnSpc>
                <a:spcPct val="100000"/>
              </a:lnSpc>
              <a:spcBef>
                <a:spcPts val="930"/>
              </a:spcBef>
            </a:pPr>
            <a:r>
              <a:rPr sz="1200" spc="-20" dirty="0">
                <a:solidFill>
                  <a:srgbClr val="333333"/>
                </a:solidFill>
                <a:latin typeface="Calibri"/>
                <a:cs typeface="Calibri"/>
              </a:rPr>
              <a:t>Stripe/Razorpay</a:t>
            </a:r>
            <a:r>
              <a:rPr sz="1200" spc="35" dirty="0">
                <a:solidFill>
                  <a:srgbClr val="333333"/>
                </a:solidFill>
                <a:latin typeface="Calibri"/>
                <a:cs typeface="Calibri"/>
              </a:rPr>
              <a:t> </a:t>
            </a:r>
            <a:r>
              <a:rPr sz="1200" dirty="0">
                <a:solidFill>
                  <a:srgbClr val="333333"/>
                </a:solidFill>
                <a:latin typeface="Calibri"/>
                <a:cs typeface="Calibri"/>
              </a:rPr>
              <a:t>for</a:t>
            </a:r>
            <a:r>
              <a:rPr sz="1200" spc="10" dirty="0">
                <a:solidFill>
                  <a:srgbClr val="333333"/>
                </a:solidFill>
                <a:latin typeface="Calibri"/>
                <a:cs typeface="Calibri"/>
              </a:rPr>
              <a:t> </a:t>
            </a:r>
            <a:r>
              <a:rPr sz="1200" spc="-10" dirty="0">
                <a:solidFill>
                  <a:srgbClr val="333333"/>
                </a:solidFill>
                <a:latin typeface="Calibri"/>
                <a:cs typeface="Calibri"/>
              </a:rPr>
              <a:t>transactions</a:t>
            </a:r>
            <a:endParaRPr sz="1200">
              <a:latin typeface="Calibri"/>
              <a:cs typeface="Calibri"/>
            </a:endParaRPr>
          </a:p>
        </p:txBody>
      </p:sp>
      <p:sp>
        <p:nvSpPr>
          <p:cNvPr id="14" name="object 14"/>
          <p:cNvSpPr/>
          <p:nvPr/>
        </p:nvSpPr>
        <p:spPr>
          <a:xfrm>
            <a:off x="3857624" y="4086221"/>
            <a:ext cx="28575" cy="857250"/>
          </a:xfrm>
          <a:custGeom>
            <a:avLst/>
            <a:gdLst/>
            <a:ahLst/>
            <a:cxnLst/>
            <a:rect l="l" t="t" r="r" b="b"/>
            <a:pathLst>
              <a:path w="28575" h="857250">
                <a:moveTo>
                  <a:pt x="28574" y="857249"/>
                </a:moveTo>
                <a:lnTo>
                  <a:pt x="0" y="857249"/>
                </a:lnTo>
                <a:lnTo>
                  <a:pt x="0" y="0"/>
                </a:lnTo>
                <a:lnTo>
                  <a:pt x="28574" y="0"/>
                </a:lnTo>
                <a:lnTo>
                  <a:pt x="28574" y="857249"/>
                </a:lnTo>
                <a:close/>
              </a:path>
            </a:pathLst>
          </a:custGeom>
          <a:solidFill>
            <a:srgbClr val="2B3D4F"/>
          </a:solidFill>
        </p:spPr>
        <p:txBody>
          <a:bodyPr wrap="square" lIns="0" tIns="0" rIns="0" bIns="0" rtlCol="0"/>
          <a:lstStyle/>
          <a:p>
            <a:endParaRPr/>
          </a:p>
        </p:txBody>
      </p:sp>
      <p:sp>
        <p:nvSpPr>
          <p:cNvPr id="15" name="object 15"/>
          <p:cNvSpPr txBox="1"/>
          <p:nvPr/>
        </p:nvSpPr>
        <p:spPr>
          <a:xfrm>
            <a:off x="4016375" y="4235450"/>
            <a:ext cx="1772285" cy="532130"/>
          </a:xfrm>
          <a:prstGeom prst="rect">
            <a:avLst/>
          </a:prstGeom>
        </p:spPr>
        <p:txBody>
          <a:bodyPr vert="horz" wrap="square" lIns="0" tIns="12700" rIns="0" bIns="0" rtlCol="0">
            <a:spAutoFit/>
          </a:bodyPr>
          <a:lstStyle/>
          <a:p>
            <a:pPr marL="12700">
              <a:lnSpc>
                <a:spcPct val="100000"/>
              </a:lnSpc>
              <a:spcBef>
                <a:spcPts val="100"/>
              </a:spcBef>
            </a:pPr>
            <a:r>
              <a:rPr sz="1350" b="1" dirty="0">
                <a:solidFill>
                  <a:srgbClr val="333333"/>
                </a:solidFill>
                <a:latin typeface="Calibri"/>
                <a:cs typeface="Calibri"/>
              </a:rPr>
              <a:t>Cloud</a:t>
            </a:r>
            <a:r>
              <a:rPr sz="1350" b="1" spc="40" dirty="0">
                <a:solidFill>
                  <a:srgbClr val="333333"/>
                </a:solidFill>
                <a:latin typeface="Calibri"/>
                <a:cs typeface="Calibri"/>
              </a:rPr>
              <a:t> </a:t>
            </a:r>
            <a:r>
              <a:rPr sz="1350" b="1" spc="-10" dirty="0">
                <a:solidFill>
                  <a:srgbClr val="333333"/>
                </a:solidFill>
                <a:latin typeface="Calibri"/>
                <a:cs typeface="Calibri"/>
              </a:rPr>
              <a:t>Hosting</a:t>
            </a:r>
            <a:endParaRPr sz="1350">
              <a:latin typeface="Calibri"/>
              <a:cs typeface="Calibri"/>
            </a:endParaRPr>
          </a:p>
          <a:p>
            <a:pPr marL="12700">
              <a:lnSpc>
                <a:spcPct val="100000"/>
              </a:lnSpc>
              <a:spcBef>
                <a:spcPts val="930"/>
              </a:spcBef>
            </a:pPr>
            <a:r>
              <a:rPr sz="1200" spc="-30" dirty="0">
                <a:solidFill>
                  <a:srgbClr val="333333"/>
                </a:solidFill>
                <a:latin typeface="Calibri"/>
                <a:cs typeface="Calibri"/>
              </a:rPr>
              <a:t>AWS/Heroku</a:t>
            </a:r>
            <a:r>
              <a:rPr sz="1200" spc="-20" dirty="0">
                <a:solidFill>
                  <a:srgbClr val="333333"/>
                </a:solidFill>
                <a:latin typeface="Calibri"/>
                <a:cs typeface="Calibri"/>
              </a:rPr>
              <a:t> </a:t>
            </a:r>
            <a:r>
              <a:rPr sz="1200" dirty="0">
                <a:solidFill>
                  <a:srgbClr val="333333"/>
                </a:solidFill>
                <a:latin typeface="Calibri"/>
                <a:cs typeface="Calibri"/>
              </a:rPr>
              <a:t>for</a:t>
            </a:r>
            <a:r>
              <a:rPr sz="1200" spc="-25" dirty="0">
                <a:solidFill>
                  <a:srgbClr val="333333"/>
                </a:solidFill>
                <a:latin typeface="Calibri"/>
                <a:cs typeface="Calibri"/>
              </a:rPr>
              <a:t> </a:t>
            </a:r>
            <a:r>
              <a:rPr sz="1200" spc="-10" dirty="0">
                <a:solidFill>
                  <a:srgbClr val="333333"/>
                </a:solidFill>
                <a:latin typeface="Calibri"/>
                <a:cs typeface="Calibri"/>
              </a:rPr>
              <a:t>deployment</a:t>
            </a:r>
            <a:endParaRPr sz="12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FA9FE-E6B4-339D-E95C-30A5558E9C41}"/>
              </a:ext>
            </a:extLst>
          </p:cNvPr>
          <p:cNvSpPr>
            <a:spLocks noGrp="1"/>
          </p:cNvSpPr>
          <p:nvPr>
            <p:ph type="title"/>
          </p:nvPr>
        </p:nvSpPr>
        <p:spPr>
          <a:xfrm>
            <a:off x="920750" y="806450"/>
            <a:ext cx="4065270" cy="369332"/>
          </a:xfrm>
        </p:spPr>
        <p:txBody>
          <a:bodyPr/>
          <a:lstStyle/>
          <a:p>
            <a:r>
              <a:rPr lang="en-IN" dirty="0"/>
              <a:t>OUTCOME</a:t>
            </a:r>
          </a:p>
        </p:txBody>
      </p:sp>
      <p:sp>
        <p:nvSpPr>
          <p:cNvPr id="3" name="Content Placeholder 2">
            <a:extLst>
              <a:ext uri="{FF2B5EF4-FFF2-40B4-BE49-F238E27FC236}">
                <a16:creationId xmlns:a16="http://schemas.microsoft.com/office/drawing/2014/main" id="{7994CBE5-1C89-BE27-6E59-5C85523D5191}"/>
              </a:ext>
            </a:extLst>
          </p:cNvPr>
          <p:cNvSpPr>
            <a:spLocks noGrp="1"/>
          </p:cNvSpPr>
          <p:nvPr>
            <p:ph sz="half" idx="2"/>
          </p:nvPr>
        </p:nvSpPr>
        <p:spPr>
          <a:xfrm>
            <a:off x="425450" y="1689100"/>
            <a:ext cx="6296025" cy="10979929"/>
          </a:xfrm>
        </p:spPr>
        <p:txBody>
          <a:bodyPr/>
          <a:lstStyle/>
          <a:p>
            <a:r>
              <a:rPr lang="en-US" sz="2800" dirty="0"/>
              <a:t>The </a:t>
            </a:r>
            <a:r>
              <a:rPr lang="en-US" sz="2800" dirty="0" err="1"/>
              <a:t>EcomVerse</a:t>
            </a:r>
            <a:r>
              <a:rPr lang="en-US" sz="2800" dirty="0"/>
              <a:t> platform successfully demonstrates the implementation of a full-stack e-commerce application using the MERN stack.</a:t>
            </a:r>
          </a:p>
          <a:p>
            <a:r>
              <a:rPr lang="en-US" sz="2800" dirty="0"/>
              <a:t>The system supports secure user authentication, product management, order processing, and payment integration. The </a:t>
            </a:r>
            <a:r>
              <a:rPr lang="en-US" sz="2800" dirty="0" err="1"/>
              <a:t>dropshipping</a:t>
            </a:r>
            <a:r>
              <a:rPr lang="en-US" sz="2800" dirty="0"/>
              <a:t> model reduces inventory dependency and improves scalability.</a:t>
            </a:r>
          </a:p>
          <a:p>
            <a:r>
              <a:rPr lang="en-US" sz="2800" dirty="0"/>
              <a:t>The project provided practical exposure to full-stack development, REST API creation, database design, and cloud deployment.</a:t>
            </a:r>
          </a:p>
          <a:p>
            <a:endParaRPr lang="en-IN" dirty="0"/>
          </a:p>
        </p:txBody>
      </p:sp>
    </p:spTree>
    <p:extLst>
      <p:ext uri="{BB962C8B-B14F-4D97-AF65-F5344CB8AC3E}">
        <p14:creationId xmlns:p14="http://schemas.microsoft.com/office/powerpoint/2010/main" val="1152402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Implementation</a:t>
            </a:r>
            <a:r>
              <a:rPr spc="-90" dirty="0"/>
              <a:t> </a:t>
            </a:r>
            <a:r>
              <a:rPr dirty="0"/>
              <a:t>&amp;</a:t>
            </a:r>
            <a:r>
              <a:rPr spc="-40" dirty="0"/>
              <a:t> </a:t>
            </a:r>
            <a:r>
              <a:rPr dirty="0"/>
              <a:t>Future</a:t>
            </a:r>
            <a:r>
              <a:rPr spc="-80" dirty="0"/>
              <a:t> </a:t>
            </a:r>
            <a:r>
              <a:rPr spc="-10" dirty="0"/>
              <a:t>Scope</a:t>
            </a:r>
          </a:p>
        </p:txBody>
      </p:sp>
      <p:sp>
        <p:nvSpPr>
          <p:cNvPr id="3" name="object 3"/>
          <p:cNvSpPr/>
          <p:nvPr/>
        </p:nvSpPr>
        <p:spPr>
          <a:xfrm>
            <a:off x="1000124" y="2314571"/>
            <a:ext cx="57150" cy="57150"/>
          </a:xfrm>
          <a:custGeom>
            <a:avLst/>
            <a:gdLst/>
            <a:ahLst/>
            <a:cxnLst/>
            <a:rect l="l" t="t" r="r" b="b"/>
            <a:pathLst>
              <a:path w="57150" h="57150">
                <a:moveTo>
                  <a:pt x="32364" y="57140"/>
                </a:moveTo>
                <a:lnTo>
                  <a:pt x="24785" y="57140"/>
                </a:lnTo>
                <a:lnTo>
                  <a:pt x="21140" y="56415"/>
                </a:lnTo>
                <a:lnTo>
                  <a:pt x="0" y="32361"/>
                </a:lnTo>
                <a:lnTo>
                  <a:pt x="0" y="24788"/>
                </a:lnTo>
                <a:lnTo>
                  <a:pt x="24785" y="0"/>
                </a:lnTo>
                <a:lnTo>
                  <a:pt x="32364" y="0"/>
                </a:lnTo>
                <a:lnTo>
                  <a:pt x="57149" y="28574"/>
                </a:lnTo>
                <a:lnTo>
                  <a:pt x="57149" y="32361"/>
                </a:lnTo>
                <a:lnTo>
                  <a:pt x="32364" y="57140"/>
                </a:lnTo>
                <a:close/>
              </a:path>
            </a:pathLst>
          </a:custGeom>
          <a:solidFill>
            <a:srgbClr val="333333"/>
          </a:solidFill>
        </p:spPr>
        <p:txBody>
          <a:bodyPr wrap="square" lIns="0" tIns="0" rIns="0" bIns="0" rtlCol="0"/>
          <a:lstStyle/>
          <a:p>
            <a:endParaRPr/>
          </a:p>
        </p:txBody>
      </p:sp>
      <p:sp>
        <p:nvSpPr>
          <p:cNvPr id="4" name="object 4"/>
          <p:cNvSpPr/>
          <p:nvPr/>
        </p:nvSpPr>
        <p:spPr>
          <a:xfrm>
            <a:off x="1000124" y="2666996"/>
            <a:ext cx="57150" cy="57150"/>
          </a:xfrm>
          <a:custGeom>
            <a:avLst/>
            <a:gdLst/>
            <a:ahLst/>
            <a:cxnLst/>
            <a:rect l="l" t="t" r="r" b="b"/>
            <a:pathLst>
              <a:path w="57150" h="57150">
                <a:moveTo>
                  <a:pt x="32364" y="57140"/>
                </a:moveTo>
                <a:lnTo>
                  <a:pt x="24785" y="57140"/>
                </a:lnTo>
                <a:lnTo>
                  <a:pt x="21140" y="56415"/>
                </a:lnTo>
                <a:lnTo>
                  <a:pt x="0" y="32361"/>
                </a:lnTo>
                <a:lnTo>
                  <a:pt x="0" y="24770"/>
                </a:lnTo>
                <a:lnTo>
                  <a:pt x="24785" y="0"/>
                </a:lnTo>
                <a:lnTo>
                  <a:pt x="32364" y="0"/>
                </a:lnTo>
                <a:lnTo>
                  <a:pt x="57149" y="28574"/>
                </a:lnTo>
                <a:lnTo>
                  <a:pt x="57149" y="32361"/>
                </a:lnTo>
                <a:lnTo>
                  <a:pt x="32364" y="57140"/>
                </a:lnTo>
                <a:close/>
              </a:path>
            </a:pathLst>
          </a:custGeom>
          <a:solidFill>
            <a:srgbClr val="333333"/>
          </a:solidFill>
        </p:spPr>
        <p:txBody>
          <a:bodyPr wrap="square" lIns="0" tIns="0" rIns="0" bIns="0" rtlCol="0"/>
          <a:lstStyle/>
          <a:p>
            <a:endParaRPr/>
          </a:p>
        </p:txBody>
      </p:sp>
      <p:sp>
        <p:nvSpPr>
          <p:cNvPr id="5" name="object 5"/>
          <p:cNvSpPr/>
          <p:nvPr/>
        </p:nvSpPr>
        <p:spPr>
          <a:xfrm>
            <a:off x="1000124" y="3019421"/>
            <a:ext cx="57150" cy="57150"/>
          </a:xfrm>
          <a:custGeom>
            <a:avLst/>
            <a:gdLst/>
            <a:ahLst/>
            <a:cxnLst/>
            <a:rect l="l" t="t" r="r" b="b"/>
            <a:pathLst>
              <a:path w="57150" h="57150">
                <a:moveTo>
                  <a:pt x="32364" y="57140"/>
                </a:moveTo>
                <a:lnTo>
                  <a:pt x="24785" y="57140"/>
                </a:lnTo>
                <a:lnTo>
                  <a:pt x="21140" y="56415"/>
                </a:lnTo>
                <a:lnTo>
                  <a:pt x="0" y="32351"/>
                </a:lnTo>
                <a:lnTo>
                  <a:pt x="0" y="24788"/>
                </a:lnTo>
                <a:lnTo>
                  <a:pt x="24785" y="0"/>
                </a:lnTo>
                <a:lnTo>
                  <a:pt x="32364" y="0"/>
                </a:lnTo>
                <a:lnTo>
                  <a:pt x="57149" y="28574"/>
                </a:lnTo>
                <a:lnTo>
                  <a:pt x="57149" y="32351"/>
                </a:lnTo>
                <a:lnTo>
                  <a:pt x="32364" y="57140"/>
                </a:lnTo>
                <a:close/>
              </a:path>
            </a:pathLst>
          </a:custGeom>
          <a:solidFill>
            <a:srgbClr val="333333"/>
          </a:solidFill>
        </p:spPr>
        <p:txBody>
          <a:bodyPr wrap="square" lIns="0" tIns="0" rIns="0" bIns="0" rtlCol="0"/>
          <a:lstStyle/>
          <a:p>
            <a:endParaRPr/>
          </a:p>
        </p:txBody>
      </p:sp>
      <p:sp>
        <p:nvSpPr>
          <p:cNvPr id="6" name="object 6"/>
          <p:cNvSpPr/>
          <p:nvPr/>
        </p:nvSpPr>
        <p:spPr>
          <a:xfrm>
            <a:off x="1000124" y="3362321"/>
            <a:ext cx="57150" cy="57150"/>
          </a:xfrm>
          <a:custGeom>
            <a:avLst/>
            <a:gdLst/>
            <a:ahLst/>
            <a:cxnLst/>
            <a:rect l="l" t="t" r="r" b="b"/>
            <a:pathLst>
              <a:path w="57150" h="57150">
                <a:moveTo>
                  <a:pt x="32364" y="57149"/>
                </a:moveTo>
                <a:lnTo>
                  <a:pt x="24785" y="57149"/>
                </a:lnTo>
                <a:lnTo>
                  <a:pt x="21140" y="56424"/>
                </a:lnTo>
                <a:lnTo>
                  <a:pt x="0" y="32361"/>
                </a:lnTo>
                <a:lnTo>
                  <a:pt x="0" y="24780"/>
                </a:lnTo>
                <a:lnTo>
                  <a:pt x="24785" y="0"/>
                </a:lnTo>
                <a:lnTo>
                  <a:pt x="32364" y="0"/>
                </a:lnTo>
                <a:lnTo>
                  <a:pt x="57149" y="28574"/>
                </a:lnTo>
                <a:lnTo>
                  <a:pt x="57149" y="32361"/>
                </a:lnTo>
                <a:lnTo>
                  <a:pt x="32364" y="57149"/>
                </a:lnTo>
                <a:close/>
              </a:path>
            </a:pathLst>
          </a:custGeom>
          <a:solidFill>
            <a:srgbClr val="333333"/>
          </a:solidFill>
        </p:spPr>
        <p:txBody>
          <a:bodyPr wrap="square" lIns="0" tIns="0" rIns="0" bIns="0" rtlCol="0"/>
          <a:lstStyle/>
          <a:p>
            <a:endParaRPr/>
          </a:p>
        </p:txBody>
      </p:sp>
      <p:sp>
        <p:nvSpPr>
          <p:cNvPr id="7" name="object 7"/>
          <p:cNvSpPr/>
          <p:nvPr/>
        </p:nvSpPr>
        <p:spPr>
          <a:xfrm>
            <a:off x="1000124" y="3714746"/>
            <a:ext cx="57150" cy="57150"/>
          </a:xfrm>
          <a:custGeom>
            <a:avLst/>
            <a:gdLst/>
            <a:ahLst/>
            <a:cxnLst/>
            <a:rect l="l" t="t" r="r" b="b"/>
            <a:pathLst>
              <a:path w="57150" h="57150">
                <a:moveTo>
                  <a:pt x="32364" y="57140"/>
                </a:moveTo>
                <a:lnTo>
                  <a:pt x="24785" y="57140"/>
                </a:lnTo>
                <a:lnTo>
                  <a:pt x="21140" y="56415"/>
                </a:lnTo>
                <a:lnTo>
                  <a:pt x="0" y="32361"/>
                </a:lnTo>
                <a:lnTo>
                  <a:pt x="0" y="24780"/>
                </a:lnTo>
                <a:lnTo>
                  <a:pt x="24785" y="0"/>
                </a:lnTo>
                <a:lnTo>
                  <a:pt x="32364" y="0"/>
                </a:lnTo>
                <a:lnTo>
                  <a:pt x="57149" y="28574"/>
                </a:lnTo>
                <a:lnTo>
                  <a:pt x="57149" y="32361"/>
                </a:lnTo>
                <a:lnTo>
                  <a:pt x="32364" y="57140"/>
                </a:lnTo>
                <a:close/>
              </a:path>
            </a:pathLst>
          </a:custGeom>
          <a:solidFill>
            <a:srgbClr val="333333"/>
          </a:solidFill>
        </p:spPr>
        <p:txBody>
          <a:bodyPr wrap="square" lIns="0" tIns="0" rIns="0" bIns="0" rtlCol="0"/>
          <a:lstStyle/>
          <a:p>
            <a:endParaRPr/>
          </a:p>
        </p:txBody>
      </p:sp>
      <p:sp>
        <p:nvSpPr>
          <p:cNvPr id="8" name="object 8"/>
          <p:cNvSpPr/>
          <p:nvPr/>
        </p:nvSpPr>
        <p:spPr>
          <a:xfrm>
            <a:off x="1000124" y="4762495"/>
            <a:ext cx="57150" cy="57150"/>
          </a:xfrm>
          <a:custGeom>
            <a:avLst/>
            <a:gdLst/>
            <a:ahLst/>
            <a:cxnLst/>
            <a:rect l="l" t="t" r="r" b="b"/>
            <a:pathLst>
              <a:path w="57150" h="57150">
                <a:moveTo>
                  <a:pt x="32364" y="57140"/>
                </a:moveTo>
                <a:lnTo>
                  <a:pt x="24785" y="57140"/>
                </a:lnTo>
                <a:lnTo>
                  <a:pt x="21140" y="56415"/>
                </a:lnTo>
                <a:lnTo>
                  <a:pt x="0" y="32351"/>
                </a:lnTo>
                <a:lnTo>
                  <a:pt x="0" y="24780"/>
                </a:lnTo>
                <a:lnTo>
                  <a:pt x="24785" y="0"/>
                </a:lnTo>
                <a:lnTo>
                  <a:pt x="32364" y="0"/>
                </a:lnTo>
                <a:lnTo>
                  <a:pt x="57149" y="28574"/>
                </a:lnTo>
                <a:lnTo>
                  <a:pt x="57149" y="32351"/>
                </a:lnTo>
                <a:lnTo>
                  <a:pt x="32364" y="57140"/>
                </a:lnTo>
                <a:close/>
              </a:path>
            </a:pathLst>
          </a:custGeom>
          <a:solidFill>
            <a:srgbClr val="333333"/>
          </a:solidFill>
        </p:spPr>
        <p:txBody>
          <a:bodyPr wrap="square" lIns="0" tIns="0" rIns="0" bIns="0" rtlCol="0"/>
          <a:lstStyle/>
          <a:p>
            <a:endParaRPr/>
          </a:p>
        </p:txBody>
      </p:sp>
      <p:sp>
        <p:nvSpPr>
          <p:cNvPr id="9" name="object 9"/>
          <p:cNvSpPr/>
          <p:nvPr/>
        </p:nvSpPr>
        <p:spPr>
          <a:xfrm>
            <a:off x="1000124" y="5114920"/>
            <a:ext cx="57150" cy="57150"/>
          </a:xfrm>
          <a:custGeom>
            <a:avLst/>
            <a:gdLst/>
            <a:ahLst/>
            <a:cxnLst/>
            <a:rect l="l" t="t" r="r" b="b"/>
            <a:pathLst>
              <a:path w="57150" h="57150">
                <a:moveTo>
                  <a:pt x="32364" y="57140"/>
                </a:moveTo>
                <a:lnTo>
                  <a:pt x="24785" y="57140"/>
                </a:lnTo>
                <a:lnTo>
                  <a:pt x="21140" y="56415"/>
                </a:lnTo>
                <a:lnTo>
                  <a:pt x="0" y="32361"/>
                </a:lnTo>
                <a:lnTo>
                  <a:pt x="0" y="24770"/>
                </a:lnTo>
                <a:lnTo>
                  <a:pt x="24785" y="0"/>
                </a:lnTo>
                <a:lnTo>
                  <a:pt x="32364" y="0"/>
                </a:lnTo>
                <a:lnTo>
                  <a:pt x="57149" y="28574"/>
                </a:lnTo>
                <a:lnTo>
                  <a:pt x="57149" y="32361"/>
                </a:lnTo>
                <a:lnTo>
                  <a:pt x="32364" y="57140"/>
                </a:lnTo>
                <a:close/>
              </a:path>
            </a:pathLst>
          </a:custGeom>
          <a:solidFill>
            <a:srgbClr val="333333"/>
          </a:solidFill>
        </p:spPr>
        <p:txBody>
          <a:bodyPr wrap="square" lIns="0" tIns="0" rIns="0" bIns="0" rtlCol="0"/>
          <a:lstStyle/>
          <a:p>
            <a:endParaRPr/>
          </a:p>
        </p:txBody>
      </p:sp>
      <p:sp>
        <p:nvSpPr>
          <p:cNvPr id="10" name="object 10"/>
          <p:cNvSpPr/>
          <p:nvPr/>
        </p:nvSpPr>
        <p:spPr>
          <a:xfrm>
            <a:off x="1000124" y="5467345"/>
            <a:ext cx="57150" cy="57150"/>
          </a:xfrm>
          <a:custGeom>
            <a:avLst/>
            <a:gdLst/>
            <a:ahLst/>
            <a:cxnLst/>
            <a:rect l="l" t="t" r="r" b="b"/>
            <a:pathLst>
              <a:path w="57150" h="57150">
                <a:moveTo>
                  <a:pt x="32364" y="57140"/>
                </a:moveTo>
                <a:lnTo>
                  <a:pt x="24785" y="57140"/>
                </a:lnTo>
                <a:lnTo>
                  <a:pt x="21140" y="56415"/>
                </a:lnTo>
                <a:lnTo>
                  <a:pt x="0" y="32351"/>
                </a:lnTo>
                <a:lnTo>
                  <a:pt x="0" y="24780"/>
                </a:lnTo>
                <a:lnTo>
                  <a:pt x="24785" y="0"/>
                </a:lnTo>
                <a:lnTo>
                  <a:pt x="32364" y="0"/>
                </a:lnTo>
                <a:lnTo>
                  <a:pt x="57149" y="28574"/>
                </a:lnTo>
                <a:lnTo>
                  <a:pt x="57149" y="32351"/>
                </a:lnTo>
                <a:lnTo>
                  <a:pt x="32364" y="57140"/>
                </a:lnTo>
                <a:close/>
              </a:path>
            </a:pathLst>
          </a:custGeom>
          <a:solidFill>
            <a:srgbClr val="333333"/>
          </a:solidFill>
        </p:spPr>
        <p:txBody>
          <a:bodyPr wrap="square" lIns="0" tIns="0" rIns="0" bIns="0" rtlCol="0"/>
          <a:lstStyle/>
          <a:p>
            <a:endParaRPr/>
          </a:p>
        </p:txBody>
      </p:sp>
      <p:sp>
        <p:nvSpPr>
          <p:cNvPr id="11" name="object 11"/>
          <p:cNvSpPr/>
          <p:nvPr/>
        </p:nvSpPr>
        <p:spPr>
          <a:xfrm>
            <a:off x="1000124" y="5810245"/>
            <a:ext cx="57150" cy="57150"/>
          </a:xfrm>
          <a:custGeom>
            <a:avLst/>
            <a:gdLst/>
            <a:ahLst/>
            <a:cxnLst/>
            <a:rect l="l" t="t" r="r" b="b"/>
            <a:pathLst>
              <a:path w="57150" h="57150">
                <a:moveTo>
                  <a:pt x="32364" y="57140"/>
                </a:moveTo>
                <a:lnTo>
                  <a:pt x="24785" y="57140"/>
                </a:lnTo>
                <a:lnTo>
                  <a:pt x="21140" y="56415"/>
                </a:lnTo>
                <a:lnTo>
                  <a:pt x="0" y="32361"/>
                </a:lnTo>
                <a:lnTo>
                  <a:pt x="0" y="24780"/>
                </a:lnTo>
                <a:lnTo>
                  <a:pt x="24785" y="0"/>
                </a:lnTo>
                <a:lnTo>
                  <a:pt x="32364" y="0"/>
                </a:lnTo>
                <a:lnTo>
                  <a:pt x="57149" y="28574"/>
                </a:lnTo>
                <a:lnTo>
                  <a:pt x="57149" y="32361"/>
                </a:lnTo>
                <a:lnTo>
                  <a:pt x="32364" y="57140"/>
                </a:lnTo>
                <a:close/>
              </a:path>
            </a:pathLst>
          </a:custGeom>
          <a:solidFill>
            <a:srgbClr val="333333"/>
          </a:solidFill>
        </p:spPr>
        <p:txBody>
          <a:bodyPr wrap="square" lIns="0" tIns="0" rIns="0" bIns="0" rtlCol="0"/>
          <a:lstStyle/>
          <a:p>
            <a:endParaRPr/>
          </a:p>
        </p:txBody>
      </p:sp>
      <p:sp>
        <p:nvSpPr>
          <p:cNvPr id="12" name="object 12"/>
          <p:cNvSpPr txBox="1"/>
          <p:nvPr/>
        </p:nvSpPr>
        <p:spPr>
          <a:xfrm>
            <a:off x="920750" y="1701800"/>
            <a:ext cx="3683635" cy="4231640"/>
          </a:xfrm>
          <a:prstGeom prst="rect">
            <a:avLst/>
          </a:prstGeom>
        </p:spPr>
        <p:txBody>
          <a:bodyPr vert="horz" wrap="square" lIns="0" tIns="12700" rIns="0" bIns="0" rtlCol="0">
            <a:spAutoFit/>
          </a:bodyPr>
          <a:lstStyle/>
          <a:p>
            <a:pPr marL="12700">
              <a:lnSpc>
                <a:spcPct val="100000"/>
              </a:lnSpc>
              <a:spcBef>
                <a:spcPts val="100"/>
              </a:spcBef>
            </a:pPr>
            <a:r>
              <a:rPr sz="1500" b="1" dirty="0">
                <a:solidFill>
                  <a:srgbClr val="333333"/>
                </a:solidFill>
                <a:latin typeface="Calibri"/>
                <a:cs typeface="Calibri"/>
              </a:rPr>
              <a:t>Current</a:t>
            </a:r>
            <a:r>
              <a:rPr sz="1500" b="1" spc="55" dirty="0">
                <a:solidFill>
                  <a:srgbClr val="333333"/>
                </a:solidFill>
                <a:latin typeface="Calibri"/>
                <a:cs typeface="Calibri"/>
              </a:rPr>
              <a:t> </a:t>
            </a:r>
            <a:r>
              <a:rPr sz="1500" b="1" spc="-10" dirty="0">
                <a:solidFill>
                  <a:srgbClr val="333333"/>
                </a:solidFill>
                <a:latin typeface="Calibri"/>
                <a:cs typeface="Calibri"/>
              </a:rPr>
              <a:t>Implementation:</a:t>
            </a:r>
            <a:endParaRPr sz="1500">
              <a:latin typeface="Calibri"/>
              <a:cs typeface="Calibri"/>
            </a:endParaRPr>
          </a:p>
          <a:p>
            <a:pPr marL="250190" marR="5080">
              <a:lnSpc>
                <a:spcPct val="171300"/>
              </a:lnSpc>
              <a:spcBef>
                <a:spcPts val="1020"/>
              </a:spcBef>
            </a:pPr>
            <a:r>
              <a:rPr sz="1350" dirty="0">
                <a:solidFill>
                  <a:srgbClr val="333333"/>
                </a:solidFill>
                <a:latin typeface="Calibri"/>
                <a:cs typeface="Calibri"/>
              </a:rPr>
              <a:t>User</a:t>
            </a:r>
            <a:r>
              <a:rPr sz="1350" spc="-15" dirty="0">
                <a:solidFill>
                  <a:srgbClr val="333333"/>
                </a:solidFill>
                <a:latin typeface="Calibri"/>
                <a:cs typeface="Calibri"/>
              </a:rPr>
              <a:t> </a:t>
            </a:r>
            <a:r>
              <a:rPr sz="1350" spc="-10" dirty="0">
                <a:solidFill>
                  <a:srgbClr val="333333"/>
                </a:solidFill>
                <a:latin typeface="Calibri"/>
                <a:cs typeface="Calibri"/>
              </a:rPr>
              <a:t>authentication</a:t>
            </a:r>
            <a:r>
              <a:rPr sz="1350" spc="-25" dirty="0">
                <a:solidFill>
                  <a:srgbClr val="333333"/>
                </a:solidFill>
                <a:latin typeface="Calibri"/>
                <a:cs typeface="Calibri"/>
              </a:rPr>
              <a:t> </a:t>
            </a:r>
            <a:r>
              <a:rPr sz="1350" dirty="0">
                <a:solidFill>
                  <a:srgbClr val="333333"/>
                </a:solidFill>
                <a:latin typeface="Calibri"/>
                <a:cs typeface="Calibri"/>
              </a:rPr>
              <a:t>and</a:t>
            </a:r>
            <a:r>
              <a:rPr sz="1350" spc="-20" dirty="0">
                <a:solidFill>
                  <a:srgbClr val="333333"/>
                </a:solidFill>
                <a:latin typeface="Calibri"/>
                <a:cs typeface="Calibri"/>
              </a:rPr>
              <a:t> </a:t>
            </a:r>
            <a:r>
              <a:rPr sz="1350" spc="-10" dirty="0">
                <a:solidFill>
                  <a:srgbClr val="333333"/>
                </a:solidFill>
                <a:latin typeface="Calibri"/>
                <a:cs typeface="Calibri"/>
              </a:rPr>
              <a:t>authorization</a:t>
            </a:r>
            <a:r>
              <a:rPr sz="1350" spc="-25" dirty="0">
                <a:solidFill>
                  <a:srgbClr val="333333"/>
                </a:solidFill>
                <a:latin typeface="Calibri"/>
                <a:cs typeface="Calibri"/>
              </a:rPr>
              <a:t> </a:t>
            </a:r>
            <a:r>
              <a:rPr sz="1350" spc="-10" dirty="0">
                <a:solidFill>
                  <a:srgbClr val="333333"/>
                </a:solidFill>
                <a:latin typeface="Calibri"/>
                <a:cs typeface="Calibri"/>
              </a:rPr>
              <a:t>system Product</a:t>
            </a:r>
            <a:r>
              <a:rPr sz="1350" spc="-20" dirty="0">
                <a:solidFill>
                  <a:srgbClr val="333333"/>
                </a:solidFill>
                <a:latin typeface="Calibri"/>
                <a:cs typeface="Calibri"/>
              </a:rPr>
              <a:t> </a:t>
            </a:r>
            <a:r>
              <a:rPr sz="1350" dirty="0">
                <a:solidFill>
                  <a:srgbClr val="333333"/>
                </a:solidFill>
                <a:latin typeface="Calibri"/>
                <a:cs typeface="Calibri"/>
              </a:rPr>
              <a:t>catalog</a:t>
            </a:r>
            <a:r>
              <a:rPr sz="1350" spc="-50" dirty="0">
                <a:solidFill>
                  <a:srgbClr val="333333"/>
                </a:solidFill>
                <a:latin typeface="Calibri"/>
                <a:cs typeface="Calibri"/>
              </a:rPr>
              <a:t> </a:t>
            </a:r>
            <a:r>
              <a:rPr sz="1350" dirty="0">
                <a:solidFill>
                  <a:srgbClr val="333333"/>
                </a:solidFill>
                <a:latin typeface="Calibri"/>
                <a:cs typeface="Calibri"/>
              </a:rPr>
              <a:t>with</a:t>
            </a:r>
            <a:r>
              <a:rPr sz="1350" spc="-45" dirty="0">
                <a:solidFill>
                  <a:srgbClr val="333333"/>
                </a:solidFill>
                <a:latin typeface="Calibri"/>
                <a:cs typeface="Calibri"/>
              </a:rPr>
              <a:t> </a:t>
            </a:r>
            <a:r>
              <a:rPr sz="1350" dirty="0">
                <a:solidFill>
                  <a:srgbClr val="333333"/>
                </a:solidFill>
                <a:latin typeface="Calibri"/>
                <a:cs typeface="Calibri"/>
              </a:rPr>
              <a:t>search</a:t>
            </a:r>
            <a:r>
              <a:rPr sz="1350" spc="-45" dirty="0">
                <a:solidFill>
                  <a:srgbClr val="333333"/>
                </a:solidFill>
                <a:latin typeface="Calibri"/>
                <a:cs typeface="Calibri"/>
              </a:rPr>
              <a:t> </a:t>
            </a:r>
            <a:r>
              <a:rPr sz="1350" dirty="0">
                <a:solidFill>
                  <a:srgbClr val="333333"/>
                </a:solidFill>
                <a:latin typeface="Calibri"/>
                <a:cs typeface="Calibri"/>
              </a:rPr>
              <a:t>and</a:t>
            </a:r>
            <a:r>
              <a:rPr sz="1350" spc="-45" dirty="0">
                <a:solidFill>
                  <a:srgbClr val="333333"/>
                </a:solidFill>
                <a:latin typeface="Calibri"/>
                <a:cs typeface="Calibri"/>
              </a:rPr>
              <a:t> </a:t>
            </a:r>
            <a:r>
              <a:rPr sz="1350" dirty="0">
                <a:solidFill>
                  <a:srgbClr val="333333"/>
                </a:solidFill>
                <a:latin typeface="Calibri"/>
                <a:cs typeface="Calibri"/>
              </a:rPr>
              <a:t>filter</a:t>
            </a:r>
            <a:r>
              <a:rPr sz="1350" spc="-40" dirty="0">
                <a:solidFill>
                  <a:srgbClr val="333333"/>
                </a:solidFill>
                <a:latin typeface="Calibri"/>
                <a:cs typeface="Calibri"/>
              </a:rPr>
              <a:t> </a:t>
            </a:r>
            <a:r>
              <a:rPr sz="1350" spc="-10" dirty="0">
                <a:solidFill>
                  <a:srgbClr val="333333"/>
                </a:solidFill>
                <a:latin typeface="Calibri"/>
                <a:cs typeface="Calibri"/>
              </a:rPr>
              <a:t>capabilities </a:t>
            </a:r>
            <a:r>
              <a:rPr sz="1350" spc="-30" dirty="0">
                <a:solidFill>
                  <a:srgbClr val="333333"/>
                </a:solidFill>
                <a:latin typeface="Calibri"/>
                <a:cs typeface="Calibri"/>
              </a:rPr>
              <a:t>Shopping</a:t>
            </a:r>
            <a:r>
              <a:rPr sz="1350" spc="-45" dirty="0">
                <a:solidFill>
                  <a:srgbClr val="333333"/>
                </a:solidFill>
                <a:latin typeface="Calibri"/>
                <a:cs typeface="Calibri"/>
              </a:rPr>
              <a:t> </a:t>
            </a:r>
            <a:r>
              <a:rPr sz="1350" dirty="0">
                <a:solidFill>
                  <a:srgbClr val="333333"/>
                </a:solidFill>
                <a:latin typeface="Calibri"/>
                <a:cs typeface="Calibri"/>
              </a:rPr>
              <a:t>cart</a:t>
            </a:r>
            <a:r>
              <a:rPr sz="1350" spc="-15" dirty="0">
                <a:solidFill>
                  <a:srgbClr val="333333"/>
                </a:solidFill>
                <a:latin typeface="Calibri"/>
                <a:cs typeface="Calibri"/>
              </a:rPr>
              <a:t> </a:t>
            </a:r>
            <a:r>
              <a:rPr sz="1350" dirty="0">
                <a:solidFill>
                  <a:srgbClr val="333333"/>
                </a:solidFill>
                <a:latin typeface="Calibri"/>
                <a:cs typeface="Calibri"/>
              </a:rPr>
              <a:t>and</a:t>
            </a:r>
            <a:r>
              <a:rPr sz="1350" spc="-45" dirty="0">
                <a:solidFill>
                  <a:srgbClr val="333333"/>
                </a:solidFill>
                <a:latin typeface="Calibri"/>
                <a:cs typeface="Calibri"/>
              </a:rPr>
              <a:t> </a:t>
            </a:r>
            <a:r>
              <a:rPr sz="1350" spc="-10" dirty="0">
                <a:solidFill>
                  <a:srgbClr val="333333"/>
                </a:solidFill>
                <a:latin typeface="Calibri"/>
                <a:cs typeface="Calibri"/>
              </a:rPr>
              <a:t>checkout process</a:t>
            </a:r>
            <a:endParaRPr sz="1350">
              <a:latin typeface="Calibri"/>
              <a:cs typeface="Calibri"/>
            </a:endParaRPr>
          </a:p>
          <a:p>
            <a:pPr marL="250190">
              <a:lnSpc>
                <a:spcPct val="100000"/>
              </a:lnSpc>
              <a:spcBef>
                <a:spcPts val="1080"/>
              </a:spcBef>
            </a:pPr>
            <a:r>
              <a:rPr sz="1350" spc="-10" dirty="0">
                <a:solidFill>
                  <a:srgbClr val="333333"/>
                </a:solidFill>
                <a:latin typeface="Calibri"/>
                <a:cs typeface="Calibri"/>
              </a:rPr>
              <a:t>Payment</a:t>
            </a:r>
            <a:r>
              <a:rPr sz="1350" spc="-45" dirty="0">
                <a:solidFill>
                  <a:srgbClr val="333333"/>
                </a:solidFill>
                <a:latin typeface="Calibri"/>
                <a:cs typeface="Calibri"/>
              </a:rPr>
              <a:t> </a:t>
            </a:r>
            <a:r>
              <a:rPr sz="1350" dirty="0">
                <a:solidFill>
                  <a:srgbClr val="333333"/>
                </a:solidFill>
                <a:latin typeface="Calibri"/>
                <a:cs typeface="Calibri"/>
              </a:rPr>
              <a:t>gateway</a:t>
            </a:r>
            <a:r>
              <a:rPr sz="1350" spc="-50" dirty="0">
                <a:solidFill>
                  <a:srgbClr val="333333"/>
                </a:solidFill>
                <a:latin typeface="Calibri"/>
                <a:cs typeface="Calibri"/>
              </a:rPr>
              <a:t> </a:t>
            </a:r>
            <a:r>
              <a:rPr sz="1350" spc="-10" dirty="0">
                <a:solidFill>
                  <a:srgbClr val="333333"/>
                </a:solidFill>
                <a:latin typeface="Calibri"/>
                <a:cs typeface="Calibri"/>
              </a:rPr>
              <a:t>integration</a:t>
            </a:r>
            <a:endParaRPr sz="1350">
              <a:latin typeface="Calibri"/>
              <a:cs typeface="Calibri"/>
            </a:endParaRPr>
          </a:p>
          <a:p>
            <a:pPr marL="250190">
              <a:lnSpc>
                <a:spcPct val="100000"/>
              </a:lnSpc>
              <a:spcBef>
                <a:spcPts val="1155"/>
              </a:spcBef>
            </a:pPr>
            <a:r>
              <a:rPr sz="1350" spc="-25" dirty="0">
                <a:solidFill>
                  <a:srgbClr val="333333"/>
                </a:solidFill>
                <a:latin typeface="Calibri"/>
                <a:cs typeface="Calibri"/>
              </a:rPr>
              <a:t>Admin</a:t>
            </a:r>
            <a:r>
              <a:rPr sz="1350" spc="-35" dirty="0">
                <a:solidFill>
                  <a:srgbClr val="333333"/>
                </a:solidFill>
                <a:latin typeface="Calibri"/>
                <a:cs typeface="Calibri"/>
              </a:rPr>
              <a:t> </a:t>
            </a:r>
            <a:r>
              <a:rPr sz="1350" spc="-10" dirty="0">
                <a:solidFill>
                  <a:srgbClr val="333333"/>
                </a:solidFill>
                <a:latin typeface="Calibri"/>
                <a:cs typeface="Calibri"/>
              </a:rPr>
              <a:t>dashboard</a:t>
            </a:r>
            <a:r>
              <a:rPr sz="1350" spc="-30" dirty="0">
                <a:solidFill>
                  <a:srgbClr val="333333"/>
                </a:solidFill>
                <a:latin typeface="Calibri"/>
                <a:cs typeface="Calibri"/>
              </a:rPr>
              <a:t> </a:t>
            </a:r>
            <a:r>
              <a:rPr sz="1350" dirty="0">
                <a:solidFill>
                  <a:srgbClr val="333333"/>
                </a:solidFill>
                <a:latin typeface="Calibri"/>
                <a:cs typeface="Calibri"/>
              </a:rPr>
              <a:t>for</a:t>
            </a:r>
            <a:r>
              <a:rPr sz="1350" spc="-25" dirty="0">
                <a:solidFill>
                  <a:srgbClr val="333333"/>
                </a:solidFill>
                <a:latin typeface="Calibri"/>
                <a:cs typeface="Calibri"/>
              </a:rPr>
              <a:t> </a:t>
            </a:r>
            <a:r>
              <a:rPr sz="1350" spc="-10" dirty="0">
                <a:solidFill>
                  <a:srgbClr val="333333"/>
                </a:solidFill>
                <a:latin typeface="Calibri"/>
                <a:cs typeface="Calibri"/>
              </a:rPr>
              <a:t>order</a:t>
            </a:r>
            <a:r>
              <a:rPr sz="1350" spc="-20" dirty="0">
                <a:solidFill>
                  <a:srgbClr val="333333"/>
                </a:solidFill>
                <a:latin typeface="Calibri"/>
                <a:cs typeface="Calibri"/>
              </a:rPr>
              <a:t> </a:t>
            </a:r>
            <a:r>
              <a:rPr sz="1350" spc="-10" dirty="0">
                <a:solidFill>
                  <a:srgbClr val="333333"/>
                </a:solidFill>
                <a:latin typeface="Calibri"/>
                <a:cs typeface="Calibri"/>
              </a:rPr>
              <a:t>management</a:t>
            </a:r>
            <a:endParaRPr sz="1350">
              <a:latin typeface="Calibri"/>
              <a:cs typeface="Calibri"/>
            </a:endParaRPr>
          </a:p>
          <a:p>
            <a:pPr>
              <a:lnSpc>
                <a:spcPct val="100000"/>
              </a:lnSpc>
              <a:spcBef>
                <a:spcPts val="1005"/>
              </a:spcBef>
            </a:pPr>
            <a:endParaRPr sz="1350">
              <a:latin typeface="Calibri"/>
              <a:cs typeface="Calibri"/>
            </a:endParaRPr>
          </a:p>
          <a:p>
            <a:pPr marL="12700">
              <a:lnSpc>
                <a:spcPct val="100000"/>
              </a:lnSpc>
            </a:pPr>
            <a:r>
              <a:rPr sz="1500" b="1" dirty="0">
                <a:solidFill>
                  <a:srgbClr val="333333"/>
                </a:solidFill>
                <a:latin typeface="Calibri"/>
                <a:cs typeface="Calibri"/>
              </a:rPr>
              <a:t>Future</a:t>
            </a:r>
            <a:r>
              <a:rPr sz="1500" b="1" spc="35" dirty="0">
                <a:solidFill>
                  <a:srgbClr val="333333"/>
                </a:solidFill>
                <a:latin typeface="Calibri"/>
                <a:cs typeface="Calibri"/>
              </a:rPr>
              <a:t> </a:t>
            </a:r>
            <a:r>
              <a:rPr sz="1500" b="1" spc="-10" dirty="0">
                <a:solidFill>
                  <a:srgbClr val="333333"/>
                </a:solidFill>
                <a:latin typeface="Calibri"/>
                <a:cs typeface="Calibri"/>
              </a:rPr>
              <a:t>Enhancements:</a:t>
            </a:r>
            <a:endParaRPr sz="1500">
              <a:latin typeface="Calibri"/>
              <a:cs typeface="Calibri"/>
            </a:endParaRPr>
          </a:p>
          <a:p>
            <a:pPr>
              <a:lnSpc>
                <a:spcPct val="100000"/>
              </a:lnSpc>
              <a:spcBef>
                <a:spcPts val="345"/>
              </a:spcBef>
            </a:pPr>
            <a:endParaRPr sz="1500">
              <a:latin typeface="Calibri"/>
              <a:cs typeface="Calibri"/>
            </a:endParaRPr>
          </a:p>
          <a:p>
            <a:pPr marL="250190">
              <a:lnSpc>
                <a:spcPct val="100000"/>
              </a:lnSpc>
            </a:pPr>
            <a:r>
              <a:rPr sz="1350" dirty="0">
                <a:solidFill>
                  <a:srgbClr val="333333"/>
                </a:solidFill>
                <a:latin typeface="Calibri"/>
                <a:cs typeface="Calibri"/>
              </a:rPr>
              <a:t>AI</a:t>
            </a:r>
            <a:r>
              <a:rPr sz="1350" spc="30" dirty="0">
                <a:solidFill>
                  <a:srgbClr val="333333"/>
                </a:solidFill>
                <a:latin typeface="Calibri"/>
                <a:cs typeface="Calibri"/>
              </a:rPr>
              <a:t> </a:t>
            </a:r>
            <a:r>
              <a:rPr sz="1350" dirty="0">
                <a:solidFill>
                  <a:srgbClr val="333333"/>
                </a:solidFill>
                <a:latin typeface="Calibri"/>
                <a:cs typeface="Calibri"/>
              </a:rPr>
              <a:t>chatbot for</a:t>
            </a:r>
            <a:r>
              <a:rPr sz="1350" spc="-25" dirty="0">
                <a:solidFill>
                  <a:srgbClr val="333333"/>
                </a:solidFill>
                <a:latin typeface="Calibri"/>
                <a:cs typeface="Calibri"/>
              </a:rPr>
              <a:t> </a:t>
            </a:r>
            <a:r>
              <a:rPr sz="1350" spc="-10" dirty="0">
                <a:solidFill>
                  <a:srgbClr val="333333"/>
                </a:solidFill>
                <a:latin typeface="Calibri"/>
                <a:cs typeface="Calibri"/>
              </a:rPr>
              <a:t>customer</a:t>
            </a:r>
            <a:r>
              <a:rPr sz="1350" spc="-25" dirty="0">
                <a:solidFill>
                  <a:srgbClr val="333333"/>
                </a:solidFill>
                <a:latin typeface="Calibri"/>
                <a:cs typeface="Calibri"/>
              </a:rPr>
              <a:t> </a:t>
            </a:r>
            <a:r>
              <a:rPr sz="1350" spc="-10" dirty="0">
                <a:solidFill>
                  <a:srgbClr val="333333"/>
                </a:solidFill>
                <a:latin typeface="Calibri"/>
                <a:cs typeface="Calibri"/>
              </a:rPr>
              <a:t>support</a:t>
            </a:r>
            <a:endParaRPr sz="1350">
              <a:latin typeface="Calibri"/>
              <a:cs typeface="Calibri"/>
            </a:endParaRPr>
          </a:p>
          <a:p>
            <a:pPr marL="250190" marR="34290">
              <a:lnSpc>
                <a:spcPct val="171300"/>
              </a:lnSpc>
            </a:pPr>
            <a:r>
              <a:rPr sz="1350" spc="-10" dirty="0">
                <a:solidFill>
                  <a:srgbClr val="333333"/>
                </a:solidFill>
                <a:latin typeface="Calibri"/>
                <a:cs typeface="Calibri"/>
              </a:rPr>
              <a:t>Machine</a:t>
            </a:r>
            <a:r>
              <a:rPr sz="1350" spc="25" dirty="0">
                <a:solidFill>
                  <a:srgbClr val="333333"/>
                </a:solidFill>
                <a:latin typeface="Calibri"/>
                <a:cs typeface="Calibri"/>
              </a:rPr>
              <a:t> </a:t>
            </a:r>
            <a:r>
              <a:rPr sz="1350" spc="-25" dirty="0">
                <a:solidFill>
                  <a:srgbClr val="333333"/>
                </a:solidFill>
                <a:latin typeface="Calibri"/>
                <a:cs typeface="Calibri"/>
              </a:rPr>
              <a:t>learning-</a:t>
            </a:r>
            <a:r>
              <a:rPr sz="1350" spc="-10" dirty="0">
                <a:solidFill>
                  <a:srgbClr val="333333"/>
                </a:solidFill>
                <a:latin typeface="Calibri"/>
                <a:cs typeface="Calibri"/>
              </a:rPr>
              <a:t>based</a:t>
            </a:r>
            <a:r>
              <a:rPr sz="1350" spc="-15" dirty="0">
                <a:solidFill>
                  <a:srgbClr val="333333"/>
                </a:solidFill>
                <a:latin typeface="Calibri"/>
                <a:cs typeface="Calibri"/>
              </a:rPr>
              <a:t> </a:t>
            </a:r>
            <a:r>
              <a:rPr sz="1350" spc="-10" dirty="0">
                <a:solidFill>
                  <a:srgbClr val="333333"/>
                </a:solidFill>
                <a:latin typeface="Calibri"/>
                <a:cs typeface="Calibri"/>
              </a:rPr>
              <a:t>recommendation</a:t>
            </a:r>
            <a:r>
              <a:rPr sz="1350" spc="-15" dirty="0">
                <a:solidFill>
                  <a:srgbClr val="333333"/>
                </a:solidFill>
                <a:latin typeface="Calibri"/>
                <a:cs typeface="Calibri"/>
              </a:rPr>
              <a:t> </a:t>
            </a:r>
            <a:r>
              <a:rPr sz="1350" spc="-10" dirty="0">
                <a:solidFill>
                  <a:srgbClr val="333333"/>
                </a:solidFill>
                <a:latin typeface="Calibri"/>
                <a:cs typeface="Calibri"/>
              </a:rPr>
              <a:t>engine Mobile</a:t>
            </a:r>
            <a:r>
              <a:rPr sz="1350" spc="15" dirty="0">
                <a:solidFill>
                  <a:srgbClr val="333333"/>
                </a:solidFill>
                <a:latin typeface="Calibri"/>
                <a:cs typeface="Calibri"/>
              </a:rPr>
              <a:t> </a:t>
            </a:r>
            <a:r>
              <a:rPr sz="1350" spc="-10" dirty="0">
                <a:solidFill>
                  <a:srgbClr val="333333"/>
                </a:solidFill>
                <a:latin typeface="Calibri"/>
                <a:cs typeface="Calibri"/>
              </a:rPr>
              <a:t>application</a:t>
            </a:r>
            <a:r>
              <a:rPr sz="1350" spc="-25" dirty="0">
                <a:solidFill>
                  <a:srgbClr val="333333"/>
                </a:solidFill>
                <a:latin typeface="Calibri"/>
                <a:cs typeface="Calibri"/>
              </a:rPr>
              <a:t> </a:t>
            </a:r>
            <a:r>
              <a:rPr sz="1350" spc="-10" dirty="0">
                <a:solidFill>
                  <a:srgbClr val="333333"/>
                </a:solidFill>
                <a:latin typeface="Calibri"/>
                <a:cs typeface="Calibri"/>
              </a:rPr>
              <a:t>development</a:t>
            </a:r>
            <a:endParaRPr sz="1350">
              <a:latin typeface="Calibri"/>
              <a:cs typeface="Calibri"/>
            </a:endParaRPr>
          </a:p>
          <a:p>
            <a:pPr marL="250190">
              <a:lnSpc>
                <a:spcPct val="100000"/>
              </a:lnSpc>
              <a:spcBef>
                <a:spcPts val="1080"/>
              </a:spcBef>
            </a:pPr>
            <a:r>
              <a:rPr sz="1350" spc="-10" dirty="0">
                <a:solidFill>
                  <a:srgbClr val="333333"/>
                </a:solidFill>
                <a:latin typeface="Calibri"/>
                <a:cs typeface="Calibri"/>
              </a:rPr>
              <a:t>International</a:t>
            </a:r>
            <a:r>
              <a:rPr sz="1350" spc="-5" dirty="0">
                <a:solidFill>
                  <a:srgbClr val="333333"/>
                </a:solidFill>
                <a:latin typeface="Calibri"/>
                <a:cs typeface="Calibri"/>
              </a:rPr>
              <a:t> </a:t>
            </a:r>
            <a:r>
              <a:rPr sz="1350" spc="-30" dirty="0">
                <a:solidFill>
                  <a:srgbClr val="333333"/>
                </a:solidFill>
                <a:latin typeface="Calibri"/>
                <a:cs typeface="Calibri"/>
              </a:rPr>
              <a:t>shipping</a:t>
            </a:r>
            <a:r>
              <a:rPr sz="1350" spc="-35" dirty="0">
                <a:solidFill>
                  <a:srgbClr val="333333"/>
                </a:solidFill>
                <a:latin typeface="Calibri"/>
                <a:cs typeface="Calibri"/>
              </a:rPr>
              <a:t> </a:t>
            </a:r>
            <a:r>
              <a:rPr sz="1350" dirty="0">
                <a:solidFill>
                  <a:srgbClr val="333333"/>
                </a:solidFill>
                <a:latin typeface="Calibri"/>
                <a:cs typeface="Calibri"/>
              </a:rPr>
              <a:t>and</a:t>
            </a:r>
            <a:r>
              <a:rPr sz="1350" spc="-25" dirty="0">
                <a:solidFill>
                  <a:srgbClr val="333333"/>
                </a:solidFill>
                <a:latin typeface="Calibri"/>
                <a:cs typeface="Calibri"/>
              </a:rPr>
              <a:t> </a:t>
            </a:r>
            <a:r>
              <a:rPr sz="1350" spc="-20" dirty="0">
                <a:solidFill>
                  <a:srgbClr val="333333"/>
                </a:solidFill>
                <a:latin typeface="Calibri"/>
                <a:cs typeface="Calibri"/>
              </a:rPr>
              <a:t>multi-</a:t>
            </a:r>
            <a:r>
              <a:rPr sz="1350" spc="-10" dirty="0">
                <a:solidFill>
                  <a:srgbClr val="333333"/>
                </a:solidFill>
                <a:latin typeface="Calibri"/>
                <a:cs typeface="Calibri"/>
              </a:rPr>
              <a:t>currency support</a:t>
            </a:r>
            <a:endParaRPr sz="135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References</a:t>
            </a:r>
          </a:p>
        </p:txBody>
      </p:sp>
      <p:sp>
        <p:nvSpPr>
          <p:cNvPr id="3" name="object 3"/>
          <p:cNvSpPr/>
          <p:nvPr/>
        </p:nvSpPr>
        <p:spPr>
          <a:xfrm>
            <a:off x="933449" y="2143120"/>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4" name="object 4"/>
          <p:cNvSpPr/>
          <p:nvPr/>
        </p:nvSpPr>
        <p:spPr>
          <a:xfrm>
            <a:off x="933449" y="2619370"/>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5" name="object 5"/>
          <p:cNvSpPr/>
          <p:nvPr/>
        </p:nvSpPr>
        <p:spPr>
          <a:xfrm>
            <a:off x="933449" y="3105145"/>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6" name="object 6"/>
          <p:cNvSpPr/>
          <p:nvPr/>
        </p:nvSpPr>
        <p:spPr>
          <a:xfrm>
            <a:off x="933449" y="3581395"/>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7" name="object 7"/>
          <p:cNvSpPr/>
          <p:nvPr/>
        </p:nvSpPr>
        <p:spPr>
          <a:xfrm>
            <a:off x="933449" y="4067170"/>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8" name="object 8"/>
          <p:cNvSpPr/>
          <p:nvPr/>
        </p:nvSpPr>
        <p:spPr>
          <a:xfrm>
            <a:off x="933449" y="4791070"/>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9" name="object 9"/>
          <p:cNvSpPr/>
          <p:nvPr/>
        </p:nvSpPr>
        <p:spPr>
          <a:xfrm>
            <a:off x="933449" y="5514970"/>
            <a:ext cx="5705475" cy="9525"/>
          </a:xfrm>
          <a:custGeom>
            <a:avLst/>
            <a:gdLst/>
            <a:ahLst/>
            <a:cxnLst/>
            <a:rect l="l" t="t" r="r" b="b"/>
            <a:pathLst>
              <a:path w="5705475" h="9525">
                <a:moveTo>
                  <a:pt x="5705474" y="9524"/>
                </a:moveTo>
                <a:lnTo>
                  <a:pt x="0" y="9524"/>
                </a:lnTo>
                <a:lnTo>
                  <a:pt x="0" y="0"/>
                </a:lnTo>
                <a:lnTo>
                  <a:pt x="5705474" y="0"/>
                </a:lnTo>
                <a:lnTo>
                  <a:pt x="5705474" y="9524"/>
                </a:lnTo>
                <a:close/>
              </a:path>
            </a:pathLst>
          </a:custGeom>
          <a:solidFill>
            <a:srgbClr val="DFDFDF"/>
          </a:solidFill>
        </p:spPr>
        <p:txBody>
          <a:bodyPr wrap="square" lIns="0" tIns="0" rIns="0" bIns="0" rtlCol="0"/>
          <a:lstStyle/>
          <a:p>
            <a:endParaRPr/>
          </a:p>
        </p:txBody>
      </p:sp>
      <p:sp>
        <p:nvSpPr>
          <p:cNvPr id="10" name="object 10"/>
          <p:cNvSpPr txBox="1"/>
          <p:nvPr/>
        </p:nvSpPr>
        <p:spPr>
          <a:xfrm>
            <a:off x="920750" y="1787525"/>
            <a:ext cx="5581015" cy="3589654"/>
          </a:xfrm>
          <a:prstGeom prst="rect">
            <a:avLst/>
          </a:prstGeom>
        </p:spPr>
        <p:txBody>
          <a:bodyPr vert="horz" wrap="square" lIns="0" tIns="12700" rIns="0" bIns="0" rtlCol="0">
            <a:spAutoFit/>
          </a:bodyPr>
          <a:lstStyle/>
          <a:p>
            <a:pPr marL="221615" indent="-208915">
              <a:lnSpc>
                <a:spcPct val="100000"/>
              </a:lnSpc>
              <a:spcBef>
                <a:spcPts val="100"/>
              </a:spcBef>
              <a:buAutoNum type="arabicPlain"/>
              <a:tabLst>
                <a:tab pos="221615" algn="l"/>
              </a:tabLst>
            </a:pPr>
            <a:r>
              <a:rPr sz="1200" spc="-10" dirty="0">
                <a:solidFill>
                  <a:srgbClr val="333333"/>
                </a:solidFill>
                <a:latin typeface="Calibri"/>
                <a:cs typeface="Calibri"/>
              </a:rPr>
              <a:t>MongoDB</a:t>
            </a:r>
            <a:r>
              <a:rPr sz="1200" spc="25" dirty="0">
                <a:solidFill>
                  <a:srgbClr val="333333"/>
                </a:solidFill>
                <a:latin typeface="Calibri"/>
                <a:cs typeface="Calibri"/>
              </a:rPr>
              <a:t> </a:t>
            </a:r>
            <a:r>
              <a:rPr sz="1200" spc="-20" dirty="0">
                <a:solidFill>
                  <a:srgbClr val="333333"/>
                </a:solidFill>
                <a:latin typeface="Calibri"/>
                <a:cs typeface="Calibri"/>
              </a:rPr>
              <a:t>Documentation.</a:t>
            </a:r>
            <a:r>
              <a:rPr sz="1200" spc="10" dirty="0">
                <a:solidFill>
                  <a:srgbClr val="333333"/>
                </a:solidFill>
                <a:latin typeface="Calibri"/>
                <a:cs typeface="Calibri"/>
              </a:rPr>
              <a:t> </a:t>
            </a:r>
            <a:r>
              <a:rPr sz="1200" spc="-10" dirty="0">
                <a:solidFill>
                  <a:srgbClr val="333333"/>
                </a:solidFill>
                <a:latin typeface="Calibri"/>
                <a:cs typeface="Calibri"/>
              </a:rPr>
              <a:t>"MongoDB</a:t>
            </a:r>
            <a:r>
              <a:rPr sz="1200" spc="30" dirty="0">
                <a:solidFill>
                  <a:srgbClr val="333333"/>
                </a:solidFill>
                <a:latin typeface="Calibri"/>
                <a:cs typeface="Calibri"/>
              </a:rPr>
              <a:t> </a:t>
            </a:r>
            <a:r>
              <a:rPr sz="1200" spc="-10" dirty="0">
                <a:solidFill>
                  <a:srgbClr val="333333"/>
                </a:solidFill>
                <a:latin typeface="Calibri"/>
                <a:cs typeface="Calibri"/>
              </a:rPr>
              <a:t>Manual."</a:t>
            </a:r>
            <a:r>
              <a:rPr sz="1200" spc="-25" dirty="0">
                <a:solidFill>
                  <a:srgbClr val="333333"/>
                </a:solidFill>
                <a:latin typeface="Calibri"/>
                <a:cs typeface="Calibri"/>
              </a:rPr>
              <a:t> </a:t>
            </a:r>
            <a:r>
              <a:rPr sz="1200" dirty="0">
                <a:solidFill>
                  <a:srgbClr val="333333"/>
                </a:solidFill>
                <a:latin typeface="Calibri"/>
                <a:cs typeface="Calibri"/>
              </a:rPr>
              <a:t>Available:</a:t>
            </a:r>
            <a:r>
              <a:rPr sz="1200" spc="-10" dirty="0">
                <a:solidFill>
                  <a:srgbClr val="333333"/>
                </a:solidFill>
                <a:latin typeface="Calibri"/>
                <a:cs typeface="Calibri"/>
              </a:rPr>
              <a:t> https://docs.mongodb.com/</a:t>
            </a:r>
            <a:endParaRPr sz="1200">
              <a:latin typeface="Calibri"/>
              <a:cs typeface="Calibri"/>
            </a:endParaRPr>
          </a:p>
          <a:p>
            <a:pPr>
              <a:lnSpc>
                <a:spcPct val="100000"/>
              </a:lnSpc>
              <a:spcBef>
                <a:spcPts val="919"/>
              </a:spcBef>
              <a:buClr>
                <a:srgbClr val="333333"/>
              </a:buClr>
              <a:buFont typeface="Calibri"/>
              <a:buAutoNum type="arabicPlain"/>
            </a:pPr>
            <a:endParaRPr sz="1200">
              <a:latin typeface="Calibri"/>
              <a:cs typeface="Calibri"/>
            </a:endParaRPr>
          </a:p>
          <a:p>
            <a:pPr marL="221615" indent="-208915">
              <a:lnSpc>
                <a:spcPct val="100000"/>
              </a:lnSpc>
              <a:buAutoNum type="arabicPlain"/>
              <a:tabLst>
                <a:tab pos="221615" algn="l"/>
              </a:tabLst>
            </a:pPr>
            <a:r>
              <a:rPr sz="1200" dirty="0">
                <a:solidFill>
                  <a:srgbClr val="333333"/>
                </a:solidFill>
                <a:latin typeface="Calibri"/>
                <a:cs typeface="Calibri"/>
              </a:rPr>
              <a:t>React</a:t>
            </a:r>
            <a:r>
              <a:rPr sz="1200" spc="-10" dirty="0">
                <a:solidFill>
                  <a:srgbClr val="333333"/>
                </a:solidFill>
                <a:latin typeface="Calibri"/>
                <a:cs typeface="Calibri"/>
              </a:rPr>
              <a:t> </a:t>
            </a:r>
            <a:r>
              <a:rPr sz="1200" spc="-20" dirty="0">
                <a:solidFill>
                  <a:srgbClr val="333333"/>
                </a:solidFill>
                <a:latin typeface="Calibri"/>
                <a:cs typeface="Calibri"/>
              </a:rPr>
              <a:t>Documentation.</a:t>
            </a:r>
            <a:r>
              <a:rPr sz="1200" spc="15" dirty="0">
                <a:solidFill>
                  <a:srgbClr val="333333"/>
                </a:solidFill>
                <a:latin typeface="Calibri"/>
                <a:cs typeface="Calibri"/>
              </a:rPr>
              <a:t> </a:t>
            </a:r>
            <a:r>
              <a:rPr sz="1200" spc="-10" dirty="0">
                <a:solidFill>
                  <a:srgbClr val="333333"/>
                </a:solidFill>
                <a:latin typeface="Calibri"/>
                <a:cs typeface="Calibri"/>
              </a:rPr>
              <a:t>"Getting</a:t>
            </a:r>
            <a:r>
              <a:rPr sz="1200" spc="50" dirty="0">
                <a:solidFill>
                  <a:srgbClr val="333333"/>
                </a:solidFill>
                <a:latin typeface="Calibri"/>
                <a:cs typeface="Calibri"/>
              </a:rPr>
              <a:t> </a:t>
            </a:r>
            <a:r>
              <a:rPr sz="1200" spc="-10" dirty="0">
                <a:solidFill>
                  <a:srgbClr val="333333"/>
                </a:solidFill>
                <a:latin typeface="Calibri"/>
                <a:cs typeface="Calibri"/>
              </a:rPr>
              <a:t>Started</a:t>
            </a:r>
            <a:r>
              <a:rPr sz="1200" spc="-15" dirty="0">
                <a:solidFill>
                  <a:srgbClr val="333333"/>
                </a:solidFill>
                <a:latin typeface="Calibri"/>
                <a:cs typeface="Calibri"/>
              </a:rPr>
              <a:t> </a:t>
            </a:r>
            <a:r>
              <a:rPr sz="1200" dirty="0">
                <a:solidFill>
                  <a:srgbClr val="333333"/>
                </a:solidFill>
                <a:latin typeface="Calibri"/>
                <a:cs typeface="Calibri"/>
              </a:rPr>
              <a:t>with</a:t>
            </a:r>
            <a:r>
              <a:rPr sz="1200" spc="-10" dirty="0">
                <a:solidFill>
                  <a:srgbClr val="333333"/>
                </a:solidFill>
                <a:latin typeface="Calibri"/>
                <a:cs typeface="Calibri"/>
              </a:rPr>
              <a:t> </a:t>
            </a:r>
            <a:r>
              <a:rPr sz="1200" dirty="0">
                <a:solidFill>
                  <a:srgbClr val="333333"/>
                </a:solidFill>
                <a:latin typeface="Calibri"/>
                <a:cs typeface="Calibri"/>
              </a:rPr>
              <a:t>React."</a:t>
            </a:r>
            <a:r>
              <a:rPr sz="1200" spc="-15" dirty="0">
                <a:solidFill>
                  <a:srgbClr val="333333"/>
                </a:solidFill>
                <a:latin typeface="Calibri"/>
                <a:cs typeface="Calibri"/>
              </a:rPr>
              <a:t> </a:t>
            </a:r>
            <a:r>
              <a:rPr sz="1200" dirty="0">
                <a:solidFill>
                  <a:srgbClr val="333333"/>
                </a:solidFill>
                <a:latin typeface="Calibri"/>
                <a:cs typeface="Calibri"/>
              </a:rPr>
              <a:t>Available: </a:t>
            </a:r>
            <a:r>
              <a:rPr sz="1200" spc="-10" dirty="0">
                <a:solidFill>
                  <a:srgbClr val="333333"/>
                </a:solidFill>
                <a:latin typeface="Calibri"/>
                <a:cs typeface="Calibri"/>
              </a:rPr>
              <a:t>https://react.dev/</a:t>
            </a:r>
            <a:endParaRPr sz="1200">
              <a:latin typeface="Calibri"/>
              <a:cs typeface="Calibri"/>
            </a:endParaRPr>
          </a:p>
          <a:p>
            <a:pPr>
              <a:lnSpc>
                <a:spcPct val="100000"/>
              </a:lnSpc>
              <a:spcBef>
                <a:spcPts val="844"/>
              </a:spcBef>
              <a:buClr>
                <a:srgbClr val="333333"/>
              </a:buClr>
              <a:buFont typeface="Calibri"/>
              <a:buAutoNum type="arabicPlain"/>
            </a:pPr>
            <a:endParaRPr sz="1200">
              <a:latin typeface="Calibri"/>
              <a:cs typeface="Calibri"/>
            </a:endParaRPr>
          </a:p>
          <a:p>
            <a:pPr marL="221615" indent="-208915">
              <a:lnSpc>
                <a:spcPct val="100000"/>
              </a:lnSpc>
              <a:buAutoNum type="arabicPlain"/>
              <a:tabLst>
                <a:tab pos="221615" algn="l"/>
              </a:tabLst>
            </a:pPr>
            <a:r>
              <a:rPr sz="1200" dirty="0">
                <a:solidFill>
                  <a:srgbClr val="333333"/>
                </a:solidFill>
                <a:latin typeface="Calibri"/>
                <a:cs typeface="Calibri"/>
              </a:rPr>
              <a:t>Express.js</a:t>
            </a:r>
            <a:r>
              <a:rPr sz="1200" spc="65" dirty="0">
                <a:solidFill>
                  <a:srgbClr val="333333"/>
                </a:solidFill>
                <a:latin typeface="Calibri"/>
                <a:cs typeface="Calibri"/>
              </a:rPr>
              <a:t> </a:t>
            </a:r>
            <a:r>
              <a:rPr sz="1200" dirty="0">
                <a:solidFill>
                  <a:srgbClr val="333333"/>
                </a:solidFill>
                <a:latin typeface="Calibri"/>
                <a:cs typeface="Calibri"/>
              </a:rPr>
              <a:t>Guide.</a:t>
            </a:r>
            <a:r>
              <a:rPr sz="1200" spc="15" dirty="0">
                <a:solidFill>
                  <a:srgbClr val="333333"/>
                </a:solidFill>
                <a:latin typeface="Calibri"/>
                <a:cs typeface="Calibri"/>
              </a:rPr>
              <a:t> </a:t>
            </a:r>
            <a:r>
              <a:rPr sz="1200" dirty="0">
                <a:solidFill>
                  <a:srgbClr val="333333"/>
                </a:solidFill>
                <a:latin typeface="Calibri"/>
                <a:cs typeface="Calibri"/>
              </a:rPr>
              <a:t>"Express.js</a:t>
            </a:r>
            <a:r>
              <a:rPr sz="1200" spc="70" dirty="0">
                <a:solidFill>
                  <a:srgbClr val="333333"/>
                </a:solidFill>
                <a:latin typeface="Calibri"/>
                <a:cs typeface="Calibri"/>
              </a:rPr>
              <a:t> </a:t>
            </a:r>
            <a:r>
              <a:rPr sz="1200" spc="-30" dirty="0">
                <a:solidFill>
                  <a:srgbClr val="333333"/>
                </a:solidFill>
                <a:latin typeface="Calibri"/>
                <a:cs typeface="Calibri"/>
              </a:rPr>
              <a:t>Framework."</a:t>
            </a:r>
            <a:r>
              <a:rPr sz="1200" spc="-15" dirty="0">
                <a:solidFill>
                  <a:srgbClr val="333333"/>
                </a:solidFill>
                <a:latin typeface="Calibri"/>
                <a:cs typeface="Calibri"/>
              </a:rPr>
              <a:t> </a:t>
            </a:r>
            <a:r>
              <a:rPr sz="1200" dirty="0">
                <a:solidFill>
                  <a:srgbClr val="333333"/>
                </a:solidFill>
                <a:latin typeface="Calibri"/>
                <a:cs typeface="Calibri"/>
              </a:rPr>
              <a:t>Available:</a:t>
            </a:r>
            <a:r>
              <a:rPr sz="1200" spc="-5" dirty="0">
                <a:solidFill>
                  <a:srgbClr val="333333"/>
                </a:solidFill>
                <a:latin typeface="Calibri"/>
                <a:cs typeface="Calibri"/>
              </a:rPr>
              <a:t> </a:t>
            </a:r>
            <a:r>
              <a:rPr sz="1200" spc="-10" dirty="0">
                <a:solidFill>
                  <a:srgbClr val="333333"/>
                </a:solidFill>
                <a:latin typeface="Calibri"/>
                <a:cs typeface="Calibri"/>
              </a:rPr>
              <a:t>https://expressjs.com/</a:t>
            </a:r>
            <a:endParaRPr sz="1200">
              <a:latin typeface="Calibri"/>
              <a:cs typeface="Calibri"/>
            </a:endParaRPr>
          </a:p>
          <a:p>
            <a:pPr>
              <a:lnSpc>
                <a:spcPct val="100000"/>
              </a:lnSpc>
              <a:spcBef>
                <a:spcPts val="919"/>
              </a:spcBef>
              <a:buClr>
                <a:srgbClr val="333333"/>
              </a:buClr>
              <a:buFont typeface="Calibri"/>
              <a:buAutoNum type="arabicPlain"/>
            </a:pPr>
            <a:endParaRPr sz="1200">
              <a:latin typeface="Calibri"/>
              <a:cs typeface="Calibri"/>
            </a:endParaRPr>
          </a:p>
          <a:p>
            <a:pPr marL="221615" indent="-208915">
              <a:lnSpc>
                <a:spcPct val="100000"/>
              </a:lnSpc>
              <a:buAutoNum type="arabicPlain"/>
              <a:tabLst>
                <a:tab pos="221615" algn="l"/>
              </a:tabLst>
            </a:pPr>
            <a:r>
              <a:rPr sz="1200" dirty="0">
                <a:solidFill>
                  <a:srgbClr val="333333"/>
                </a:solidFill>
                <a:latin typeface="Calibri"/>
                <a:cs typeface="Calibri"/>
              </a:rPr>
              <a:t>Node.js</a:t>
            </a:r>
            <a:r>
              <a:rPr sz="1200" spc="25" dirty="0">
                <a:solidFill>
                  <a:srgbClr val="333333"/>
                </a:solidFill>
                <a:latin typeface="Calibri"/>
                <a:cs typeface="Calibri"/>
              </a:rPr>
              <a:t> </a:t>
            </a:r>
            <a:r>
              <a:rPr sz="1200" spc="-20" dirty="0">
                <a:solidFill>
                  <a:srgbClr val="333333"/>
                </a:solidFill>
                <a:latin typeface="Calibri"/>
                <a:cs typeface="Calibri"/>
              </a:rPr>
              <a:t>Documentation. </a:t>
            </a:r>
            <a:r>
              <a:rPr sz="1200" spc="-10" dirty="0">
                <a:solidFill>
                  <a:srgbClr val="333333"/>
                </a:solidFill>
                <a:latin typeface="Calibri"/>
                <a:cs typeface="Calibri"/>
              </a:rPr>
              <a:t>"Node.js</a:t>
            </a:r>
            <a:r>
              <a:rPr sz="1200" spc="25" dirty="0">
                <a:solidFill>
                  <a:srgbClr val="333333"/>
                </a:solidFill>
                <a:latin typeface="Calibri"/>
                <a:cs typeface="Calibri"/>
              </a:rPr>
              <a:t> </a:t>
            </a:r>
            <a:r>
              <a:rPr sz="1200" dirty="0">
                <a:solidFill>
                  <a:srgbClr val="333333"/>
                </a:solidFill>
                <a:latin typeface="Calibri"/>
                <a:cs typeface="Calibri"/>
              </a:rPr>
              <a:t>API</a:t>
            </a:r>
            <a:r>
              <a:rPr sz="1200" spc="-20" dirty="0">
                <a:solidFill>
                  <a:srgbClr val="333333"/>
                </a:solidFill>
                <a:latin typeface="Calibri"/>
                <a:cs typeface="Calibri"/>
              </a:rPr>
              <a:t> </a:t>
            </a:r>
            <a:r>
              <a:rPr sz="1200" dirty="0">
                <a:solidFill>
                  <a:srgbClr val="333333"/>
                </a:solidFill>
                <a:latin typeface="Calibri"/>
                <a:cs typeface="Calibri"/>
              </a:rPr>
              <a:t>Reference."</a:t>
            </a:r>
            <a:r>
              <a:rPr sz="1200" spc="-45" dirty="0">
                <a:solidFill>
                  <a:srgbClr val="333333"/>
                </a:solidFill>
                <a:latin typeface="Calibri"/>
                <a:cs typeface="Calibri"/>
              </a:rPr>
              <a:t> </a:t>
            </a:r>
            <a:r>
              <a:rPr sz="1200" dirty="0">
                <a:solidFill>
                  <a:srgbClr val="333333"/>
                </a:solidFill>
                <a:latin typeface="Calibri"/>
                <a:cs typeface="Calibri"/>
              </a:rPr>
              <a:t>Available:</a:t>
            </a:r>
            <a:r>
              <a:rPr sz="1200" spc="-40" dirty="0">
                <a:solidFill>
                  <a:srgbClr val="333333"/>
                </a:solidFill>
                <a:latin typeface="Calibri"/>
                <a:cs typeface="Calibri"/>
              </a:rPr>
              <a:t> </a:t>
            </a:r>
            <a:r>
              <a:rPr sz="1200" spc="-10" dirty="0">
                <a:solidFill>
                  <a:srgbClr val="333333"/>
                </a:solidFill>
                <a:latin typeface="Calibri"/>
                <a:cs typeface="Calibri"/>
              </a:rPr>
              <a:t>https://nodejs.org/docs/</a:t>
            </a:r>
            <a:endParaRPr sz="1200">
              <a:latin typeface="Calibri"/>
              <a:cs typeface="Calibri"/>
            </a:endParaRPr>
          </a:p>
          <a:p>
            <a:pPr>
              <a:lnSpc>
                <a:spcPct val="100000"/>
              </a:lnSpc>
              <a:spcBef>
                <a:spcPts val="844"/>
              </a:spcBef>
              <a:buClr>
                <a:srgbClr val="333333"/>
              </a:buClr>
              <a:buFont typeface="Calibri"/>
              <a:buAutoNum type="arabicPlain"/>
            </a:pPr>
            <a:endParaRPr sz="1200">
              <a:latin typeface="Calibri"/>
              <a:cs typeface="Calibri"/>
            </a:endParaRPr>
          </a:p>
          <a:p>
            <a:pPr marL="221615" indent="-208915">
              <a:lnSpc>
                <a:spcPct val="100000"/>
              </a:lnSpc>
              <a:buAutoNum type="arabicPlain"/>
              <a:tabLst>
                <a:tab pos="221615" algn="l"/>
              </a:tabLst>
            </a:pPr>
            <a:r>
              <a:rPr sz="1200" spc="-10" dirty="0">
                <a:solidFill>
                  <a:srgbClr val="333333"/>
                </a:solidFill>
                <a:latin typeface="Calibri"/>
                <a:cs typeface="Calibri"/>
              </a:rPr>
              <a:t>Stripe</a:t>
            </a:r>
            <a:r>
              <a:rPr sz="1200" spc="20" dirty="0">
                <a:solidFill>
                  <a:srgbClr val="333333"/>
                </a:solidFill>
                <a:latin typeface="Calibri"/>
                <a:cs typeface="Calibri"/>
              </a:rPr>
              <a:t> </a:t>
            </a:r>
            <a:r>
              <a:rPr sz="1200" spc="-20" dirty="0">
                <a:solidFill>
                  <a:srgbClr val="333333"/>
                </a:solidFill>
                <a:latin typeface="Calibri"/>
                <a:cs typeface="Calibri"/>
              </a:rPr>
              <a:t>Documentation.</a:t>
            </a:r>
            <a:r>
              <a:rPr sz="1200" spc="20" dirty="0">
                <a:solidFill>
                  <a:srgbClr val="333333"/>
                </a:solidFill>
                <a:latin typeface="Calibri"/>
                <a:cs typeface="Calibri"/>
              </a:rPr>
              <a:t> </a:t>
            </a:r>
            <a:r>
              <a:rPr sz="1200" spc="-20" dirty="0">
                <a:solidFill>
                  <a:srgbClr val="333333"/>
                </a:solidFill>
                <a:latin typeface="Calibri"/>
                <a:cs typeface="Calibri"/>
              </a:rPr>
              <a:t>"Payment</a:t>
            </a:r>
            <a:r>
              <a:rPr sz="1200" spc="-5" dirty="0">
                <a:solidFill>
                  <a:srgbClr val="333333"/>
                </a:solidFill>
                <a:latin typeface="Calibri"/>
                <a:cs typeface="Calibri"/>
              </a:rPr>
              <a:t> </a:t>
            </a:r>
            <a:r>
              <a:rPr sz="1200" spc="-10" dirty="0">
                <a:solidFill>
                  <a:srgbClr val="333333"/>
                </a:solidFill>
                <a:latin typeface="Calibri"/>
                <a:cs typeface="Calibri"/>
              </a:rPr>
              <a:t>Integration Guide."</a:t>
            </a:r>
            <a:r>
              <a:rPr sz="1200" spc="-15" dirty="0">
                <a:solidFill>
                  <a:srgbClr val="333333"/>
                </a:solidFill>
                <a:latin typeface="Calibri"/>
                <a:cs typeface="Calibri"/>
              </a:rPr>
              <a:t> </a:t>
            </a:r>
            <a:r>
              <a:rPr sz="1200" dirty="0">
                <a:solidFill>
                  <a:srgbClr val="333333"/>
                </a:solidFill>
                <a:latin typeface="Calibri"/>
                <a:cs typeface="Calibri"/>
              </a:rPr>
              <a:t>Available: </a:t>
            </a:r>
            <a:r>
              <a:rPr sz="1200" spc="-10" dirty="0">
                <a:solidFill>
                  <a:srgbClr val="333333"/>
                </a:solidFill>
                <a:latin typeface="Calibri"/>
                <a:cs typeface="Calibri"/>
              </a:rPr>
              <a:t>https://stripe.com/docs</a:t>
            </a:r>
            <a:endParaRPr sz="1200">
              <a:latin typeface="Calibri"/>
              <a:cs typeface="Calibri"/>
            </a:endParaRPr>
          </a:p>
          <a:p>
            <a:pPr>
              <a:lnSpc>
                <a:spcPct val="100000"/>
              </a:lnSpc>
              <a:spcBef>
                <a:spcPts val="409"/>
              </a:spcBef>
              <a:buClr>
                <a:srgbClr val="333333"/>
              </a:buClr>
              <a:buFont typeface="Calibri"/>
              <a:buAutoNum type="arabicPlain"/>
            </a:pPr>
            <a:endParaRPr sz="1200">
              <a:latin typeface="Calibri"/>
              <a:cs typeface="Calibri"/>
            </a:endParaRPr>
          </a:p>
          <a:p>
            <a:pPr marL="12700" marR="1166495" indent="208915">
              <a:lnSpc>
                <a:spcPct val="135400"/>
              </a:lnSpc>
              <a:buAutoNum type="arabicPlain"/>
              <a:tabLst>
                <a:tab pos="221615" algn="l"/>
              </a:tabLst>
            </a:pPr>
            <a:r>
              <a:rPr sz="1200" spc="-35" dirty="0">
                <a:solidFill>
                  <a:srgbClr val="333333"/>
                </a:solidFill>
                <a:latin typeface="Calibri"/>
                <a:cs typeface="Calibri"/>
              </a:rPr>
              <a:t>AWS</a:t>
            </a:r>
            <a:r>
              <a:rPr sz="1200" spc="5" dirty="0">
                <a:solidFill>
                  <a:srgbClr val="333333"/>
                </a:solidFill>
                <a:latin typeface="Calibri"/>
                <a:cs typeface="Calibri"/>
              </a:rPr>
              <a:t> </a:t>
            </a:r>
            <a:r>
              <a:rPr sz="1200" spc="-20" dirty="0">
                <a:solidFill>
                  <a:srgbClr val="333333"/>
                </a:solidFill>
                <a:latin typeface="Calibri"/>
                <a:cs typeface="Calibri"/>
              </a:rPr>
              <a:t>Documentation.</a:t>
            </a:r>
            <a:r>
              <a:rPr sz="1200" spc="35" dirty="0">
                <a:solidFill>
                  <a:srgbClr val="333333"/>
                </a:solidFill>
                <a:latin typeface="Calibri"/>
                <a:cs typeface="Calibri"/>
              </a:rPr>
              <a:t> </a:t>
            </a:r>
            <a:r>
              <a:rPr sz="1200" dirty="0">
                <a:solidFill>
                  <a:srgbClr val="333333"/>
                </a:solidFill>
                <a:latin typeface="Calibri"/>
                <a:cs typeface="Calibri"/>
              </a:rPr>
              <a:t>"Cloud </a:t>
            </a:r>
            <a:r>
              <a:rPr sz="1200" spc="-20" dirty="0">
                <a:solidFill>
                  <a:srgbClr val="333333"/>
                </a:solidFill>
                <a:latin typeface="Calibri"/>
                <a:cs typeface="Calibri"/>
              </a:rPr>
              <a:t>Deployment</a:t>
            </a:r>
            <a:r>
              <a:rPr sz="1200" spc="10" dirty="0">
                <a:solidFill>
                  <a:srgbClr val="333333"/>
                </a:solidFill>
                <a:latin typeface="Calibri"/>
                <a:cs typeface="Calibri"/>
              </a:rPr>
              <a:t> </a:t>
            </a:r>
            <a:r>
              <a:rPr sz="1200" dirty="0">
                <a:solidFill>
                  <a:srgbClr val="333333"/>
                </a:solidFill>
                <a:latin typeface="Calibri"/>
                <a:cs typeface="Calibri"/>
              </a:rPr>
              <a:t>Best</a:t>
            </a:r>
            <a:r>
              <a:rPr sz="1200" spc="5" dirty="0">
                <a:solidFill>
                  <a:srgbClr val="333333"/>
                </a:solidFill>
                <a:latin typeface="Calibri"/>
                <a:cs typeface="Calibri"/>
              </a:rPr>
              <a:t> </a:t>
            </a:r>
            <a:r>
              <a:rPr sz="1200" dirty="0">
                <a:solidFill>
                  <a:srgbClr val="333333"/>
                </a:solidFill>
                <a:latin typeface="Calibri"/>
                <a:cs typeface="Calibri"/>
              </a:rPr>
              <a:t>Practices."</a:t>
            </a:r>
            <a:r>
              <a:rPr sz="1200" spc="5" dirty="0">
                <a:solidFill>
                  <a:srgbClr val="333333"/>
                </a:solidFill>
                <a:latin typeface="Calibri"/>
                <a:cs typeface="Calibri"/>
              </a:rPr>
              <a:t> </a:t>
            </a:r>
            <a:r>
              <a:rPr sz="1200" spc="-10" dirty="0">
                <a:solidFill>
                  <a:srgbClr val="333333"/>
                </a:solidFill>
                <a:latin typeface="Calibri"/>
                <a:cs typeface="Calibri"/>
              </a:rPr>
              <a:t>Available: https://aws.amazon.com/documentation/</a:t>
            </a:r>
            <a:endParaRPr sz="1200">
              <a:latin typeface="Calibri"/>
              <a:cs typeface="Calibri"/>
            </a:endParaRPr>
          </a:p>
          <a:p>
            <a:pPr>
              <a:lnSpc>
                <a:spcPct val="100000"/>
              </a:lnSpc>
              <a:spcBef>
                <a:spcPts val="335"/>
              </a:spcBef>
              <a:buClr>
                <a:srgbClr val="333333"/>
              </a:buClr>
              <a:buFont typeface="Calibri"/>
              <a:buAutoNum type="arabicPlain"/>
            </a:pPr>
            <a:endParaRPr sz="1200">
              <a:latin typeface="Calibri"/>
              <a:cs typeface="Calibri"/>
            </a:endParaRPr>
          </a:p>
          <a:p>
            <a:pPr marL="12700" marR="146685" indent="208915">
              <a:lnSpc>
                <a:spcPct val="135400"/>
              </a:lnSpc>
              <a:buAutoNum type="arabicPlain"/>
              <a:tabLst>
                <a:tab pos="221615" algn="l"/>
              </a:tabLst>
            </a:pPr>
            <a:r>
              <a:rPr sz="1200" spc="-20" dirty="0">
                <a:solidFill>
                  <a:srgbClr val="333333"/>
                </a:solidFill>
                <a:latin typeface="Calibri"/>
                <a:cs typeface="Calibri"/>
              </a:rPr>
              <a:t>Web</a:t>
            </a:r>
            <a:r>
              <a:rPr sz="1200" spc="-25" dirty="0">
                <a:solidFill>
                  <a:srgbClr val="333333"/>
                </a:solidFill>
                <a:latin typeface="Calibri"/>
                <a:cs typeface="Calibri"/>
              </a:rPr>
              <a:t> </a:t>
            </a:r>
            <a:r>
              <a:rPr sz="1200" spc="-20" dirty="0">
                <a:solidFill>
                  <a:srgbClr val="333333"/>
                </a:solidFill>
                <a:latin typeface="Calibri"/>
                <a:cs typeface="Calibri"/>
              </a:rPr>
              <a:t>Development</a:t>
            </a:r>
            <a:r>
              <a:rPr sz="1200" spc="-15" dirty="0">
                <a:solidFill>
                  <a:srgbClr val="333333"/>
                </a:solidFill>
                <a:latin typeface="Calibri"/>
                <a:cs typeface="Calibri"/>
              </a:rPr>
              <a:t> </a:t>
            </a:r>
            <a:r>
              <a:rPr sz="1200" dirty="0">
                <a:solidFill>
                  <a:srgbClr val="333333"/>
                </a:solidFill>
                <a:latin typeface="Calibri"/>
                <a:cs typeface="Calibri"/>
              </a:rPr>
              <a:t>Resources.</a:t>
            </a:r>
            <a:r>
              <a:rPr sz="1200" spc="5" dirty="0">
                <a:solidFill>
                  <a:srgbClr val="333333"/>
                </a:solidFill>
                <a:latin typeface="Calibri"/>
                <a:cs typeface="Calibri"/>
              </a:rPr>
              <a:t> </a:t>
            </a:r>
            <a:r>
              <a:rPr sz="1200" dirty="0">
                <a:solidFill>
                  <a:srgbClr val="333333"/>
                </a:solidFill>
                <a:latin typeface="Calibri"/>
                <a:cs typeface="Calibri"/>
              </a:rPr>
              <a:t>"Full</a:t>
            </a:r>
            <a:r>
              <a:rPr sz="1200" spc="30" dirty="0">
                <a:solidFill>
                  <a:srgbClr val="333333"/>
                </a:solidFill>
                <a:latin typeface="Calibri"/>
                <a:cs typeface="Calibri"/>
              </a:rPr>
              <a:t> </a:t>
            </a:r>
            <a:r>
              <a:rPr sz="1200" dirty="0">
                <a:solidFill>
                  <a:srgbClr val="333333"/>
                </a:solidFill>
                <a:latin typeface="Calibri"/>
                <a:cs typeface="Calibri"/>
              </a:rPr>
              <a:t>Stack</a:t>
            </a:r>
            <a:r>
              <a:rPr sz="1200" spc="-10" dirty="0">
                <a:solidFill>
                  <a:srgbClr val="333333"/>
                </a:solidFill>
                <a:latin typeface="Calibri"/>
                <a:cs typeface="Calibri"/>
              </a:rPr>
              <a:t> </a:t>
            </a:r>
            <a:r>
              <a:rPr sz="1200" spc="-20" dirty="0">
                <a:solidFill>
                  <a:srgbClr val="333333"/>
                </a:solidFill>
                <a:latin typeface="Calibri"/>
                <a:cs typeface="Calibri"/>
              </a:rPr>
              <a:t>Development</a:t>
            </a:r>
            <a:r>
              <a:rPr sz="1200" spc="-15" dirty="0">
                <a:solidFill>
                  <a:srgbClr val="333333"/>
                </a:solidFill>
                <a:latin typeface="Calibri"/>
                <a:cs typeface="Calibri"/>
              </a:rPr>
              <a:t> </a:t>
            </a:r>
            <a:r>
              <a:rPr sz="1200" dirty="0">
                <a:solidFill>
                  <a:srgbClr val="333333"/>
                </a:solidFill>
                <a:latin typeface="Calibri"/>
                <a:cs typeface="Calibri"/>
              </a:rPr>
              <a:t>with</a:t>
            </a:r>
            <a:r>
              <a:rPr sz="1200" spc="-20" dirty="0">
                <a:solidFill>
                  <a:srgbClr val="333333"/>
                </a:solidFill>
                <a:latin typeface="Calibri"/>
                <a:cs typeface="Calibri"/>
              </a:rPr>
              <a:t> </a:t>
            </a:r>
            <a:r>
              <a:rPr sz="1200" spc="-10" dirty="0">
                <a:solidFill>
                  <a:srgbClr val="333333"/>
                </a:solidFill>
                <a:latin typeface="Calibri"/>
                <a:cs typeface="Calibri"/>
              </a:rPr>
              <a:t>MERN."</a:t>
            </a:r>
            <a:r>
              <a:rPr sz="1200" spc="-25" dirty="0">
                <a:solidFill>
                  <a:srgbClr val="333333"/>
                </a:solidFill>
                <a:latin typeface="Calibri"/>
                <a:cs typeface="Calibri"/>
              </a:rPr>
              <a:t> </a:t>
            </a:r>
            <a:r>
              <a:rPr sz="1200" dirty="0">
                <a:solidFill>
                  <a:srgbClr val="333333"/>
                </a:solidFill>
                <a:latin typeface="Calibri"/>
                <a:cs typeface="Calibri"/>
              </a:rPr>
              <a:t>Available:</a:t>
            </a:r>
            <a:r>
              <a:rPr sz="1200" spc="-10" dirty="0">
                <a:solidFill>
                  <a:srgbClr val="333333"/>
                </a:solidFill>
                <a:latin typeface="Calibri"/>
                <a:cs typeface="Calibri"/>
              </a:rPr>
              <a:t> </a:t>
            </a:r>
            <a:r>
              <a:rPr sz="1200" spc="-25" dirty="0">
                <a:solidFill>
                  <a:srgbClr val="333333"/>
                </a:solidFill>
                <a:latin typeface="Calibri"/>
                <a:cs typeface="Calibri"/>
              </a:rPr>
              <a:t>MDN </a:t>
            </a:r>
            <a:r>
              <a:rPr sz="1200" spc="-20" dirty="0">
                <a:solidFill>
                  <a:srgbClr val="333333"/>
                </a:solidFill>
                <a:latin typeface="Calibri"/>
                <a:cs typeface="Calibri"/>
              </a:rPr>
              <a:t>Web</a:t>
            </a:r>
            <a:r>
              <a:rPr sz="1200" spc="-50" dirty="0">
                <a:solidFill>
                  <a:srgbClr val="333333"/>
                </a:solidFill>
                <a:latin typeface="Calibri"/>
                <a:cs typeface="Calibri"/>
              </a:rPr>
              <a:t> </a:t>
            </a:r>
            <a:r>
              <a:rPr sz="1200" spc="-20" dirty="0">
                <a:solidFill>
                  <a:srgbClr val="333333"/>
                </a:solidFill>
                <a:latin typeface="Calibri"/>
                <a:cs typeface="Calibri"/>
              </a:rPr>
              <a:t>Docs</a:t>
            </a:r>
            <a:endParaRPr sz="12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97112" y="2473325"/>
            <a:ext cx="2974975" cy="848360"/>
          </a:xfrm>
          <a:prstGeom prst="rect">
            <a:avLst/>
          </a:prstGeom>
        </p:spPr>
        <p:txBody>
          <a:bodyPr vert="horz" wrap="square" lIns="0" tIns="12700" rIns="0" bIns="0" rtlCol="0">
            <a:spAutoFit/>
          </a:bodyPr>
          <a:lstStyle/>
          <a:p>
            <a:pPr marL="12700">
              <a:lnSpc>
                <a:spcPct val="100000"/>
              </a:lnSpc>
              <a:spcBef>
                <a:spcPts val="100"/>
              </a:spcBef>
            </a:pPr>
            <a:r>
              <a:rPr sz="5400" dirty="0"/>
              <a:t>Thank</a:t>
            </a:r>
            <a:r>
              <a:rPr sz="5400" spc="30" dirty="0"/>
              <a:t> </a:t>
            </a:r>
            <a:r>
              <a:rPr sz="5400" spc="-440" dirty="0"/>
              <a:t>Y</a:t>
            </a:r>
            <a:r>
              <a:rPr sz="5400" spc="65" dirty="0"/>
              <a:t>o</a:t>
            </a:r>
            <a:r>
              <a:rPr sz="5400" spc="45" dirty="0"/>
              <a:t>u</a:t>
            </a:r>
            <a:endParaRPr sz="5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TotalTime>
  <Words>1226</Words>
  <Application>Microsoft Office PowerPoint</Application>
  <PresentationFormat>Custom</PresentationFormat>
  <Paragraphs>150</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Segoe UI Symbol</vt:lpstr>
      <vt:lpstr>Times New Roman</vt:lpstr>
      <vt:lpstr>Office Theme</vt:lpstr>
      <vt:lpstr>EcomVerse – E-Commerce &amp; Dropshipping Platform</vt:lpstr>
      <vt:lpstr>Outline</vt:lpstr>
      <vt:lpstr>Introduction</vt:lpstr>
      <vt:lpstr>Literature Review</vt:lpstr>
      <vt:lpstr>Literature Review (Continued)</vt:lpstr>
      <vt:lpstr>Problem Statement</vt:lpstr>
      <vt:lpstr>Requirement Analysis and Planning</vt:lpstr>
      <vt:lpstr>System Design and Architecture</vt:lpstr>
      <vt:lpstr>Implementation and Integration </vt:lpstr>
      <vt:lpstr>Testing and Deployment</vt:lpstr>
      <vt:lpstr>Proposed Solution</vt:lpstr>
      <vt:lpstr>Objectives</vt:lpstr>
      <vt:lpstr>System Architecture</vt:lpstr>
      <vt:lpstr>Technology Stack</vt:lpstr>
      <vt:lpstr>OUTCOME</vt:lpstr>
      <vt:lpstr>Implementation &amp; 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EcomVerse Presentation</dc:title>
  <cp:lastModifiedBy>Rana ji</cp:lastModifiedBy>
  <cp:revision>1</cp:revision>
  <dcterms:created xsi:type="dcterms:W3CDTF">2026-02-15T15:24:52Z</dcterms:created>
  <dcterms:modified xsi:type="dcterms:W3CDTF">2026-02-15T15:50:28Z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2025-10-08T00:00:00Z</vt:filetime>
  </property>
  <property fmtid="{D5CDD505-2E9C-101B-9397-08002B2CF9AE}" pid="3" name="Creator">
    <vt:lpwstr>Mozilla/5.0 (Windows NT 10.0; Win64; x64) AppleWebKit/537.36 (KHTML, like Gecko) Chrome/141.0.0.0 Safari/537.36 Edg/141.0.0.0</vt:lpwstr>
  </property>
  <property fmtid="{D5CDD505-2E9C-101B-9397-08002B2CF9AE}" pid="4" name="LastSaved">
    <vt:filetime>2026-02-15T00:00:00Z</vt:filetime>
  </property>
  <property fmtid="{D5CDD505-2E9C-101B-9397-08002B2CF9AE}" pid="5" name="Producer">
    <vt:lpwstr>Skia/PDF m141</vt:lpwstr>
  </property>
</Properties>
</file>